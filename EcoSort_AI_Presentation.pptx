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4332"/>
                </a:solidFill>
                <a:latin typeface="Arial"/>
              </a:defRPr>
            </a:pPr>
            <a:r>
              <a:rPr lang="en-IN" sz="1200" b="0" i="0" u="none" strike="noStrike">
                <a:solidFill>
                  <a:srgbClr val="1B4332"/>
                </a:solidFill>
                <a:latin typeface="Arial"/>
              </a:rPr>
              <a:t>Waste distribution</a:t>
            </a:r>
          </a:p>
        </c:rich>
      </c:tx>
      <c:overlay val="0"/>
    </c:title>
    <c:autoTitleDeleted val="0"/>
    <c:plotArea>
      <c:layout/>
      <c:pieChart>
        <c:varyColors val="1"/>
        <c:ser>
          <c:idx val="0"/>
          <c:order val="0"/>
          <c:tx>
            <c:strRef>
              <c:f>Sheet1!$B$1</c:f>
              <c:strCache>
                <c:ptCount val="1"/>
                <c:pt idx="0">
                  <c:v>Waste Distribution</c:v>
                </c:pt>
              </c:strCache>
            </c:strRef>
          </c:tx>
          <c:spPr>
            <a:solidFill>
              <a:schemeClr val="accent1"/>
            </a:solidFill>
            <a:ln w="9525" cap="flat">
              <a:solidFill>
                <a:srgbClr val="F9F9F9"/>
              </a:solidFill>
              <a:prstDash val="solid"/>
              <a:round/>
            </a:ln>
            <a:effectLst/>
          </c:spPr>
          <c:dPt>
            <c:idx val="0"/>
            <c:bubble3D val="0"/>
            <c:spPr>
              <a:solidFill>
                <a:srgbClr val="2D6A4F"/>
              </a:solidFill>
              <a:effectLst/>
            </c:spPr>
            <c:extLst>
              <c:ext xmlns:c16="http://schemas.microsoft.com/office/drawing/2014/chart" uri="{C3380CC4-5D6E-409C-BE32-E72D297353CC}">
                <c16:uniqueId val="{00000001-29D4-4FF8-B290-A6E8FAB34937}"/>
              </c:ext>
            </c:extLst>
          </c:dPt>
          <c:dPt>
            <c:idx val="1"/>
            <c:bubble3D val="0"/>
            <c:spPr>
              <a:solidFill>
                <a:srgbClr val="95D5B2"/>
              </a:solidFill>
              <a:effectLst/>
            </c:spPr>
            <c:extLst>
              <c:ext xmlns:c16="http://schemas.microsoft.com/office/drawing/2014/chart" uri="{C3380CC4-5D6E-409C-BE32-E72D297353CC}">
                <c16:uniqueId val="{00000003-29D4-4FF8-B290-A6E8FAB34937}"/>
              </c:ext>
            </c:extLst>
          </c:dPt>
          <c:dPt>
            <c:idx val="2"/>
            <c:bubble3D val="0"/>
            <c:spPr>
              <a:solidFill>
                <a:srgbClr val="E76F51"/>
              </a:solidFill>
              <a:effectLst/>
            </c:spPr>
            <c:extLst>
              <c:ext xmlns:c16="http://schemas.microsoft.com/office/drawing/2014/chart" uri="{C3380CC4-5D6E-409C-BE32-E72D297353CC}">
                <c16:uniqueId val="{00000005-29D4-4FF8-B290-A6E8FAB34937}"/>
              </c:ext>
            </c:extLst>
          </c:dPt>
          <c:dPt>
            <c:idx val="3"/>
            <c:bubble3D val="0"/>
            <c:spPr>
              <a:solidFill>
                <a:srgbClr val="E9C46A"/>
              </a:solidFill>
              <a:effectLst/>
            </c:spPr>
            <c:extLst>
              <c:ext xmlns:c16="http://schemas.microsoft.com/office/drawing/2014/chart" uri="{C3380CC4-5D6E-409C-BE32-E72D297353CC}">
                <c16:uniqueId val="{00000007-29D4-4FF8-B290-A6E8FAB34937}"/>
              </c:ext>
            </c:extLst>
          </c:dPt>
          <c:dPt>
            <c:idx val="4"/>
            <c:bubble3D val="0"/>
            <c:spPr>
              <a:solidFill>
                <a:srgbClr val="B7B7A4"/>
              </a:solidFill>
              <a:effectLst/>
            </c:spPr>
            <c:extLst>
              <c:ext xmlns:c16="http://schemas.microsoft.com/office/drawing/2014/chart" uri="{C3380CC4-5D6E-409C-BE32-E72D297353CC}">
                <c16:uniqueId val="{00000009-29D4-4FF8-B290-A6E8FAB34937}"/>
              </c:ext>
            </c:extLst>
          </c:dPt>
          <c:dLbls>
            <c:dLbl>
              <c:idx val="0"/>
              <c:numFmt formatCode="General"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9D4-4FF8-B290-A6E8FAB34937}"/>
                </c:ext>
              </c:extLst>
            </c:dLbl>
            <c:dLbl>
              <c:idx val="1"/>
              <c:numFmt formatCode="General"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9D4-4FF8-B290-A6E8FAB34937}"/>
                </c:ext>
              </c:extLst>
            </c:dLbl>
            <c:dLbl>
              <c:idx val="2"/>
              <c:numFmt formatCode="General"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9D4-4FF8-B290-A6E8FAB34937}"/>
                </c:ext>
              </c:extLst>
            </c:dLbl>
            <c:dLbl>
              <c:idx val="3"/>
              <c:numFmt formatCode="General"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9D4-4FF8-B290-A6E8FAB34937}"/>
                </c:ext>
              </c:extLst>
            </c:dLbl>
            <c:dLbl>
              <c:idx val="4"/>
              <c:numFmt formatCode="General"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9D4-4FF8-B290-A6E8FAB34937}"/>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Plastic</c:v>
                </c:pt>
                <c:pt idx="1">
                  <c:v>Paper</c:v>
                </c:pt>
                <c:pt idx="2">
                  <c:v>Metal</c:v>
                </c:pt>
                <c:pt idx="3">
                  <c:v>Glass</c:v>
                </c:pt>
                <c:pt idx="4">
                  <c:v>Other</c:v>
                </c:pt>
              </c:strCache>
            </c:strRef>
          </c:cat>
          <c:val>
            <c:numRef>
              <c:f>Sheet1!$B$2:$B$6</c:f>
              <c:numCache>
                <c:formatCode>General</c:formatCode>
                <c:ptCount val="5"/>
                <c:pt idx="0">
                  <c:v>34</c:v>
                </c:pt>
                <c:pt idx="1">
                  <c:v>22</c:v>
                </c:pt>
                <c:pt idx="2">
                  <c:v>18</c:v>
                </c:pt>
                <c:pt idx="3">
                  <c:v>14</c:v>
                </c:pt>
                <c:pt idx="4">
                  <c:v>12</c:v>
                </c:pt>
              </c:numCache>
            </c:numRef>
          </c:val>
          <c:extLst>
            <c:ext xmlns:c16="http://schemas.microsoft.com/office/drawing/2014/chart" uri="{C3380CC4-5D6E-409C-BE32-E72D297353CC}">
              <c16:uniqueId val="{0000000A-29D4-4FF8-B290-A6E8FAB34937}"/>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4332"/>
                </a:solidFill>
                <a:latin typeface="Arial"/>
              </a:defRPr>
            </a:pPr>
            <a:r>
              <a:rPr lang="en-IN" sz="1200" b="0" i="0" u="none" strike="noStrike">
                <a:solidFill>
                  <a:srgbClr val="1B4332"/>
                </a:solidFill>
                <a:latin typeface="Arial"/>
              </a:rPr>
              <a:t>Weekly trend</a:t>
            </a:r>
          </a:p>
        </c:rich>
      </c:tx>
      <c:overlay val="0"/>
    </c:title>
    <c:autoTitleDeleted val="0"/>
    <c:plotArea>
      <c:layout/>
      <c:barChart>
        <c:barDir val="col"/>
        <c:grouping val="clustered"/>
        <c:varyColors val="0"/>
        <c:ser>
          <c:idx val="0"/>
          <c:order val="0"/>
          <c:tx>
            <c:strRef>
              <c:f>Sheet1!$B$1</c:f>
              <c:strCache>
                <c:ptCount val="1"/>
                <c:pt idx="0">
                  <c:v>Weekly Scans</c:v>
                </c:pt>
              </c:strCache>
            </c:strRef>
          </c:tx>
          <c:spPr>
            <a:solidFill>
              <a:srgbClr val="2D6A4F"/>
            </a:solidFill>
            <a:effectLst/>
          </c:spPr>
          <c:invertIfNegative val="0"/>
          <c:dLbls>
            <c:numFmt formatCode="#,##0" sourceLinked="0"/>
            <c:spPr>
              <a:noFill/>
              <a:ln>
                <a:noFill/>
              </a:ln>
              <a:effectLst/>
            </c:spPr>
            <c:txPr>
              <a:bodyPr/>
              <a:lstStyle/>
              <a:p>
                <a:pPr>
                  <a:defRPr sz="900" b="0" i="0" u="none" strike="noStrike">
                    <a:solidFill>
                      <a:srgbClr val="1B433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W1</c:v>
                </c:pt>
                <c:pt idx="1">
                  <c:v>W2</c:v>
                </c:pt>
                <c:pt idx="2">
                  <c:v>W3</c:v>
                </c:pt>
                <c:pt idx="3">
                  <c:v>W4</c:v>
                </c:pt>
              </c:strCache>
            </c:strRef>
          </c:cat>
          <c:val>
            <c:numRef>
              <c:f>Sheet1!$B$2:$B$5</c:f>
              <c:numCache>
                <c:formatCode>General</c:formatCode>
                <c:ptCount val="4"/>
                <c:pt idx="0">
                  <c:v>42</c:v>
                </c:pt>
                <c:pt idx="1">
                  <c:v>58</c:v>
                </c:pt>
                <c:pt idx="2">
                  <c:v>71</c:v>
                </c:pt>
                <c:pt idx="3">
                  <c:v>89</c:v>
                </c:pt>
              </c:numCache>
            </c:numRef>
          </c:val>
          <c:extLst>
            <c:ext xmlns:c16="http://schemas.microsoft.com/office/drawing/2014/chart" uri="{C3380CC4-5D6E-409C-BE32-E72D297353CC}">
              <c16:uniqueId val="{00000000-2D9E-40D2-8FAF-2D1B9F099B1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B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5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B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8944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members of the panel. Today, I am presenting my final-year Capstone project: EcoSort AI. This is a smart waste management system designed using deep learning for classification and Explainable AI, or XAI, to provide visual transparency into the model's decision-making process.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quick roadmap of what I'll cover — starting with the problem we're solving, moving through the dataset, architecture, and our two key technical contributions — Explainable AI and the hybrid cloud engine — before closing with results and future scope.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massive rise in municipal solid waste makes manual sorting highly inefficient and expensive, and contamination in recycling streams sends clean recyclables to landfill. This is the core problem EcoSort AI addresses.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neural networks act as 'black boxes' — they tell you what the waste is, but they don't explain why they think so. EcoSort AI solves this by incorporating Explainable AI to verify the model's visual reasoning.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key objectives are to classify household waste with high accuracy, generate explainable heatmaps, compile live statistics on an interactive dashboard, and maintain a lightweight architecture optimized for resource-constrained cloud servers.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sorting doesn't scale, and basic CNN classifiers, while automated, still leave users unable to trust or verify individual predictions. EcoSort AI closes both gaps by pairing an efficient CNN with explainability and cloud-conscious engineering.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combined TrashNet and the Kaggle Garbage Classification dataset into a unified 10-category taxonomy, applying standard preprocessing and augmentation before a stratified 70/15/15 split.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high level, EcoSort AI is a three-tier system: a React presentation layer, a Flask application layer, and an intelligence layer built around a fine-tuned MobileNetV2 with a hybrid inference engine.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detailed request lifecycle. The client posts an image to Flask, which routes it to the Hybrid Engine. Depending on environment, it runs full PyTorch inference locally or a lightweight PIL-based overlay in production, logs the result to SQLite, and returns a JSON response to the client.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MobileNetV2 for its lightweight architecture — roughly 3.4 million parameters versus 25 million-plus for heavier backbones — making it ideal for real-time and edge deployment.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froze the base layers to retain general visual filters, replaced the top classification head with a dense layer matching our 10 target categories, and fine-tuned it on our waste datasets.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exact training hyperparameters: Adam optimizer, a two-phase learning rate schedule, batch size of 32, and early stopping on validation accuracy to prevent overfitting.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Grad-CAM captures the gradients flowing back to the final convolutional layer of MobileNetV2, pools them into channel weights, and produces a coarse heatmap of the regions that most influenced the prediction.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resulting heatmap is blended with the original image, showing the examiner exactly which regions influenced the classification decision.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hosting platforms like Render have a tight 512MB memory limit on free plans, and a full PyTorch inference stack easily exceeds that, causing out-of-memory crashes.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Dual-Mode Hybrid Engine bypasses PyTorch in production, using PIL to generate simulated center-focused Grad-CAM overlays, while maintaining the full deep learning model on local machines — resulting in zero dependency crashes and 100% cloud uptime.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application features a clean user interface where users can drag-and-drop files or stream via webcam. Once analyzed, the system displays the classification, confidence metrics, and targeted recycling guidelines, keeping a persistent history log in the SQLite database.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EcoSort AI includes an interactive Analytics Board compiling key metrics, waste distribution charts, and weekly scan trends, plus audit-ready PDF and CSV/Excel exports.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achieves strong accuracy, precision, recall, and F1 scores, with the confusion matrix showing most misclassifications occurring between visually similar categories like glass and plastic. Please replace these illustrative numbers with your actual evaluation results.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future scope, we plan to integrate this with physical smart bins using ESP32 cameras, migrate to YOLO for multi-object detection, and build a native mobile app for household use.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EcoSort AI demonstrates a complete, optimized full-stack application that successfully addresses municipal sorting problems. Thank you, and I am now open to any questions.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418320" y="-1371600"/>
            <a:ext cx="4572000" cy="4572000"/>
          </a:xfrm>
          <a:prstGeom prst="ellipse">
            <a:avLst/>
          </a:prstGeom>
          <a:solidFill>
            <a:srgbClr val="12301F"/>
          </a:solidFill>
          <a:ln/>
        </p:spPr>
      </p:sp>
      <p:sp>
        <p:nvSpPr>
          <p:cNvPr id="3" name="Shape 1"/>
          <p:cNvSpPr/>
          <p:nvPr/>
        </p:nvSpPr>
        <p:spPr>
          <a:xfrm>
            <a:off x="-1005840" y="4617720"/>
            <a:ext cx="3657600" cy="3657600"/>
          </a:xfrm>
          <a:prstGeom prst="ellipse">
            <a:avLst/>
          </a:prstGeom>
          <a:solidFill>
            <a:srgbClr val="12301F"/>
          </a:solidFill>
          <a:ln/>
        </p:spPr>
      </p:sp>
      <p:sp>
        <p:nvSpPr>
          <p:cNvPr id="4" name="Shape 2"/>
          <p:cNvSpPr/>
          <p:nvPr/>
        </p:nvSpPr>
        <p:spPr>
          <a:xfrm>
            <a:off x="822960" y="822960"/>
            <a:ext cx="914400" cy="914400"/>
          </a:xfrm>
          <a:prstGeom prst="ellipse">
            <a:avLst/>
          </a:prstGeom>
          <a:solidFill>
            <a:srgbClr val="95D5B2"/>
          </a:solidFill>
          <a:ln/>
        </p:spPr>
      </p:sp>
      <p:sp>
        <p:nvSpPr>
          <p:cNvPr id="5" name="Text 3"/>
          <p:cNvSpPr/>
          <p:nvPr/>
        </p:nvSpPr>
        <p:spPr>
          <a:xfrm>
            <a:off x="822960" y="822960"/>
            <a:ext cx="914400" cy="914400"/>
          </a:xfrm>
          <a:prstGeom prst="rect">
            <a:avLst/>
          </a:prstGeom>
          <a:noFill/>
          <a:ln/>
        </p:spPr>
        <p:txBody>
          <a:bodyPr wrap="square" rtlCol="0" anchor="ctr"/>
          <a:lstStyle/>
          <a:p>
            <a:pPr marL="0" indent="0" algn="ctr">
              <a:buNone/>
            </a:pPr>
            <a:r>
              <a:rPr lang="en-US" sz="2800" b="1" dirty="0">
                <a:solidFill>
                  <a:srgbClr val="1B4332"/>
                </a:solidFill>
                <a:latin typeface="Cambria" pitchFamily="34" charset="0"/>
                <a:ea typeface="Cambria" pitchFamily="34" charset="-122"/>
                <a:cs typeface="Cambria" pitchFamily="34" charset="-120"/>
              </a:rPr>
              <a:t>♻</a:t>
            </a:r>
            <a:endParaRPr lang="en-US" sz="2800" dirty="0"/>
          </a:p>
        </p:txBody>
      </p:sp>
      <p:sp>
        <p:nvSpPr>
          <p:cNvPr id="6" name="Text 4"/>
          <p:cNvSpPr/>
          <p:nvPr/>
        </p:nvSpPr>
        <p:spPr>
          <a:xfrm>
            <a:off x="822960" y="1965960"/>
            <a:ext cx="7315200" cy="365760"/>
          </a:xfrm>
          <a:prstGeom prst="rect">
            <a:avLst/>
          </a:prstGeom>
          <a:noFill/>
          <a:ln/>
        </p:spPr>
        <p:txBody>
          <a:bodyPr wrap="square" rtlCol="0" anchor="ctr"/>
          <a:lstStyle/>
          <a:p>
            <a:pPr marL="0" indent="0">
              <a:buNone/>
            </a:pPr>
            <a:r>
              <a:rPr lang="en-US" sz="1300" b="1" kern="0" spc="200" dirty="0">
                <a:solidFill>
                  <a:srgbClr val="95D5B2"/>
                </a:solidFill>
                <a:latin typeface="Calibri" pitchFamily="34" charset="0"/>
                <a:ea typeface="Calibri" pitchFamily="34" charset="-122"/>
                <a:cs typeface="Calibri" pitchFamily="34" charset="-120"/>
              </a:rPr>
              <a:t>DATA SCIENCE &amp; DEEP LEARNING</a:t>
            </a:r>
            <a:endParaRPr lang="en-US" sz="1300" dirty="0"/>
          </a:p>
        </p:txBody>
      </p:sp>
      <p:sp>
        <p:nvSpPr>
          <p:cNvPr id="7" name="Text 5"/>
          <p:cNvSpPr/>
          <p:nvPr/>
        </p:nvSpPr>
        <p:spPr>
          <a:xfrm>
            <a:off x="777240" y="2331720"/>
            <a:ext cx="9601200" cy="100584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EcoSort AI</a:t>
            </a:r>
            <a:endParaRPr lang="en-US" sz="5400" dirty="0"/>
          </a:p>
        </p:txBody>
      </p:sp>
      <p:sp>
        <p:nvSpPr>
          <p:cNvPr id="8" name="Text 6"/>
          <p:cNvSpPr/>
          <p:nvPr/>
        </p:nvSpPr>
        <p:spPr>
          <a:xfrm>
            <a:off x="822960" y="3337560"/>
            <a:ext cx="8686800" cy="548640"/>
          </a:xfrm>
          <a:prstGeom prst="rect">
            <a:avLst/>
          </a:prstGeom>
          <a:noFill/>
          <a:ln/>
        </p:spPr>
        <p:txBody>
          <a:bodyPr wrap="square" rtlCol="0" anchor="ctr"/>
          <a:lstStyle/>
          <a:p>
            <a:pPr marL="0" indent="0">
              <a:buNone/>
            </a:pPr>
            <a:r>
              <a:rPr lang="en-US" sz="1700" dirty="0">
                <a:solidFill>
                  <a:srgbClr val="E8F3ED"/>
                </a:solidFill>
                <a:latin typeface="Calibri" pitchFamily="34" charset="0"/>
                <a:ea typeface="Calibri" pitchFamily="34" charset="-122"/>
                <a:cs typeface="Calibri" pitchFamily="34" charset="-120"/>
              </a:rPr>
              <a:t>Smart Waste Management System using Deep Learning &amp; Explainable AI (XAI)</a:t>
            </a:r>
            <a:endParaRPr lang="en-US" sz="1700" dirty="0"/>
          </a:p>
        </p:txBody>
      </p:sp>
      <p:sp>
        <p:nvSpPr>
          <p:cNvPr id="9" name="Shape 7"/>
          <p:cNvSpPr/>
          <p:nvPr/>
        </p:nvSpPr>
        <p:spPr>
          <a:xfrm>
            <a:off x="822960" y="4114800"/>
            <a:ext cx="2926080" cy="0"/>
          </a:xfrm>
          <a:prstGeom prst="line">
            <a:avLst/>
          </a:prstGeom>
          <a:noFill/>
          <a:ln w="19050">
            <a:solidFill>
              <a:srgbClr val="95D5B2"/>
            </a:solidFill>
            <a:prstDash val="solid"/>
          </a:ln>
        </p:spPr>
      </p:sp>
      <p:sp>
        <p:nvSpPr>
          <p:cNvPr id="10" name="Text 8"/>
          <p:cNvSpPr/>
          <p:nvPr/>
        </p:nvSpPr>
        <p:spPr>
          <a:xfrm>
            <a:off x="822960" y="4297680"/>
            <a:ext cx="7772400" cy="457200"/>
          </a:xfrm>
          <a:prstGeom prst="rect">
            <a:avLst/>
          </a:prstGeom>
          <a:noFill/>
          <a:ln/>
        </p:spPr>
        <p:txBody>
          <a:bodyPr wrap="square" rtlCol="0" anchor="ctr"/>
          <a:lstStyle/>
          <a:p>
            <a:pPr marL="0" indent="0">
              <a:buNone/>
            </a:pPr>
            <a:r>
              <a:rPr lang="en-US" sz="1300" i="1" dirty="0">
                <a:solidFill>
                  <a:srgbClr val="CFE8DC"/>
                </a:solidFill>
                <a:latin typeface="Calibri" pitchFamily="34" charset="0"/>
                <a:ea typeface="Calibri" pitchFamily="34" charset="-122"/>
                <a:cs typeface="Calibri" pitchFamily="34" charset="-120"/>
              </a:rPr>
              <a:t>Automated waste classification with real-time Grad-CAM visual explanations and analytics.</a:t>
            </a:r>
            <a:endParaRPr lang="en-US" sz="1300" dirty="0"/>
          </a:p>
        </p:txBody>
      </p:sp>
      <p:sp>
        <p:nvSpPr>
          <p:cNvPr id="11" name="Text 9"/>
          <p:cNvSpPr/>
          <p:nvPr/>
        </p:nvSpPr>
        <p:spPr>
          <a:xfrm>
            <a:off x="822960" y="5760720"/>
            <a:ext cx="4572000" cy="274320"/>
          </a:xfrm>
          <a:prstGeom prst="rect">
            <a:avLst/>
          </a:prstGeom>
          <a:noFill/>
          <a:ln/>
        </p:spPr>
        <p:txBody>
          <a:bodyPr wrap="square" rtlCol="0" anchor="ctr"/>
          <a:lstStyle/>
          <a:p>
            <a:pPr marL="0" indent="0">
              <a:buNone/>
            </a:pPr>
            <a:r>
              <a:rPr lang="en-US" sz="1200" dirty="0">
                <a:solidFill>
                  <a:srgbClr val="9FC9B5"/>
                </a:solidFill>
                <a:latin typeface="Calibri" pitchFamily="34" charset="0"/>
                <a:ea typeface="Calibri" pitchFamily="34" charset="-122"/>
                <a:cs typeface="Calibri" pitchFamily="34" charset="-120"/>
              </a:rPr>
              <a:t>Presented by  </a:t>
            </a:r>
            <a:r>
              <a:rPr lang="en-US" sz="1200" b="1" dirty="0">
                <a:solidFill>
                  <a:srgbClr val="FFFFFF"/>
                </a:solidFill>
                <a:latin typeface="Calibri" pitchFamily="34" charset="0"/>
                <a:ea typeface="Calibri" pitchFamily="34" charset="-122"/>
                <a:cs typeface="Calibri" pitchFamily="34" charset="-120"/>
              </a:rPr>
              <a:t>POLAMREDDY REVANTH REDDY</a:t>
            </a:r>
            <a:endParaRPr lang="en-US" sz="1200" dirty="0"/>
          </a:p>
        </p:txBody>
      </p:sp>
      <p:sp>
        <p:nvSpPr>
          <p:cNvPr id="12" name="Text 10"/>
          <p:cNvSpPr/>
          <p:nvPr/>
        </p:nvSpPr>
        <p:spPr>
          <a:xfrm>
            <a:off x="822960" y="6053328"/>
            <a:ext cx="5943600" cy="274320"/>
          </a:xfrm>
          <a:prstGeom prst="rect">
            <a:avLst/>
          </a:prstGeom>
          <a:noFill/>
          <a:ln/>
        </p:spPr>
        <p:txBody>
          <a:bodyPr wrap="square" rtlCol="0" anchor="ctr"/>
          <a:lstStyle/>
          <a:p>
            <a:pPr marL="0" indent="0">
              <a:buNone/>
            </a:pPr>
            <a:r>
              <a:rPr lang="en-US" sz="1100" dirty="0">
                <a:solidFill>
                  <a:srgbClr val="9FC9B5"/>
                </a:solidFill>
                <a:latin typeface="Calibri" pitchFamily="34" charset="0"/>
                <a:ea typeface="Calibri" pitchFamily="34" charset="-122"/>
                <a:cs typeface="Calibri" pitchFamily="34" charset="-120"/>
              </a:rPr>
              <a:t>B.Tech in Computer Science &amp; Engineering (Data Science)</a:t>
            </a:r>
            <a:endParaRPr lang="en-US" sz="1100" dirty="0"/>
          </a:p>
        </p:txBody>
      </p:sp>
      <p:sp>
        <p:nvSpPr>
          <p:cNvPr id="13" name="Text 11"/>
          <p:cNvSpPr/>
          <p:nvPr/>
        </p:nvSpPr>
        <p:spPr>
          <a:xfrm>
            <a:off x="822960" y="6309360"/>
            <a:ext cx="5943600" cy="274320"/>
          </a:xfrm>
          <a:prstGeom prst="rect">
            <a:avLst/>
          </a:prstGeom>
          <a:noFill/>
          <a:ln/>
        </p:spPr>
        <p:txBody>
          <a:bodyPr wrap="square" rtlCol="0" anchor="ctr"/>
          <a:lstStyle/>
          <a:p>
            <a:r>
              <a:rPr lang="en-US" sz="1100" dirty="0">
                <a:solidFill>
                  <a:srgbClr val="9FC9B5"/>
                </a:solidFill>
                <a:latin typeface="Calibri" pitchFamily="34" charset="0"/>
                <a:ea typeface="Calibri" pitchFamily="34" charset="-122"/>
                <a:cs typeface="Calibri" pitchFamily="34" charset="-120"/>
              </a:rPr>
              <a:t>Advisor: </a:t>
            </a:r>
            <a:r>
              <a:rPr lang="en-US" sz="1100" b="1" dirty="0">
                <a:solidFill>
                  <a:srgbClr val="FFFFFF"/>
                </a:solidFill>
                <a:latin typeface="Calibri" pitchFamily="34" charset="0"/>
                <a:ea typeface="Calibri" pitchFamily="34" charset="-122"/>
                <a:cs typeface="Calibri" pitchFamily="34" charset="-120"/>
              </a:rPr>
              <a:t>Mrs. THANESHWARI SAHU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Agenda</a:t>
            </a:r>
            <a:endParaRPr lang="en-US" sz="3000" dirty="0"/>
          </a:p>
        </p:txBody>
      </p:sp>
      <p:sp>
        <p:nvSpPr>
          <p:cNvPr id="3" name="Shape 1"/>
          <p:cNvSpPr/>
          <p:nvPr/>
        </p:nvSpPr>
        <p:spPr>
          <a:xfrm>
            <a:off x="548640" y="1435608"/>
            <a:ext cx="310896" cy="310896"/>
          </a:xfrm>
          <a:prstGeom prst="ellipse">
            <a:avLst/>
          </a:prstGeom>
          <a:solidFill>
            <a:srgbClr val="2D6A4F"/>
          </a:solidFill>
          <a:ln/>
        </p:spPr>
      </p:sp>
      <p:sp>
        <p:nvSpPr>
          <p:cNvPr id="4" name="Text 2"/>
          <p:cNvSpPr/>
          <p:nvPr/>
        </p:nvSpPr>
        <p:spPr>
          <a:xfrm>
            <a:off x="548640" y="1435608"/>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1</a:t>
            </a:r>
            <a:endParaRPr lang="en-US" sz="952" dirty="0"/>
          </a:p>
        </p:txBody>
      </p:sp>
      <p:sp>
        <p:nvSpPr>
          <p:cNvPr id="5" name="Text 3"/>
          <p:cNvSpPr/>
          <p:nvPr/>
        </p:nvSpPr>
        <p:spPr>
          <a:xfrm>
            <a:off x="987552" y="1417320"/>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Introduction &amp; Problem Statement</a:t>
            </a:r>
            <a:endParaRPr lang="en-US" sz="1250" dirty="0"/>
          </a:p>
        </p:txBody>
      </p:sp>
      <p:sp>
        <p:nvSpPr>
          <p:cNvPr id="6" name="Shape 4"/>
          <p:cNvSpPr/>
          <p:nvPr/>
        </p:nvSpPr>
        <p:spPr>
          <a:xfrm>
            <a:off x="6263640" y="1435608"/>
            <a:ext cx="310896" cy="310896"/>
          </a:xfrm>
          <a:prstGeom prst="ellipse">
            <a:avLst/>
          </a:prstGeom>
          <a:solidFill>
            <a:srgbClr val="2D6A4F"/>
          </a:solidFill>
          <a:ln/>
        </p:spPr>
      </p:sp>
      <p:sp>
        <p:nvSpPr>
          <p:cNvPr id="7" name="Text 5"/>
          <p:cNvSpPr/>
          <p:nvPr/>
        </p:nvSpPr>
        <p:spPr>
          <a:xfrm>
            <a:off x="6263640" y="1435608"/>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2</a:t>
            </a:r>
            <a:endParaRPr lang="en-US" sz="952" dirty="0"/>
          </a:p>
        </p:txBody>
      </p:sp>
      <p:sp>
        <p:nvSpPr>
          <p:cNvPr id="8" name="Text 6"/>
          <p:cNvSpPr/>
          <p:nvPr/>
        </p:nvSpPr>
        <p:spPr>
          <a:xfrm>
            <a:off x="6702552" y="1417320"/>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The Black-Box Problem</a:t>
            </a:r>
            <a:endParaRPr lang="en-US" sz="1250" dirty="0"/>
          </a:p>
        </p:txBody>
      </p:sp>
      <p:sp>
        <p:nvSpPr>
          <p:cNvPr id="9" name="Shape 7"/>
          <p:cNvSpPr/>
          <p:nvPr/>
        </p:nvSpPr>
        <p:spPr>
          <a:xfrm>
            <a:off x="548640" y="1911096"/>
            <a:ext cx="310896" cy="310896"/>
          </a:xfrm>
          <a:prstGeom prst="ellipse">
            <a:avLst/>
          </a:prstGeom>
          <a:solidFill>
            <a:srgbClr val="2D6A4F"/>
          </a:solidFill>
          <a:ln/>
        </p:spPr>
      </p:sp>
      <p:sp>
        <p:nvSpPr>
          <p:cNvPr id="10" name="Text 8"/>
          <p:cNvSpPr/>
          <p:nvPr/>
        </p:nvSpPr>
        <p:spPr>
          <a:xfrm>
            <a:off x="548640" y="1911096"/>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3</a:t>
            </a:r>
            <a:endParaRPr lang="en-US" sz="952" dirty="0"/>
          </a:p>
        </p:txBody>
      </p:sp>
      <p:sp>
        <p:nvSpPr>
          <p:cNvPr id="11" name="Text 9"/>
          <p:cNvSpPr/>
          <p:nvPr/>
        </p:nvSpPr>
        <p:spPr>
          <a:xfrm>
            <a:off x="987552" y="1892808"/>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Objectives</a:t>
            </a:r>
            <a:endParaRPr lang="en-US" sz="1250" dirty="0"/>
          </a:p>
        </p:txBody>
      </p:sp>
      <p:sp>
        <p:nvSpPr>
          <p:cNvPr id="12" name="Shape 10"/>
          <p:cNvSpPr/>
          <p:nvPr/>
        </p:nvSpPr>
        <p:spPr>
          <a:xfrm>
            <a:off x="6263640" y="1911096"/>
            <a:ext cx="310896" cy="310896"/>
          </a:xfrm>
          <a:prstGeom prst="ellipse">
            <a:avLst/>
          </a:prstGeom>
          <a:solidFill>
            <a:srgbClr val="2D6A4F"/>
          </a:solidFill>
          <a:ln/>
        </p:spPr>
      </p:sp>
      <p:sp>
        <p:nvSpPr>
          <p:cNvPr id="13" name="Text 11"/>
          <p:cNvSpPr/>
          <p:nvPr/>
        </p:nvSpPr>
        <p:spPr>
          <a:xfrm>
            <a:off x="6263640" y="1911096"/>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4</a:t>
            </a:r>
            <a:endParaRPr lang="en-US" sz="952" dirty="0"/>
          </a:p>
        </p:txBody>
      </p:sp>
      <p:sp>
        <p:nvSpPr>
          <p:cNvPr id="14" name="Text 12"/>
          <p:cNvSpPr/>
          <p:nvPr/>
        </p:nvSpPr>
        <p:spPr>
          <a:xfrm>
            <a:off x="6702552" y="1892808"/>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Related Work</a:t>
            </a:r>
            <a:endParaRPr lang="en-US" sz="1250" dirty="0"/>
          </a:p>
        </p:txBody>
      </p:sp>
      <p:sp>
        <p:nvSpPr>
          <p:cNvPr id="15" name="Shape 13"/>
          <p:cNvSpPr/>
          <p:nvPr/>
        </p:nvSpPr>
        <p:spPr>
          <a:xfrm>
            <a:off x="548640" y="2386584"/>
            <a:ext cx="310896" cy="310896"/>
          </a:xfrm>
          <a:prstGeom prst="ellipse">
            <a:avLst/>
          </a:prstGeom>
          <a:solidFill>
            <a:srgbClr val="2D6A4F"/>
          </a:solidFill>
          <a:ln/>
        </p:spPr>
      </p:sp>
      <p:sp>
        <p:nvSpPr>
          <p:cNvPr id="16" name="Text 14"/>
          <p:cNvSpPr/>
          <p:nvPr/>
        </p:nvSpPr>
        <p:spPr>
          <a:xfrm>
            <a:off x="548640" y="2386584"/>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5</a:t>
            </a:r>
            <a:endParaRPr lang="en-US" sz="952" dirty="0"/>
          </a:p>
        </p:txBody>
      </p:sp>
      <p:sp>
        <p:nvSpPr>
          <p:cNvPr id="17" name="Text 15"/>
          <p:cNvSpPr/>
          <p:nvPr/>
        </p:nvSpPr>
        <p:spPr>
          <a:xfrm>
            <a:off x="987552" y="2368296"/>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Dataset &amp; Preprocessing</a:t>
            </a:r>
            <a:endParaRPr lang="en-US" sz="1250" dirty="0"/>
          </a:p>
        </p:txBody>
      </p:sp>
      <p:sp>
        <p:nvSpPr>
          <p:cNvPr id="18" name="Shape 16"/>
          <p:cNvSpPr/>
          <p:nvPr/>
        </p:nvSpPr>
        <p:spPr>
          <a:xfrm>
            <a:off x="6263640" y="2386584"/>
            <a:ext cx="310896" cy="310896"/>
          </a:xfrm>
          <a:prstGeom prst="ellipse">
            <a:avLst/>
          </a:prstGeom>
          <a:solidFill>
            <a:srgbClr val="2D6A4F"/>
          </a:solidFill>
          <a:ln/>
        </p:spPr>
      </p:sp>
      <p:sp>
        <p:nvSpPr>
          <p:cNvPr id="19" name="Text 17"/>
          <p:cNvSpPr/>
          <p:nvPr/>
        </p:nvSpPr>
        <p:spPr>
          <a:xfrm>
            <a:off x="6263640" y="2386584"/>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6</a:t>
            </a:r>
            <a:endParaRPr lang="en-US" sz="952" dirty="0"/>
          </a:p>
        </p:txBody>
      </p:sp>
      <p:sp>
        <p:nvSpPr>
          <p:cNvPr id="20" name="Text 18"/>
          <p:cNvSpPr/>
          <p:nvPr/>
        </p:nvSpPr>
        <p:spPr>
          <a:xfrm>
            <a:off x="6702552" y="2368296"/>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System Architecture — Overview</a:t>
            </a:r>
            <a:endParaRPr lang="en-US" sz="1250" dirty="0"/>
          </a:p>
        </p:txBody>
      </p:sp>
      <p:sp>
        <p:nvSpPr>
          <p:cNvPr id="21" name="Shape 19"/>
          <p:cNvSpPr/>
          <p:nvPr/>
        </p:nvSpPr>
        <p:spPr>
          <a:xfrm>
            <a:off x="548640" y="2862072"/>
            <a:ext cx="310896" cy="310896"/>
          </a:xfrm>
          <a:prstGeom prst="ellipse">
            <a:avLst/>
          </a:prstGeom>
          <a:solidFill>
            <a:srgbClr val="2D6A4F"/>
          </a:solidFill>
          <a:ln/>
        </p:spPr>
      </p:sp>
      <p:sp>
        <p:nvSpPr>
          <p:cNvPr id="22" name="Text 20"/>
          <p:cNvSpPr/>
          <p:nvPr/>
        </p:nvSpPr>
        <p:spPr>
          <a:xfrm>
            <a:off x="548640" y="2862072"/>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7</a:t>
            </a:r>
            <a:endParaRPr lang="en-US" sz="952" dirty="0"/>
          </a:p>
        </p:txBody>
      </p:sp>
      <p:sp>
        <p:nvSpPr>
          <p:cNvPr id="23" name="Text 21"/>
          <p:cNvSpPr/>
          <p:nvPr/>
        </p:nvSpPr>
        <p:spPr>
          <a:xfrm>
            <a:off x="987552" y="2843784"/>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System Architecture — Detailed Flow</a:t>
            </a:r>
            <a:endParaRPr lang="en-US" sz="1250" dirty="0"/>
          </a:p>
        </p:txBody>
      </p:sp>
      <p:sp>
        <p:nvSpPr>
          <p:cNvPr id="24" name="Shape 22"/>
          <p:cNvSpPr/>
          <p:nvPr/>
        </p:nvSpPr>
        <p:spPr>
          <a:xfrm>
            <a:off x="6263640" y="2862072"/>
            <a:ext cx="310896" cy="310896"/>
          </a:xfrm>
          <a:prstGeom prst="ellipse">
            <a:avLst/>
          </a:prstGeom>
          <a:solidFill>
            <a:srgbClr val="2D6A4F"/>
          </a:solidFill>
          <a:ln/>
        </p:spPr>
      </p:sp>
      <p:sp>
        <p:nvSpPr>
          <p:cNvPr id="25" name="Text 23"/>
          <p:cNvSpPr/>
          <p:nvPr/>
        </p:nvSpPr>
        <p:spPr>
          <a:xfrm>
            <a:off x="6263640" y="2862072"/>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8</a:t>
            </a:r>
            <a:endParaRPr lang="en-US" sz="952" dirty="0"/>
          </a:p>
        </p:txBody>
      </p:sp>
      <p:sp>
        <p:nvSpPr>
          <p:cNvPr id="26" name="Text 24"/>
          <p:cNvSpPr/>
          <p:nvPr/>
        </p:nvSpPr>
        <p:spPr>
          <a:xfrm>
            <a:off x="6702552" y="2843784"/>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Deep Learning Model</a:t>
            </a:r>
            <a:endParaRPr lang="en-US" sz="1250" dirty="0"/>
          </a:p>
        </p:txBody>
      </p:sp>
      <p:sp>
        <p:nvSpPr>
          <p:cNvPr id="27" name="Shape 25"/>
          <p:cNvSpPr/>
          <p:nvPr/>
        </p:nvSpPr>
        <p:spPr>
          <a:xfrm>
            <a:off x="548640" y="3337560"/>
            <a:ext cx="310896" cy="310896"/>
          </a:xfrm>
          <a:prstGeom prst="ellipse">
            <a:avLst/>
          </a:prstGeom>
          <a:solidFill>
            <a:srgbClr val="2D6A4F"/>
          </a:solidFill>
          <a:ln/>
        </p:spPr>
      </p:sp>
      <p:sp>
        <p:nvSpPr>
          <p:cNvPr id="28" name="Text 26"/>
          <p:cNvSpPr/>
          <p:nvPr/>
        </p:nvSpPr>
        <p:spPr>
          <a:xfrm>
            <a:off x="548640" y="3337560"/>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9</a:t>
            </a:r>
            <a:endParaRPr lang="en-US" sz="952" dirty="0"/>
          </a:p>
        </p:txBody>
      </p:sp>
      <p:sp>
        <p:nvSpPr>
          <p:cNvPr id="29" name="Text 27"/>
          <p:cNvSpPr/>
          <p:nvPr/>
        </p:nvSpPr>
        <p:spPr>
          <a:xfrm>
            <a:off x="987552" y="3319272"/>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Transfer Learning Strategy</a:t>
            </a:r>
            <a:endParaRPr lang="en-US" sz="1250" dirty="0"/>
          </a:p>
        </p:txBody>
      </p:sp>
      <p:sp>
        <p:nvSpPr>
          <p:cNvPr id="30" name="Shape 28"/>
          <p:cNvSpPr/>
          <p:nvPr/>
        </p:nvSpPr>
        <p:spPr>
          <a:xfrm>
            <a:off x="6263640" y="3337560"/>
            <a:ext cx="310896" cy="310896"/>
          </a:xfrm>
          <a:prstGeom prst="ellipse">
            <a:avLst/>
          </a:prstGeom>
          <a:solidFill>
            <a:srgbClr val="2D6A4F"/>
          </a:solidFill>
          <a:ln/>
        </p:spPr>
      </p:sp>
      <p:sp>
        <p:nvSpPr>
          <p:cNvPr id="31" name="Text 29"/>
          <p:cNvSpPr/>
          <p:nvPr/>
        </p:nvSpPr>
        <p:spPr>
          <a:xfrm>
            <a:off x="6263640" y="3337560"/>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10</a:t>
            </a:r>
            <a:endParaRPr lang="en-US" sz="952" dirty="0"/>
          </a:p>
        </p:txBody>
      </p:sp>
      <p:sp>
        <p:nvSpPr>
          <p:cNvPr id="32" name="Text 30"/>
          <p:cNvSpPr/>
          <p:nvPr/>
        </p:nvSpPr>
        <p:spPr>
          <a:xfrm>
            <a:off x="6702552" y="3319272"/>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Training Configuration</a:t>
            </a:r>
            <a:endParaRPr lang="en-US" sz="1250" dirty="0"/>
          </a:p>
        </p:txBody>
      </p:sp>
      <p:sp>
        <p:nvSpPr>
          <p:cNvPr id="33" name="Shape 31"/>
          <p:cNvSpPr/>
          <p:nvPr/>
        </p:nvSpPr>
        <p:spPr>
          <a:xfrm>
            <a:off x="548640" y="3813048"/>
            <a:ext cx="310896" cy="310896"/>
          </a:xfrm>
          <a:prstGeom prst="ellipse">
            <a:avLst/>
          </a:prstGeom>
          <a:solidFill>
            <a:srgbClr val="2D6A4F"/>
          </a:solidFill>
          <a:ln/>
        </p:spPr>
      </p:sp>
      <p:sp>
        <p:nvSpPr>
          <p:cNvPr id="34" name="Text 32"/>
          <p:cNvSpPr/>
          <p:nvPr/>
        </p:nvSpPr>
        <p:spPr>
          <a:xfrm>
            <a:off x="548640" y="3813048"/>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11</a:t>
            </a:r>
            <a:endParaRPr lang="en-US" sz="952" dirty="0"/>
          </a:p>
        </p:txBody>
      </p:sp>
      <p:sp>
        <p:nvSpPr>
          <p:cNvPr id="35" name="Text 33"/>
          <p:cNvSpPr/>
          <p:nvPr/>
        </p:nvSpPr>
        <p:spPr>
          <a:xfrm>
            <a:off x="987552" y="3794760"/>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Explainable AI — Grad-CAM</a:t>
            </a:r>
            <a:endParaRPr lang="en-US" sz="1250" dirty="0"/>
          </a:p>
        </p:txBody>
      </p:sp>
      <p:sp>
        <p:nvSpPr>
          <p:cNvPr id="36" name="Shape 34"/>
          <p:cNvSpPr/>
          <p:nvPr/>
        </p:nvSpPr>
        <p:spPr>
          <a:xfrm>
            <a:off x="6263640" y="3813048"/>
            <a:ext cx="310896" cy="310896"/>
          </a:xfrm>
          <a:prstGeom prst="ellipse">
            <a:avLst/>
          </a:prstGeom>
          <a:solidFill>
            <a:srgbClr val="2D6A4F"/>
          </a:solidFill>
          <a:ln/>
        </p:spPr>
      </p:sp>
      <p:sp>
        <p:nvSpPr>
          <p:cNvPr id="37" name="Text 35"/>
          <p:cNvSpPr/>
          <p:nvPr/>
        </p:nvSpPr>
        <p:spPr>
          <a:xfrm>
            <a:off x="6263640" y="3813048"/>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12</a:t>
            </a:r>
            <a:endParaRPr lang="en-US" sz="952" dirty="0"/>
          </a:p>
        </p:txBody>
      </p:sp>
      <p:sp>
        <p:nvSpPr>
          <p:cNvPr id="38" name="Text 36"/>
          <p:cNvSpPr/>
          <p:nvPr/>
        </p:nvSpPr>
        <p:spPr>
          <a:xfrm>
            <a:off x="6702552" y="3794760"/>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Grad-CAM Visual Example</a:t>
            </a:r>
            <a:endParaRPr lang="en-US" sz="1250" dirty="0"/>
          </a:p>
        </p:txBody>
      </p:sp>
      <p:sp>
        <p:nvSpPr>
          <p:cNvPr id="39" name="Shape 37"/>
          <p:cNvSpPr/>
          <p:nvPr/>
        </p:nvSpPr>
        <p:spPr>
          <a:xfrm>
            <a:off x="548640" y="4288536"/>
            <a:ext cx="310896" cy="310896"/>
          </a:xfrm>
          <a:prstGeom prst="ellipse">
            <a:avLst/>
          </a:prstGeom>
          <a:solidFill>
            <a:srgbClr val="2D6A4F"/>
          </a:solidFill>
          <a:ln/>
        </p:spPr>
      </p:sp>
      <p:sp>
        <p:nvSpPr>
          <p:cNvPr id="40" name="Text 38"/>
          <p:cNvSpPr/>
          <p:nvPr/>
        </p:nvSpPr>
        <p:spPr>
          <a:xfrm>
            <a:off x="548640" y="4288536"/>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13</a:t>
            </a:r>
            <a:endParaRPr lang="en-US" sz="952" dirty="0"/>
          </a:p>
        </p:txBody>
      </p:sp>
      <p:sp>
        <p:nvSpPr>
          <p:cNvPr id="41" name="Text 39"/>
          <p:cNvSpPr/>
          <p:nvPr/>
        </p:nvSpPr>
        <p:spPr>
          <a:xfrm>
            <a:off x="987552" y="4270248"/>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Hybrid Engine — The Problem</a:t>
            </a:r>
            <a:endParaRPr lang="en-US" sz="1250" dirty="0"/>
          </a:p>
        </p:txBody>
      </p:sp>
      <p:sp>
        <p:nvSpPr>
          <p:cNvPr id="42" name="Shape 40"/>
          <p:cNvSpPr/>
          <p:nvPr/>
        </p:nvSpPr>
        <p:spPr>
          <a:xfrm>
            <a:off x="6263640" y="4288536"/>
            <a:ext cx="310896" cy="310896"/>
          </a:xfrm>
          <a:prstGeom prst="ellipse">
            <a:avLst/>
          </a:prstGeom>
          <a:solidFill>
            <a:srgbClr val="2D6A4F"/>
          </a:solidFill>
          <a:ln/>
        </p:spPr>
      </p:sp>
      <p:sp>
        <p:nvSpPr>
          <p:cNvPr id="43" name="Text 41"/>
          <p:cNvSpPr/>
          <p:nvPr/>
        </p:nvSpPr>
        <p:spPr>
          <a:xfrm>
            <a:off x="6263640" y="4288536"/>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14</a:t>
            </a:r>
            <a:endParaRPr lang="en-US" sz="952" dirty="0"/>
          </a:p>
        </p:txBody>
      </p:sp>
      <p:sp>
        <p:nvSpPr>
          <p:cNvPr id="44" name="Text 42"/>
          <p:cNvSpPr/>
          <p:nvPr/>
        </p:nvSpPr>
        <p:spPr>
          <a:xfrm>
            <a:off x="6702552" y="4270248"/>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Hybrid Engine — Solution &amp; Outcome</a:t>
            </a:r>
            <a:endParaRPr lang="en-US" sz="1250" dirty="0"/>
          </a:p>
        </p:txBody>
      </p:sp>
      <p:sp>
        <p:nvSpPr>
          <p:cNvPr id="45" name="Shape 43"/>
          <p:cNvSpPr/>
          <p:nvPr/>
        </p:nvSpPr>
        <p:spPr>
          <a:xfrm>
            <a:off x="548640" y="4764024"/>
            <a:ext cx="310896" cy="310896"/>
          </a:xfrm>
          <a:prstGeom prst="ellipse">
            <a:avLst/>
          </a:prstGeom>
          <a:solidFill>
            <a:srgbClr val="2D6A4F"/>
          </a:solidFill>
          <a:ln/>
        </p:spPr>
      </p:sp>
      <p:sp>
        <p:nvSpPr>
          <p:cNvPr id="46" name="Text 44"/>
          <p:cNvSpPr/>
          <p:nvPr/>
        </p:nvSpPr>
        <p:spPr>
          <a:xfrm>
            <a:off x="548640" y="4764024"/>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15</a:t>
            </a:r>
            <a:endParaRPr lang="en-US" sz="952" dirty="0"/>
          </a:p>
        </p:txBody>
      </p:sp>
      <p:sp>
        <p:nvSpPr>
          <p:cNvPr id="47" name="Text 45"/>
          <p:cNvSpPr/>
          <p:nvPr/>
        </p:nvSpPr>
        <p:spPr>
          <a:xfrm>
            <a:off x="987552" y="4745736"/>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Real-World Demonstration</a:t>
            </a:r>
            <a:endParaRPr lang="en-US" sz="1250" dirty="0"/>
          </a:p>
        </p:txBody>
      </p:sp>
      <p:sp>
        <p:nvSpPr>
          <p:cNvPr id="48" name="Shape 46"/>
          <p:cNvSpPr/>
          <p:nvPr/>
        </p:nvSpPr>
        <p:spPr>
          <a:xfrm>
            <a:off x="6263640" y="4764024"/>
            <a:ext cx="310896" cy="310896"/>
          </a:xfrm>
          <a:prstGeom prst="ellipse">
            <a:avLst/>
          </a:prstGeom>
          <a:solidFill>
            <a:srgbClr val="2D6A4F"/>
          </a:solidFill>
          <a:ln/>
        </p:spPr>
      </p:sp>
      <p:sp>
        <p:nvSpPr>
          <p:cNvPr id="49" name="Text 47"/>
          <p:cNvSpPr/>
          <p:nvPr/>
        </p:nvSpPr>
        <p:spPr>
          <a:xfrm>
            <a:off x="6263640" y="4764024"/>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16</a:t>
            </a:r>
            <a:endParaRPr lang="en-US" sz="952" dirty="0"/>
          </a:p>
        </p:txBody>
      </p:sp>
      <p:sp>
        <p:nvSpPr>
          <p:cNvPr id="50" name="Text 48"/>
          <p:cNvSpPr/>
          <p:nvPr/>
        </p:nvSpPr>
        <p:spPr>
          <a:xfrm>
            <a:off x="6702552" y="4745736"/>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Analytics &amp; Reporting</a:t>
            </a:r>
            <a:endParaRPr lang="en-US" sz="1250" dirty="0"/>
          </a:p>
        </p:txBody>
      </p:sp>
      <p:sp>
        <p:nvSpPr>
          <p:cNvPr id="51" name="Shape 49"/>
          <p:cNvSpPr/>
          <p:nvPr/>
        </p:nvSpPr>
        <p:spPr>
          <a:xfrm>
            <a:off x="548640" y="5239512"/>
            <a:ext cx="310896" cy="310896"/>
          </a:xfrm>
          <a:prstGeom prst="ellipse">
            <a:avLst/>
          </a:prstGeom>
          <a:solidFill>
            <a:srgbClr val="2D6A4F"/>
          </a:solidFill>
          <a:ln/>
        </p:spPr>
      </p:sp>
      <p:sp>
        <p:nvSpPr>
          <p:cNvPr id="52" name="Text 50"/>
          <p:cNvSpPr/>
          <p:nvPr/>
        </p:nvSpPr>
        <p:spPr>
          <a:xfrm>
            <a:off x="548640" y="5239512"/>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17</a:t>
            </a:r>
            <a:endParaRPr lang="en-US" sz="952" dirty="0"/>
          </a:p>
        </p:txBody>
      </p:sp>
      <p:sp>
        <p:nvSpPr>
          <p:cNvPr id="53" name="Text 51"/>
          <p:cNvSpPr/>
          <p:nvPr/>
        </p:nvSpPr>
        <p:spPr>
          <a:xfrm>
            <a:off x="987552" y="5221224"/>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Evaluation Metrics &amp; Results</a:t>
            </a:r>
            <a:endParaRPr lang="en-US" sz="1250" dirty="0"/>
          </a:p>
        </p:txBody>
      </p:sp>
      <p:sp>
        <p:nvSpPr>
          <p:cNvPr id="54" name="Shape 52"/>
          <p:cNvSpPr/>
          <p:nvPr/>
        </p:nvSpPr>
        <p:spPr>
          <a:xfrm>
            <a:off x="6263640" y="5239512"/>
            <a:ext cx="310896" cy="310896"/>
          </a:xfrm>
          <a:prstGeom prst="ellipse">
            <a:avLst/>
          </a:prstGeom>
          <a:solidFill>
            <a:srgbClr val="2D6A4F"/>
          </a:solidFill>
          <a:ln/>
        </p:spPr>
      </p:sp>
      <p:sp>
        <p:nvSpPr>
          <p:cNvPr id="55" name="Text 53"/>
          <p:cNvSpPr/>
          <p:nvPr/>
        </p:nvSpPr>
        <p:spPr>
          <a:xfrm>
            <a:off x="6263640" y="5239512"/>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18</a:t>
            </a:r>
            <a:endParaRPr lang="en-US" sz="952" dirty="0"/>
          </a:p>
        </p:txBody>
      </p:sp>
      <p:sp>
        <p:nvSpPr>
          <p:cNvPr id="56" name="Text 54"/>
          <p:cNvSpPr/>
          <p:nvPr/>
        </p:nvSpPr>
        <p:spPr>
          <a:xfrm>
            <a:off x="6702552" y="5221224"/>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Future Scope</a:t>
            </a:r>
            <a:endParaRPr lang="en-US" sz="1250" dirty="0"/>
          </a:p>
        </p:txBody>
      </p:sp>
      <p:sp>
        <p:nvSpPr>
          <p:cNvPr id="57" name="Shape 55"/>
          <p:cNvSpPr/>
          <p:nvPr/>
        </p:nvSpPr>
        <p:spPr>
          <a:xfrm>
            <a:off x="548640" y="5715000"/>
            <a:ext cx="310896" cy="310896"/>
          </a:xfrm>
          <a:prstGeom prst="ellipse">
            <a:avLst/>
          </a:prstGeom>
          <a:solidFill>
            <a:srgbClr val="2D6A4F"/>
          </a:solidFill>
          <a:ln/>
        </p:spPr>
      </p:sp>
      <p:sp>
        <p:nvSpPr>
          <p:cNvPr id="58" name="Text 56"/>
          <p:cNvSpPr/>
          <p:nvPr/>
        </p:nvSpPr>
        <p:spPr>
          <a:xfrm>
            <a:off x="548640" y="5715000"/>
            <a:ext cx="310896" cy="310896"/>
          </a:xfrm>
          <a:prstGeom prst="rect">
            <a:avLst/>
          </a:prstGeom>
          <a:noFill/>
          <a:ln/>
        </p:spPr>
        <p:txBody>
          <a:bodyPr wrap="square" rtlCol="0" anchor="ctr"/>
          <a:lstStyle/>
          <a:p>
            <a:pPr marL="0" indent="0" algn="ctr">
              <a:buNone/>
            </a:pPr>
            <a:r>
              <a:rPr lang="en-US" sz="952" b="1" dirty="0">
                <a:solidFill>
                  <a:srgbClr val="FFFFFF"/>
                </a:solidFill>
                <a:latin typeface="Cambria" pitchFamily="34" charset="0"/>
                <a:ea typeface="Cambria" pitchFamily="34" charset="-122"/>
                <a:cs typeface="Cambria" pitchFamily="34" charset="-120"/>
              </a:rPr>
              <a:t>19</a:t>
            </a:r>
            <a:endParaRPr lang="en-US" sz="952" dirty="0"/>
          </a:p>
        </p:txBody>
      </p:sp>
      <p:sp>
        <p:nvSpPr>
          <p:cNvPr id="59" name="Text 57"/>
          <p:cNvSpPr/>
          <p:nvPr/>
        </p:nvSpPr>
        <p:spPr>
          <a:xfrm>
            <a:off x="987552" y="5696712"/>
            <a:ext cx="4892040" cy="402336"/>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Conclusion</a:t>
            </a:r>
            <a:endParaRPr lang="en-US" sz="1250" dirty="0"/>
          </a:p>
        </p:txBody>
      </p:sp>
      <p:sp>
        <p:nvSpPr>
          <p:cNvPr id="60" name="Text 58"/>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61" name="Text 59"/>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Introduction &amp; Problem Statement</a:t>
            </a:r>
            <a:endParaRPr lang="en-US" sz="3000" dirty="0"/>
          </a:p>
        </p:txBody>
      </p:sp>
      <p:sp>
        <p:nvSpPr>
          <p:cNvPr id="3" name="Shape 1"/>
          <p:cNvSpPr/>
          <p:nvPr/>
        </p:nvSpPr>
        <p:spPr>
          <a:xfrm>
            <a:off x="548640" y="1554480"/>
            <a:ext cx="5394960" cy="2468880"/>
          </a:xfrm>
          <a:prstGeom prst="roundRect">
            <a:avLst>
              <a:gd name="adj" fmla="val 2963"/>
            </a:avLst>
          </a:prstGeom>
          <a:solidFill>
            <a:srgbClr val="F3F8F5"/>
          </a:solidFill>
          <a:ln/>
        </p:spPr>
      </p:sp>
      <p:sp>
        <p:nvSpPr>
          <p:cNvPr id="4" name="Shape 2"/>
          <p:cNvSpPr/>
          <p:nvPr/>
        </p:nvSpPr>
        <p:spPr>
          <a:xfrm>
            <a:off x="868680" y="1874520"/>
            <a:ext cx="640080" cy="640080"/>
          </a:xfrm>
          <a:prstGeom prst="ellipse">
            <a:avLst/>
          </a:prstGeom>
          <a:solidFill>
            <a:srgbClr val="2D6A4F"/>
          </a:solidFill>
          <a:ln/>
        </p:spPr>
      </p:sp>
      <p:sp>
        <p:nvSpPr>
          <p:cNvPr id="5" name="Text 3"/>
          <p:cNvSpPr/>
          <p:nvPr/>
        </p:nvSpPr>
        <p:spPr>
          <a:xfrm>
            <a:off x="868680" y="1874520"/>
            <a:ext cx="640080" cy="640080"/>
          </a:xfrm>
          <a:prstGeom prst="rect">
            <a:avLst/>
          </a:prstGeom>
          <a:noFill/>
          <a:ln/>
        </p:spPr>
        <p:txBody>
          <a:bodyPr wrap="square" rtlCol="0" anchor="ctr"/>
          <a:lstStyle/>
          <a:p>
            <a:pPr marL="0" indent="0" algn="ctr">
              <a:buNone/>
            </a:pPr>
            <a:r>
              <a:rPr lang="en-US" sz="1960" b="1" dirty="0">
                <a:solidFill>
                  <a:srgbClr val="FFFFFF"/>
                </a:solidFill>
                <a:latin typeface="Cambria" pitchFamily="34" charset="0"/>
                <a:ea typeface="Cambria" pitchFamily="34" charset="-122"/>
                <a:cs typeface="Cambria" pitchFamily="34" charset="-120"/>
              </a:rPr>
              <a:t>1</a:t>
            </a:r>
            <a:endParaRPr lang="en-US" sz="1960" dirty="0"/>
          </a:p>
        </p:txBody>
      </p:sp>
      <p:sp>
        <p:nvSpPr>
          <p:cNvPr id="6" name="Text 4"/>
          <p:cNvSpPr/>
          <p:nvPr/>
        </p:nvSpPr>
        <p:spPr>
          <a:xfrm>
            <a:off x="822960" y="2697480"/>
            <a:ext cx="4846320" cy="457200"/>
          </a:xfrm>
          <a:prstGeom prst="rect">
            <a:avLst/>
          </a:prstGeom>
          <a:noFill/>
          <a:ln/>
        </p:spPr>
        <p:txBody>
          <a:bodyPr wrap="square" rtlCol="0" anchor="ctr"/>
          <a:lstStyle/>
          <a:p>
            <a:pPr marL="0" indent="0">
              <a:buNone/>
            </a:pPr>
            <a:r>
              <a:rPr lang="en-US" sz="1700" b="1" dirty="0">
                <a:solidFill>
                  <a:srgbClr val="1B4332"/>
                </a:solidFill>
                <a:latin typeface="Cambria" pitchFamily="34" charset="0"/>
                <a:ea typeface="Cambria" pitchFamily="34" charset="-122"/>
                <a:cs typeface="Cambria" pitchFamily="34" charset="-120"/>
              </a:rPr>
              <a:t>Urban Waste Crisis</a:t>
            </a:r>
            <a:endParaRPr lang="en-US" sz="1700" dirty="0"/>
          </a:p>
        </p:txBody>
      </p:sp>
      <p:sp>
        <p:nvSpPr>
          <p:cNvPr id="7" name="Text 5"/>
          <p:cNvSpPr/>
          <p:nvPr/>
        </p:nvSpPr>
        <p:spPr>
          <a:xfrm>
            <a:off x="822960" y="3154680"/>
            <a:ext cx="4846320" cy="777240"/>
          </a:xfrm>
          <a:prstGeom prst="rect">
            <a:avLst/>
          </a:prstGeom>
          <a:noFill/>
          <a:ln/>
        </p:spPr>
        <p:txBody>
          <a:bodyPr wrap="square" rtlCol="0" anchor="t"/>
          <a:lstStyle/>
          <a:p>
            <a:pPr marL="0" indent="0">
              <a:buNone/>
            </a:pPr>
            <a:r>
              <a:rPr lang="en-US" sz="1300" dirty="0">
                <a:solidFill>
                  <a:srgbClr val="3A3A38"/>
                </a:solidFill>
                <a:latin typeface="Calibri" pitchFamily="34" charset="0"/>
                <a:ea typeface="Calibri" pitchFamily="34" charset="-122"/>
                <a:cs typeface="Calibri" pitchFamily="34" charset="-120"/>
              </a:rPr>
              <a:t>Rapid urbanization has led to massive volumes of municipal solid waste, making manual sorting slow and prone to errors.</a:t>
            </a:r>
            <a:endParaRPr lang="en-US" sz="1300" dirty="0"/>
          </a:p>
        </p:txBody>
      </p:sp>
      <p:sp>
        <p:nvSpPr>
          <p:cNvPr id="8" name="Shape 6"/>
          <p:cNvSpPr/>
          <p:nvPr/>
        </p:nvSpPr>
        <p:spPr>
          <a:xfrm>
            <a:off x="6263640" y="1554480"/>
            <a:ext cx="5394960" cy="2468880"/>
          </a:xfrm>
          <a:prstGeom prst="roundRect">
            <a:avLst>
              <a:gd name="adj" fmla="val 2963"/>
            </a:avLst>
          </a:prstGeom>
          <a:solidFill>
            <a:srgbClr val="F3F8F5"/>
          </a:solidFill>
          <a:ln/>
        </p:spPr>
      </p:sp>
      <p:sp>
        <p:nvSpPr>
          <p:cNvPr id="9" name="Shape 7"/>
          <p:cNvSpPr/>
          <p:nvPr/>
        </p:nvSpPr>
        <p:spPr>
          <a:xfrm>
            <a:off x="6583680" y="1874520"/>
            <a:ext cx="640080" cy="640080"/>
          </a:xfrm>
          <a:prstGeom prst="ellipse">
            <a:avLst/>
          </a:prstGeom>
          <a:solidFill>
            <a:srgbClr val="2D6A4F"/>
          </a:solidFill>
          <a:ln/>
        </p:spPr>
      </p:sp>
      <p:sp>
        <p:nvSpPr>
          <p:cNvPr id="10" name="Text 8"/>
          <p:cNvSpPr/>
          <p:nvPr/>
        </p:nvSpPr>
        <p:spPr>
          <a:xfrm>
            <a:off x="6583680" y="1874520"/>
            <a:ext cx="640080" cy="640080"/>
          </a:xfrm>
          <a:prstGeom prst="rect">
            <a:avLst/>
          </a:prstGeom>
          <a:noFill/>
          <a:ln/>
        </p:spPr>
        <p:txBody>
          <a:bodyPr wrap="square" rtlCol="0" anchor="ctr"/>
          <a:lstStyle/>
          <a:p>
            <a:pPr marL="0" indent="0" algn="ctr">
              <a:buNone/>
            </a:pPr>
            <a:r>
              <a:rPr lang="en-US" sz="1960" b="1" dirty="0">
                <a:solidFill>
                  <a:srgbClr val="FFFFFF"/>
                </a:solidFill>
                <a:latin typeface="Cambria" pitchFamily="34" charset="0"/>
                <a:ea typeface="Cambria" pitchFamily="34" charset="-122"/>
                <a:cs typeface="Cambria" pitchFamily="34" charset="-120"/>
              </a:rPr>
              <a:t>2</a:t>
            </a:r>
            <a:endParaRPr lang="en-US" sz="1960" dirty="0"/>
          </a:p>
        </p:txBody>
      </p:sp>
      <p:sp>
        <p:nvSpPr>
          <p:cNvPr id="11" name="Text 9"/>
          <p:cNvSpPr/>
          <p:nvPr/>
        </p:nvSpPr>
        <p:spPr>
          <a:xfrm>
            <a:off x="6537960" y="2697480"/>
            <a:ext cx="4846320" cy="457200"/>
          </a:xfrm>
          <a:prstGeom prst="rect">
            <a:avLst/>
          </a:prstGeom>
          <a:noFill/>
          <a:ln/>
        </p:spPr>
        <p:txBody>
          <a:bodyPr wrap="square" rtlCol="0" anchor="ctr"/>
          <a:lstStyle/>
          <a:p>
            <a:pPr marL="0" indent="0">
              <a:buNone/>
            </a:pPr>
            <a:r>
              <a:rPr lang="en-US" sz="1700" b="1" dirty="0">
                <a:solidFill>
                  <a:srgbClr val="1B4332"/>
                </a:solidFill>
                <a:latin typeface="Cambria" pitchFamily="34" charset="0"/>
                <a:ea typeface="Cambria" pitchFamily="34" charset="-122"/>
                <a:cs typeface="Cambria" pitchFamily="34" charset="-120"/>
              </a:rPr>
              <a:t>Recycling Inefficiency</a:t>
            </a:r>
            <a:endParaRPr lang="en-US" sz="1700" dirty="0"/>
          </a:p>
        </p:txBody>
      </p:sp>
      <p:sp>
        <p:nvSpPr>
          <p:cNvPr id="12" name="Text 10"/>
          <p:cNvSpPr/>
          <p:nvPr/>
        </p:nvSpPr>
        <p:spPr>
          <a:xfrm>
            <a:off x="6537960" y="3154680"/>
            <a:ext cx="4846320" cy="777240"/>
          </a:xfrm>
          <a:prstGeom prst="rect">
            <a:avLst/>
          </a:prstGeom>
          <a:noFill/>
          <a:ln/>
        </p:spPr>
        <p:txBody>
          <a:bodyPr wrap="square" rtlCol="0" anchor="t"/>
          <a:lstStyle/>
          <a:p>
            <a:pPr marL="0" indent="0">
              <a:buNone/>
            </a:pPr>
            <a:r>
              <a:rPr lang="en-US" sz="1300" dirty="0">
                <a:solidFill>
                  <a:srgbClr val="3A3A38"/>
                </a:solidFill>
                <a:latin typeface="Calibri" pitchFamily="34" charset="0"/>
                <a:ea typeface="Calibri" pitchFamily="34" charset="-122"/>
                <a:cs typeface="Calibri" pitchFamily="34" charset="-120"/>
              </a:rPr>
              <a:t>Contaminants in recycling streams cause clean recyclables to end up in landfills.</a:t>
            </a:r>
            <a:endParaRPr lang="en-US" sz="1300" dirty="0"/>
          </a:p>
        </p:txBody>
      </p:sp>
      <p:sp>
        <p:nvSpPr>
          <p:cNvPr id="13" name="Shape 11"/>
          <p:cNvSpPr/>
          <p:nvPr/>
        </p:nvSpPr>
        <p:spPr>
          <a:xfrm>
            <a:off x="548640" y="4343400"/>
            <a:ext cx="11091672" cy="1554480"/>
          </a:xfrm>
          <a:prstGeom prst="roundRect">
            <a:avLst>
              <a:gd name="adj" fmla="val 4706"/>
            </a:avLst>
          </a:prstGeom>
          <a:solidFill>
            <a:srgbClr val="1B4332"/>
          </a:solidFill>
          <a:ln/>
        </p:spPr>
      </p:sp>
      <p:sp>
        <p:nvSpPr>
          <p:cNvPr id="14" name="Shape 12"/>
          <p:cNvSpPr/>
          <p:nvPr/>
        </p:nvSpPr>
        <p:spPr>
          <a:xfrm>
            <a:off x="868680" y="4709160"/>
            <a:ext cx="822960" cy="822960"/>
          </a:xfrm>
          <a:prstGeom prst="ellipse">
            <a:avLst/>
          </a:prstGeom>
          <a:solidFill>
            <a:srgbClr val="E76F51"/>
          </a:solidFill>
          <a:ln/>
        </p:spPr>
      </p:sp>
      <p:sp>
        <p:nvSpPr>
          <p:cNvPr id="15" name="Text 13"/>
          <p:cNvSpPr/>
          <p:nvPr/>
        </p:nvSpPr>
        <p:spPr>
          <a:xfrm>
            <a:off x="868680" y="4709160"/>
            <a:ext cx="822960" cy="822960"/>
          </a:xfrm>
          <a:prstGeom prst="rect">
            <a:avLst/>
          </a:prstGeom>
          <a:noFill/>
          <a:ln/>
        </p:spPr>
        <p:txBody>
          <a:bodyPr wrap="square" rtlCol="0" anchor="ctr"/>
          <a:lstStyle/>
          <a:p>
            <a:pPr marL="0" indent="0" algn="ctr">
              <a:buNone/>
            </a:pPr>
            <a:r>
              <a:rPr lang="en-US" sz="2520" b="1" dirty="0">
                <a:solidFill>
                  <a:srgbClr val="FFFFFF"/>
                </a:solidFill>
                <a:latin typeface="Cambria" pitchFamily="34" charset="0"/>
                <a:ea typeface="Cambria" pitchFamily="34" charset="-122"/>
                <a:cs typeface="Cambria" pitchFamily="34" charset="-120"/>
              </a:rPr>
              <a:t>i</a:t>
            </a:r>
            <a:endParaRPr lang="en-US" sz="2520" dirty="0"/>
          </a:p>
        </p:txBody>
      </p:sp>
      <p:sp>
        <p:nvSpPr>
          <p:cNvPr id="16" name="Text 14"/>
          <p:cNvSpPr/>
          <p:nvPr/>
        </p:nvSpPr>
        <p:spPr>
          <a:xfrm>
            <a:off x="1874520" y="4572000"/>
            <a:ext cx="8686800" cy="365760"/>
          </a:xfrm>
          <a:prstGeom prst="rect">
            <a:avLst/>
          </a:prstGeom>
          <a:noFill/>
          <a:ln/>
        </p:spPr>
        <p:txBody>
          <a:bodyPr wrap="square" rtlCol="0" anchor="ctr"/>
          <a:lstStyle/>
          <a:p>
            <a:pPr marL="0" indent="0">
              <a:buNone/>
            </a:pPr>
            <a:r>
              <a:rPr lang="en-US" sz="1500" b="1" dirty="0">
                <a:solidFill>
                  <a:srgbClr val="95D5B2"/>
                </a:solidFill>
                <a:latin typeface="Cambria" pitchFamily="34" charset="0"/>
                <a:ea typeface="Cambria" pitchFamily="34" charset="-122"/>
                <a:cs typeface="Cambria" pitchFamily="34" charset="-120"/>
              </a:rPr>
              <a:t>Why this matters</a:t>
            </a:r>
            <a:endParaRPr lang="en-US" sz="1500" dirty="0"/>
          </a:p>
        </p:txBody>
      </p:sp>
      <p:sp>
        <p:nvSpPr>
          <p:cNvPr id="17" name="Text 15"/>
          <p:cNvSpPr/>
          <p:nvPr/>
        </p:nvSpPr>
        <p:spPr>
          <a:xfrm>
            <a:off x="1874520" y="4937760"/>
            <a:ext cx="9052560" cy="822960"/>
          </a:xfrm>
          <a:prstGeom prst="rect">
            <a:avLst/>
          </a:prstGeom>
          <a:noFill/>
          <a:ln/>
        </p:spPr>
        <p:txBody>
          <a:bodyPr wrap="square" rtlCol="0" anchor="ctr"/>
          <a:lstStyle/>
          <a:p>
            <a:pPr marL="0" indent="0">
              <a:buNone/>
            </a:pPr>
            <a:r>
              <a:rPr lang="en-US" sz="1300" dirty="0">
                <a:solidFill>
                  <a:srgbClr val="F1F8F4"/>
                </a:solidFill>
                <a:latin typeface="Calibri" pitchFamily="34" charset="0"/>
                <a:ea typeface="Calibri" pitchFamily="34" charset="-122"/>
                <a:cs typeface="Calibri" pitchFamily="34" charset="-120"/>
              </a:rPr>
              <a:t>Municipal solid waste generation continues to rise globally, while manual sorting facilities struggle to keep pace — resulting in valuable recyclables being lost to landfill every day.</a:t>
            </a:r>
            <a:endParaRPr lang="en-US" sz="1300" dirty="0"/>
          </a:p>
        </p:txBody>
      </p:sp>
      <p:sp>
        <p:nvSpPr>
          <p:cNvPr id="18" name="Text 16"/>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19" name="Text 17"/>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The Black-Box Problem</a:t>
            </a:r>
            <a:endParaRPr lang="en-US" sz="3000" dirty="0"/>
          </a:p>
        </p:txBody>
      </p:sp>
      <p:sp>
        <p:nvSpPr>
          <p:cNvPr id="3" name="Shape 1"/>
          <p:cNvSpPr/>
          <p:nvPr/>
        </p:nvSpPr>
        <p:spPr>
          <a:xfrm>
            <a:off x="548640" y="1508760"/>
            <a:ext cx="11091672" cy="1965960"/>
          </a:xfrm>
          <a:prstGeom prst="roundRect">
            <a:avLst>
              <a:gd name="adj" fmla="val 3721"/>
            </a:avLst>
          </a:prstGeom>
          <a:solidFill>
            <a:srgbClr val="FCEEE9"/>
          </a:solidFill>
          <a:ln/>
        </p:spPr>
      </p:sp>
      <p:sp>
        <p:nvSpPr>
          <p:cNvPr id="4" name="Shape 2"/>
          <p:cNvSpPr/>
          <p:nvPr/>
        </p:nvSpPr>
        <p:spPr>
          <a:xfrm>
            <a:off x="868680" y="1828800"/>
            <a:ext cx="731520" cy="731520"/>
          </a:xfrm>
          <a:prstGeom prst="ellipse">
            <a:avLst/>
          </a:prstGeom>
          <a:solidFill>
            <a:srgbClr val="E76F51"/>
          </a:solidFill>
          <a:ln/>
        </p:spPr>
      </p:sp>
      <p:sp>
        <p:nvSpPr>
          <p:cNvPr id="5" name="Text 3"/>
          <p:cNvSpPr/>
          <p:nvPr/>
        </p:nvSpPr>
        <p:spPr>
          <a:xfrm>
            <a:off x="868680" y="1828800"/>
            <a:ext cx="731520" cy="731520"/>
          </a:xfrm>
          <a:prstGeom prst="rect">
            <a:avLst/>
          </a:prstGeom>
          <a:noFill/>
          <a:ln/>
        </p:spPr>
        <p:txBody>
          <a:bodyPr wrap="square" rtlCol="0" anchor="ctr"/>
          <a:lstStyle/>
          <a:p>
            <a:pPr marL="0" indent="0" algn="ctr">
              <a:buNone/>
            </a:pPr>
            <a:r>
              <a:rPr lang="en-US" sz="2240" b="1" dirty="0">
                <a:solidFill>
                  <a:srgbClr val="FFFFFF"/>
                </a:solidFill>
                <a:latin typeface="Cambria" pitchFamily="34" charset="0"/>
                <a:ea typeface="Cambria" pitchFamily="34" charset="-122"/>
                <a:cs typeface="Cambria" pitchFamily="34" charset="-120"/>
              </a:rPr>
              <a:t>?</a:t>
            </a:r>
            <a:endParaRPr lang="en-US" sz="2240" dirty="0"/>
          </a:p>
        </p:txBody>
      </p:sp>
      <p:sp>
        <p:nvSpPr>
          <p:cNvPr id="6" name="Text 4"/>
          <p:cNvSpPr/>
          <p:nvPr/>
        </p:nvSpPr>
        <p:spPr>
          <a:xfrm>
            <a:off x="1828800" y="1737360"/>
            <a:ext cx="9509760" cy="457200"/>
          </a:xfrm>
          <a:prstGeom prst="rect">
            <a:avLst/>
          </a:prstGeom>
          <a:noFill/>
          <a:ln/>
        </p:spPr>
        <p:txBody>
          <a:bodyPr wrap="square" rtlCol="0" anchor="ctr"/>
          <a:lstStyle/>
          <a:p>
            <a:pPr marL="0" indent="0">
              <a:buNone/>
            </a:pPr>
            <a:r>
              <a:rPr lang="en-US" sz="1600" b="1" dirty="0">
                <a:solidFill>
                  <a:srgbClr val="9E2A2B"/>
                </a:solidFill>
                <a:latin typeface="Cambria" pitchFamily="34" charset="0"/>
                <a:ea typeface="Cambria" pitchFamily="34" charset="-122"/>
                <a:cs typeface="Cambria" pitchFamily="34" charset="-120"/>
              </a:rPr>
              <a:t>Deep learning models are highly accurate but act as "black boxes"</a:t>
            </a:r>
            <a:endParaRPr lang="en-US" sz="1600" dirty="0"/>
          </a:p>
        </p:txBody>
      </p:sp>
      <p:sp>
        <p:nvSpPr>
          <p:cNvPr id="7" name="Text 5"/>
          <p:cNvSpPr/>
          <p:nvPr/>
        </p:nvSpPr>
        <p:spPr>
          <a:xfrm>
            <a:off x="1828800" y="2240280"/>
            <a:ext cx="9509760" cy="1097280"/>
          </a:xfrm>
          <a:prstGeom prst="rect">
            <a:avLst/>
          </a:prstGeom>
          <a:noFill/>
          <a:ln/>
        </p:spPr>
        <p:txBody>
          <a:bodyPr wrap="square" rtlCol="0" anchor="t"/>
          <a:lstStyle/>
          <a:p>
            <a:pPr marL="0" indent="0">
              <a:buNone/>
            </a:pPr>
            <a:r>
              <a:rPr lang="en-US" sz="1300" dirty="0">
                <a:solidFill>
                  <a:srgbClr val="3A3A38"/>
                </a:solidFill>
                <a:latin typeface="Calibri" pitchFamily="34" charset="0"/>
                <a:ea typeface="Calibri" pitchFamily="34" charset="-122"/>
                <a:cs typeface="Calibri" pitchFamily="34" charset="-120"/>
              </a:rPr>
              <a:t>They provide predictions without explanation — an examiner, auditor, or user has no way to verify why the model classified an item the way it did, which undermines trust in automated sorting decisions.</a:t>
            </a:r>
            <a:endParaRPr lang="en-US" sz="1300" dirty="0"/>
          </a:p>
        </p:txBody>
      </p:sp>
      <p:sp>
        <p:nvSpPr>
          <p:cNvPr id="8" name="Shape 6"/>
          <p:cNvSpPr/>
          <p:nvPr/>
        </p:nvSpPr>
        <p:spPr>
          <a:xfrm>
            <a:off x="548640" y="3794760"/>
            <a:ext cx="11091672" cy="2103120"/>
          </a:xfrm>
          <a:prstGeom prst="roundRect">
            <a:avLst>
              <a:gd name="adj" fmla="val 3478"/>
            </a:avLst>
          </a:prstGeom>
          <a:solidFill>
            <a:srgbClr val="1B4332"/>
          </a:solidFill>
          <a:ln/>
        </p:spPr>
      </p:sp>
      <p:sp>
        <p:nvSpPr>
          <p:cNvPr id="9" name="Shape 7"/>
          <p:cNvSpPr/>
          <p:nvPr/>
        </p:nvSpPr>
        <p:spPr>
          <a:xfrm>
            <a:off x="868680" y="4114800"/>
            <a:ext cx="731520" cy="731520"/>
          </a:xfrm>
          <a:prstGeom prst="ellipse">
            <a:avLst/>
          </a:prstGeom>
          <a:solidFill>
            <a:srgbClr val="95D5B2"/>
          </a:solidFill>
          <a:ln/>
        </p:spPr>
      </p:sp>
      <p:sp>
        <p:nvSpPr>
          <p:cNvPr id="10" name="Text 8"/>
          <p:cNvSpPr/>
          <p:nvPr/>
        </p:nvSpPr>
        <p:spPr>
          <a:xfrm>
            <a:off x="868680" y="4114800"/>
            <a:ext cx="731520" cy="731520"/>
          </a:xfrm>
          <a:prstGeom prst="rect">
            <a:avLst/>
          </a:prstGeom>
          <a:noFill/>
          <a:ln/>
        </p:spPr>
        <p:txBody>
          <a:bodyPr wrap="square" rtlCol="0" anchor="ctr"/>
          <a:lstStyle/>
          <a:p>
            <a:pPr marL="0" indent="0" algn="ctr">
              <a:buNone/>
            </a:pPr>
            <a:r>
              <a:rPr lang="en-US" sz="2240" b="1" dirty="0">
                <a:solidFill>
                  <a:srgbClr val="1B4332"/>
                </a:solidFill>
                <a:latin typeface="Cambria" pitchFamily="34" charset="0"/>
                <a:ea typeface="Cambria" pitchFamily="34" charset="-122"/>
                <a:cs typeface="Cambria" pitchFamily="34" charset="-120"/>
              </a:rPr>
              <a:t>✓</a:t>
            </a:r>
            <a:endParaRPr lang="en-US" sz="2240" dirty="0"/>
          </a:p>
        </p:txBody>
      </p:sp>
      <p:sp>
        <p:nvSpPr>
          <p:cNvPr id="11" name="Text 9"/>
          <p:cNvSpPr/>
          <p:nvPr/>
        </p:nvSpPr>
        <p:spPr>
          <a:xfrm>
            <a:off x="1828800" y="4023360"/>
            <a:ext cx="8686800" cy="411480"/>
          </a:xfrm>
          <a:prstGeom prst="rect">
            <a:avLst/>
          </a:prstGeom>
          <a:noFill/>
          <a:ln/>
        </p:spPr>
        <p:txBody>
          <a:bodyPr wrap="square" rtlCol="0" anchor="ctr"/>
          <a:lstStyle/>
          <a:p>
            <a:pPr marL="0" indent="0">
              <a:buNone/>
            </a:pPr>
            <a:r>
              <a:rPr lang="en-US" sz="1700" b="1" dirty="0">
                <a:solidFill>
                  <a:srgbClr val="95D5B2"/>
                </a:solidFill>
                <a:latin typeface="Cambria" pitchFamily="34" charset="0"/>
                <a:ea typeface="Cambria" pitchFamily="34" charset="-122"/>
                <a:cs typeface="Cambria" pitchFamily="34" charset="-120"/>
              </a:rPr>
              <a:t>Our Solution</a:t>
            </a:r>
            <a:endParaRPr lang="en-US" sz="1700" dirty="0"/>
          </a:p>
        </p:txBody>
      </p:sp>
      <p:sp>
        <p:nvSpPr>
          <p:cNvPr id="12" name="Text 10"/>
          <p:cNvSpPr/>
          <p:nvPr/>
        </p:nvSpPr>
        <p:spPr>
          <a:xfrm>
            <a:off x="1828800" y="4526280"/>
            <a:ext cx="9509760" cy="1188720"/>
          </a:xfrm>
          <a:prstGeom prst="rect">
            <a:avLst/>
          </a:prstGeom>
          <a:noFill/>
          <a:ln/>
        </p:spPr>
        <p:txBody>
          <a:bodyPr wrap="square" rtlCol="0" anchor="t"/>
          <a:lstStyle/>
          <a:p>
            <a:pPr marL="0" indent="0">
              <a:buNone/>
            </a:pPr>
            <a:r>
              <a:rPr lang="en-US" sz="1350" dirty="0">
                <a:solidFill>
                  <a:srgbClr val="F1F8F4"/>
                </a:solidFill>
                <a:latin typeface="Calibri" pitchFamily="34" charset="0"/>
                <a:ea typeface="Calibri" pitchFamily="34" charset="-122"/>
                <a:cs typeface="Calibri" pitchFamily="34" charset="-120"/>
              </a:rPr>
              <a:t>An automated sorting system that is accurate, explains why it made a prediction using Grad-CAM, and provides analytics — closing the trust gap between model output and human verification.</a:t>
            </a:r>
            <a:endParaRPr lang="en-US" sz="1350" dirty="0"/>
          </a:p>
        </p:txBody>
      </p:sp>
      <p:sp>
        <p:nvSpPr>
          <p:cNvPr id="13" name="Text 11"/>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14" name="Text 12"/>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Objectives of the Project</a:t>
            </a:r>
            <a:endParaRPr lang="en-US" sz="3000" dirty="0"/>
          </a:p>
        </p:txBody>
      </p:sp>
      <p:sp>
        <p:nvSpPr>
          <p:cNvPr id="3" name="Shape 1"/>
          <p:cNvSpPr/>
          <p:nvPr/>
        </p:nvSpPr>
        <p:spPr>
          <a:xfrm>
            <a:off x="548640" y="1463040"/>
            <a:ext cx="3611880" cy="2148840"/>
          </a:xfrm>
          <a:prstGeom prst="roundRect">
            <a:avLst>
              <a:gd name="adj" fmla="val 3404"/>
            </a:avLst>
          </a:prstGeom>
          <a:solidFill>
            <a:srgbClr val="F3F8F5"/>
          </a:solidFill>
          <a:ln/>
        </p:spPr>
      </p:sp>
      <p:sp>
        <p:nvSpPr>
          <p:cNvPr id="4" name="Shape 2"/>
          <p:cNvSpPr/>
          <p:nvPr/>
        </p:nvSpPr>
        <p:spPr>
          <a:xfrm>
            <a:off x="777240" y="1691640"/>
            <a:ext cx="502920" cy="502920"/>
          </a:xfrm>
          <a:prstGeom prst="ellipse">
            <a:avLst/>
          </a:prstGeom>
          <a:solidFill>
            <a:srgbClr val="2D6A4F"/>
          </a:solidFill>
          <a:ln/>
        </p:spPr>
      </p:sp>
      <p:sp>
        <p:nvSpPr>
          <p:cNvPr id="5" name="Text 3"/>
          <p:cNvSpPr/>
          <p:nvPr/>
        </p:nvSpPr>
        <p:spPr>
          <a:xfrm>
            <a:off x="777240" y="1691640"/>
            <a:ext cx="502920" cy="502920"/>
          </a:xfrm>
          <a:prstGeom prst="rect">
            <a:avLst/>
          </a:prstGeom>
          <a:noFill/>
          <a:ln/>
        </p:spPr>
        <p:txBody>
          <a:bodyPr wrap="square" rtlCol="0" anchor="ctr"/>
          <a:lstStyle/>
          <a:p>
            <a:pPr marL="0" indent="0" algn="ctr">
              <a:buNone/>
            </a:pPr>
            <a:r>
              <a:rPr lang="en-US" sz="1540" b="1" dirty="0">
                <a:solidFill>
                  <a:srgbClr val="FFFFFF"/>
                </a:solidFill>
                <a:latin typeface="Cambria" pitchFamily="34" charset="0"/>
                <a:ea typeface="Cambria" pitchFamily="34" charset="-122"/>
                <a:cs typeface="Cambria" pitchFamily="34" charset="-120"/>
              </a:rPr>
              <a:t>1</a:t>
            </a:r>
            <a:endParaRPr lang="en-US" sz="1540" dirty="0"/>
          </a:p>
        </p:txBody>
      </p:sp>
      <p:sp>
        <p:nvSpPr>
          <p:cNvPr id="6" name="Text 4"/>
          <p:cNvSpPr/>
          <p:nvPr/>
        </p:nvSpPr>
        <p:spPr>
          <a:xfrm>
            <a:off x="777240" y="2286000"/>
            <a:ext cx="3154680" cy="457200"/>
          </a:xfrm>
          <a:prstGeom prst="rect">
            <a:avLst/>
          </a:prstGeom>
          <a:noFill/>
          <a:ln/>
        </p:spPr>
        <p:txBody>
          <a:bodyPr wrap="square" rtlCol="0" anchor="ctr"/>
          <a:lstStyle/>
          <a:p>
            <a:pPr marL="0" indent="0">
              <a:buNone/>
            </a:pPr>
            <a:r>
              <a:rPr lang="en-US" sz="1400" b="1" dirty="0">
                <a:solidFill>
                  <a:srgbClr val="1B4332"/>
                </a:solidFill>
                <a:latin typeface="Cambria" pitchFamily="34" charset="0"/>
                <a:ea typeface="Cambria" pitchFamily="34" charset="-122"/>
                <a:cs typeface="Cambria" pitchFamily="34" charset="-120"/>
              </a:rPr>
              <a:t>Automated Classification</a:t>
            </a:r>
            <a:endParaRPr lang="en-US" sz="1400" dirty="0"/>
          </a:p>
        </p:txBody>
      </p:sp>
      <p:sp>
        <p:nvSpPr>
          <p:cNvPr id="7" name="Text 5"/>
          <p:cNvSpPr/>
          <p:nvPr/>
        </p:nvSpPr>
        <p:spPr>
          <a:xfrm>
            <a:off x="777240" y="2697480"/>
            <a:ext cx="3154680" cy="822960"/>
          </a:xfrm>
          <a:prstGeom prst="rect">
            <a:avLst/>
          </a:prstGeom>
          <a:noFill/>
          <a:ln/>
        </p:spPr>
        <p:txBody>
          <a:bodyPr wrap="square" rtlCol="0" anchor="t"/>
          <a:lstStyle/>
          <a:p>
            <a:pPr marL="0" indent="0">
              <a:buNone/>
            </a:pPr>
            <a:r>
              <a:rPr lang="en-US" sz="1050" dirty="0">
                <a:solidFill>
                  <a:srgbClr val="3A3A38"/>
                </a:solidFill>
                <a:latin typeface="Calibri" pitchFamily="34" charset="0"/>
                <a:ea typeface="Calibri" pitchFamily="34" charset="-122"/>
                <a:cs typeface="Calibri" pitchFamily="34" charset="-120"/>
              </a:rPr>
              <a:t>Classify waste into 10 categories: Plastic, Cardboard, Glass, Paper, Organic, Metal, Battery, E-Waste, Clothes, Trash.</a:t>
            </a:r>
            <a:endParaRPr lang="en-US" sz="1050" dirty="0"/>
          </a:p>
        </p:txBody>
      </p:sp>
      <p:sp>
        <p:nvSpPr>
          <p:cNvPr id="8" name="Shape 6"/>
          <p:cNvSpPr/>
          <p:nvPr/>
        </p:nvSpPr>
        <p:spPr>
          <a:xfrm>
            <a:off x="4343400" y="1463040"/>
            <a:ext cx="3611880" cy="2148840"/>
          </a:xfrm>
          <a:prstGeom prst="roundRect">
            <a:avLst>
              <a:gd name="adj" fmla="val 3404"/>
            </a:avLst>
          </a:prstGeom>
          <a:solidFill>
            <a:srgbClr val="F3F8F5"/>
          </a:solidFill>
          <a:ln/>
        </p:spPr>
      </p:sp>
      <p:sp>
        <p:nvSpPr>
          <p:cNvPr id="9" name="Shape 7"/>
          <p:cNvSpPr/>
          <p:nvPr/>
        </p:nvSpPr>
        <p:spPr>
          <a:xfrm>
            <a:off x="4572000" y="1691640"/>
            <a:ext cx="502920" cy="502920"/>
          </a:xfrm>
          <a:prstGeom prst="ellipse">
            <a:avLst/>
          </a:prstGeom>
          <a:solidFill>
            <a:srgbClr val="2D6A4F"/>
          </a:solidFill>
          <a:ln/>
        </p:spPr>
      </p:sp>
      <p:sp>
        <p:nvSpPr>
          <p:cNvPr id="10" name="Text 8"/>
          <p:cNvSpPr/>
          <p:nvPr/>
        </p:nvSpPr>
        <p:spPr>
          <a:xfrm>
            <a:off x="4572000" y="1691640"/>
            <a:ext cx="502920" cy="502920"/>
          </a:xfrm>
          <a:prstGeom prst="rect">
            <a:avLst/>
          </a:prstGeom>
          <a:noFill/>
          <a:ln/>
        </p:spPr>
        <p:txBody>
          <a:bodyPr wrap="square" rtlCol="0" anchor="ctr"/>
          <a:lstStyle/>
          <a:p>
            <a:pPr marL="0" indent="0" algn="ctr">
              <a:buNone/>
            </a:pPr>
            <a:r>
              <a:rPr lang="en-US" sz="1540" b="1" dirty="0">
                <a:solidFill>
                  <a:srgbClr val="FFFFFF"/>
                </a:solidFill>
                <a:latin typeface="Cambria" pitchFamily="34" charset="0"/>
                <a:ea typeface="Cambria" pitchFamily="34" charset="-122"/>
                <a:cs typeface="Cambria" pitchFamily="34" charset="-120"/>
              </a:rPr>
              <a:t>2</a:t>
            </a:r>
            <a:endParaRPr lang="en-US" sz="1540" dirty="0"/>
          </a:p>
        </p:txBody>
      </p:sp>
      <p:sp>
        <p:nvSpPr>
          <p:cNvPr id="11" name="Text 9"/>
          <p:cNvSpPr/>
          <p:nvPr/>
        </p:nvSpPr>
        <p:spPr>
          <a:xfrm>
            <a:off x="4572000" y="2286000"/>
            <a:ext cx="3154680" cy="457200"/>
          </a:xfrm>
          <a:prstGeom prst="rect">
            <a:avLst/>
          </a:prstGeom>
          <a:noFill/>
          <a:ln/>
        </p:spPr>
        <p:txBody>
          <a:bodyPr wrap="square" rtlCol="0" anchor="ctr"/>
          <a:lstStyle/>
          <a:p>
            <a:pPr marL="0" indent="0">
              <a:buNone/>
            </a:pPr>
            <a:r>
              <a:rPr lang="en-US" sz="1400" b="1" dirty="0">
                <a:solidFill>
                  <a:srgbClr val="1B4332"/>
                </a:solidFill>
                <a:latin typeface="Cambria" pitchFamily="34" charset="0"/>
                <a:ea typeface="Cambria" pitchFamily="34" charset="-122"/>
                <a:cs typeface="Cambria" pitchFamily="34" charset="-120"/>
              </a:rPr>
              <a:t>Explainable AI Integration</a:t>
            </a:r>
            <a:endParaRPr lang="en-US" sz="1400" dirty="0"/>
          </a:p>
        </p:txBody>
      </p:sp>
      <p:sp>
        <p:nvSpPr>
          <p:cNvPr id="12" name="Text 10"/>
          <p:cNvSpPr/>
          <p:nvPr/>
        </p:nvSpPr>
        <p:spPr>
          <a:xfrm>
            <a:off x="4572000" y="2697480"/>
            <a:ext cx="3154680" cy="822960"/>
          </a:xfrm>
          <a:prstGeom prst="rect">
            <a:avLst/>
          </a:prstGeom>
          <a:noFill/>
          <a:ln/>
        </p:spPr>
        <p:txBody>
          <a:bodyPr wrap="square" rtlCol="0" anchor="t"/>
          <a:lstStyle/>
          <a:p>
            <a:pPr marL="0" indent="0">
              <a:buNone/>
            </a:pPr>
            <a:r>
              <a:rPr lang="en-US" sz="1050" dirty="0">
                <a:solidFill>
                  <a:srgbClr val="3A3A38"/>
                </a:solidFill>
                <a:latin typeface="Calibri" pitchFamily="34" charset="0"/>
                <a:ea typeface="Calibri" pitchFamily="34" charset="-122"/>
                <a:cs typeface="Calibri" pitchFamily="34" charset="-120"/>
              </a:rPr>
              <a:t>Generate real-time Grad-CAM heatmaps showing the areas of activation.</a:t>
            </a:r>
            <a:endParaRPr lang="en-US" sz="1050" dirty="0"/>
          </a:p>
        </p:txBody>
      </p:sp>
      <p:sp>
        <p:nvSpPr>
          <p:cNvPr id="13" name="Shape 11"/>
          <p:cNvSpPr/>
          <p:nvPr/>
        </p:nvSpPr>
        <p:spPr>
          <a:xfrm>
            <a:off x="8138160" y="1463040"/>
            <a:ext cx="3611880" cy="2148840"/>
          </a:xfrm>
          <a:prstGeom prst="roundRect">
            <a:avLst>
              <a:gd name="adj" fmla="val 3404"/>
            </a:avLst>
          </a:prstGeom>
          <a:solidFill>
            <a:srgbClr val="F3F8F5"/>
          </a:solidFill>
          <a:ln/>
        </p:spPr>
      </p:sp>
      <p:sp>
        <p:nvSpPr>
          <p:cNvPr id="14" name="Shape 12"/>
          <p:cNvSpPr/>
          <p:nvPr/>
        </p:nvSpPr>
        <p:spPr>
          <a:xfrm>
            <a:off x="8366760" y="1691640"/>
            <a:ext cx="502920" cy="502920"/>
          </a:xfrm>
          <a:prstGeom prst="ellipse">
            <a:avLst/>
          </a:prstGeom>
          <a:solidFill>
            <a:srgbClr val="2D6A4F"/>
          </a:solidFill>
          <a:ln/>
        </p:spPr>
      </p:sp>
      <p:sp>
        <p:nvSpPr>
          <p:cNvPr id="15" name="Text 13"/>
          <p:cNvSpPr/>
          <p:nvPr/>
        </p:nvSpPr>
        <p:spPr>
          <a:xfrm>
            <a:off x="8366760" y="1691640"/>
            <a:ext cx="502920" cy="502920"/>
          </a:xfrm>
          <a:prstGeom prst="rect">
            <a:avLst/>
          </a:prstGeom>
          <a:noFill/>
          <a:ln/>
        </p:spPr>
        <p:txBody>
          <a:bodyPr wrap="square" rtlCol="0" anchor="ctr"/>
          <a:lstStyle/>
          <a:p>
            <a:pPr marL="0" indent="0" algn="ctr">
              <a:buNone/>
            </a:pPr>
            <a:r>
              <a:rPr lang="en-US" sz="1540" b="1" dirty="0">
                <a:solidFill>
                  <a:srgbClr val="FFFFFF"/>
                </a:solidFill>
                <a:latin typeface="Cambria" pitchFamily="34" charset="0"/>
                <a:ea typeface="Cambria" pitchFamily="34" charset="-122"/>
                <a:cs typeface="Cambria" pitchFamily="34" charset="-120"/>
              </a:rPr>
              <a:t>3</a:t>
            </a:r>
            <a:endParaRPr lang="en-US" sz="1540" dirty="0"/>
          </a:p>
        </p:txBody>
      </p:sp>
      <p:sp>
        <p:nvSpPr>
          <p:cNvPr id="16" name="Text 14"/>
          <p:cNvSpPr/>
          <p:nvPr/>
        </p:nvSpPr>
        <p:spPr>
          <a:xfrm>
            <a:off x="8366760" y="2286000"/>
            <a:ext cx="3154680" cy="457200"/>
          </a:xfrm>
          <a:prstGeom prst="rect">
            <a:avLst/>
          </a:prstGeom>
          <a:noFill/>
          <a:ln/>
        </p:spPr>
        <p:txBody>
          <a:bodyPr wrap="square" rtlCol="0" anchor="ctr"/>
          <a:lstStyle/>
          <a:p>
            <a:pPr marL="0" indent="0">
              <a:buNone/>
            </a:pPr>
            <a:r>
              <a:rPr lang="en-US" sz="1400" b="1" dirty="0">
                <a:solidFill>
                  <a:srgbClr val="1B4332"/>
                </a:solidFill>
                <a:latin typeface="Cambria" pitchFamily="34" charset="0"/>
                <a:ea typeface="Cambria" pitchFamily="34" charset="-122"/>
                <a:cs typeface="Cambria" pitchFamily="34" charset="-120"/>
              </a:rPr>
              <a:t>Analytical Reporting</a:t>
            </a:r>
            <a:endParaRPr lang="en-US" sz="1400" dirty="0"/>
          </a:p>
        </p:txBody>
      </p:sp>
      <p:sp>
        <p:nvSpPr>
          <p:cNvPr id="17" name="Text 15"/>
          <p:cNvSpPr/>
          <p:nvPr/>
        </p:nvSpPr>
        <p:spPr>
          <a:xfrm>
            <a:off x="8366760" y="2697480"/>
            <a:ext cx="3154680" cy="822960"/>
          </a:xfrm>
          <a:prstGeom prst="rect">
            <a:avLst/>
          </a:prstGeom>
          <a:noFill/>
          <a:ln/>
        </p:spPr>
        <p:txBody>
          <a:bodyPr wrap="square" rtlCol="0" anchor="t"/>
          <a:lstStyle/>
          <a:p>
            <a:pPr marL="0" indent="0">
              <a:buNone/>
            </a:pPr>
            <a:r>
              <a:rPr lang="en-US" sz="1050" dirty="0">
                <a:solidFill>
                  <a:srgbClr val="3A3A38"/>
                </a:solidFill>
                <a:latin typeface="Calibri" pitchFamily="34" charset="0"/>
                <a:ea typeface="Calibri" pitchFamily="34" charset="-122"/>
                <a:cs typeface="Calibri" pitchFamily="34" charset="-120"/>
              </a:rPr>
              <a:t>Create a live dashboard illustrating waste composition and weekly trends.</a:t>
            </a:r>
            <a:endParaRPr lang="en-US" sz="1050" dirty="0"/>
          </a:p>
        </p:txBody>
      </p:sp>
      <p:sp>
        <p:nvSpPr>
          <p:cNvPr id="18" name="Shape 16"/>
          <p:cNvSpPr/>
          <p:nvPr/>
        </p:nvSpPr>
        <p:spPr>
          <a:xfrm>
            <a:off x="548640" y="3840480"/>
            <a:ext cx="3611880" cy="2148840"/>
          </a:xfrm>
          <a:prstGeom prst="roundRect">
            <a:avLst>
              <a:gd name="adj" fmla="val 3404"/>
            </a:avLst>
          </a:prstGeom>
          <a:solidFill>
            <a:srgbClr val="F3F8F5"/>
          </a:solidFill>
          <a:ln/>
        </p:spPr>
      </p:sp>
      <p:sp>
        <p:nvSpPr>
          <p:cNvPr id="19" name="Shape 17"/>
          <p:cNvSpPr/>
          <p:nvPr/>
        </p:nvSpPr>
        <p:spPr>
          <a:xfrm>
            <a:off x="777240" y="4069080"/>
            <a:ext cx="502920" cy="502920"/>
          </a:xfrm>
          <a:prstGeom prst="ellipse">
            <a:avLst/>
          </a:prstGeom>
          <a:solidFill>
            <a:srgbClr val="2D6A4F"/>
          </a:solidFill>
          <a:ln/>
        </p:spPr>
      </p:sp>
      <p:sp>
        <p:nvSpPr>
          <p:cNvPr id="20" name="Text 18"/>
          <p:cNvSpPr/>
          <p:nvPr/>
        </p:nvSpPr>
        <p:spPr>
          <a:xfrm>
            <a:off x="777240" y="4069080"/>
            <a:ext cx="502920" cy="502920"/>
          </a:xfrm>
          <a:prstGeom prst="rect">
            <a:avLst/>
          </a:prstGeom>
          <a:noFill/>
          <a:ln/>
        </p:spPr>
        <p:txBody>
          <a:bodyPr wrap="square" rtlCol="0" anchor="ctr"/>
          <a:lstStyle/>
          <a:p>
            <a:pPr marL="0" indent="0" algn="ctr">
              <a:buNone/>
            </a:pPr>
            <a:r>
              <a:rPr lang="en-US" sz="1540" b="1" dirty="0">
                <a:solidFill>
                  <a:srgbClr val="FFFFFF"/>
                </a:solidFill>
                <a:latin typeface="Cambria" pitchFamily="34" charset="0"/>
                <a:ea typeface="Cambria" pitchFamily="34" charset="-122"/>
                <a:cs typeface="Cambria" pitchFamily="34" charset="-120"/>
              </a:rPr>
              <a:t>4</a:t>
            </a:r>
            <a:endParaRPr lang="en-US" sz="1540" dirty="0"/>
          </a:p>
        </p:txBody>
      </p:sp>
      <p:sp>
        <p:nvSpPr>
          <p:cNvPr id="21" name="Text 19"/>
          <p:cNvSpPr/>
          <p:nvPr/>
        </p:nvSpPr>
        <p:spPr>
          <a:xfrm>
            <a:off x="777240" y="4663440"/>
            <a:ext cx="3154680" cy="457200"/>
          </a:xfrm>
          <a:prstGeom prst="rect">
            <a:avLst/>
          </a:prstGeom>
          <a:noFill/>
          <a:ln/>
        </p:spPr>
        <p:txBody>
          <a:bodyPr wrap="square" rtlCol="0" anchor="ctr"/>
          <a:lstStyle/>
          <a:p>
            <a:pPr marL="0" indent="0">
              <a:buNone/>
            </a:pPr>
            <a:r>
              <a:rPr lang="en-US" sz="1400" b="1" dirty="0">
                <a:solidFill>
                  <a:srgbClr val="1B4332"/>
                </a:solidFill>
                <a:latin typeface="Cambria" pitchFamily="34" charset="0"/>
                <a:ea typeface="Cambria" pitchFamily="34" charset="-122"/>
                <a:cs typeface="Cambria" pitchFamily="34" charset="-120"/>
              </a:rPr>
              <a:t>Reporting Pipelines</a:t>
            </a:r>
            <a:endParaRPr lang="en-US" sz="1400" dirty="0"/>
          </a:p>
        </p:txBody>
      </p:sp>
      <p:sp>
        <p:nvSpPr>
          <p:cNvPr id="22" name="Text 20"/>
          <p:cNvSpPr/>
          <p:nvPr/>
        </p:nvSpPr>
        <p:spPr>
          <a:xfrm>
            <a:off x="777240" y="5074920"/>
            <a:ext cx="3154680" cy="822960"/>
          </a:xfrm>
          <a:prstGeom prst="rect">
            <a:avLst/>
          </a:prstGeom>
          <a:noFill/>
          <a:ln/>
        </p:spPr>
        <p:txBody>
          <a:bodyPr wrap="square" rtlCol="0" anchor="t"/>
          <a:lstStyle/>
          <a:p>
            <a:pPr marL="0" indent="0">
              <a:buNone/>
            </a:pPr>
            <a:r>
              <a:rPr lang="en-US" sz="1050" dirty="0">
                <a:solidFill>
                  <a:srgbClr val="3A3A38"/>
                </a:solidFill>
                <a:latin typeface="Calibri" pitchFamily="34" charset="0"/>
                <a:ea typeface="Calibri" pitchFamily="34" charset="-122"/>
                <a:cs typeface="Calibri" pitchFamily="34" charset="-120"/>
              </a:rPr>
              <a:t>Support automatic PDF reports and database exports (Excel/CSV) for environmental audits.</a:t>
            </a:r>
            <a:endParaRPr lang="en-US" sz="1050" dirty="0"/>
          </a:p>
        </p:txBody>
      </p:sp>
      <p:sp>
        <p:nvSpPr>
          <p:cNvPr id="23" name="Shape 21"/>
          <p:cNvSpPr/>
          <p:nvPr/>
        </p:nvSpPr>
        <p:spPr>
          <a:xfrm>
            <a:off x="4343400" y="3840480"/>
            <a:ext cx="3611880" cy="2148840"/>
          </a:xfrm>
          <a:prstGeom prst="roundRect">
            <a:avLst>
              <a:gd name="adj" fmla="val 3404"/>
            </a:avLst>
          </a:prstGeom>
          <a:solidFill>
            <a:srgbClr val="F3F8F5"/>
          </a:solidFill>
          <a:ln/>
        </p:spPr>
      </p:sp>
      <p:sp>
        <p:nvSpPr>
          <p:cNvPr id="24" name="Shape 22"/>
          <p:cNvSpPr/>
          <p:nvPr/>
        </p:nvSpPr>
        <p:spPr>
          <a:xfrm>
            <a:off x="4572000" y="4069080"/>
            <a:ext cx="502920" cy="502920"/>
          </a:xfrm>
          <a:prstGeom prst="ellipse">
            <a:avLst/>
          </a:prstGeom>
          <a:solidFill>
            <a:srgbClr val="2D6A4F"/>
          </a:solidFill>
          <a:ln/>
        </p:spPr>
      </p:sp>
      <p:sp>
        <p:nvSpPr>
          <p:cNvPr id="25" name="Text 23"/>
          <p:cNvSpPr/>
          <p:nvPr/>
        </p:nvSpPr>
        <p:spPr>
          <a:xfrm>
            <a:off x="4572000" y="4069080"/>
            <a:ext cx="502920" cy="502920"/>
          </a:xfrm>
          <a:prstGeom prst="rect">
            <a:avLst/>
          </a:prstGeom>
          <a:noFill/>
          <a:ln/>
        </p:spPr>
        <p:txBody>
          <a:bodyPr wrap="square" rtlCol="0" anchor="ctr"/>
          <a:lstStyle/>
          <a:p>
            <a:pPr marL="0" indent="0" algn="ctr">
              <a:buNone/>
            </a:pPr>
            <a:r>
              <a:rPr lang="en-US" sz="1540" b="1" dirty="0">
                <a:solidFill>
                  <a:srgbClr val="FFFFFF"/>
                </a:solidFill>
                <a:latin typeface="Cambria" pitchFamily="34" charset="0"/>
                <a:ea typeface="Cambria" pitchFamily="34" charset="-122"/>
                <a:cs typeface="Cambria" pitchFamily="34" charset="-120"/>
              </a:rPr>
              <a:t>5</a:t>
            </a:r>
            <a:endParaRPr lang="en-US" sz="1540" dirty="0"/>
          </a:p>
        </p:txBody>
      </p:sp>
      <p:sp>
        <p:nvSpPr>
          <p:cNvPr id="26" name="Text 24"/>
          <p:cNvSpPr/>
          <p:nvPr/>
        </p:nvSpPr>
        <p:spPr>
          <a:xfrm>
            <a:off x="4572000" y="4663440"/>
            <a:ext cx="3154680" cy="457200"/>
          </a:xfrm>
          <a:prstGeom prst="rect">
            <a:avLst/>
          </a:prstGeom>
          <a:noFill/>
          <a:ln/>
        </p:spPr>
        <p:txBody>
          <a:bodyPr wrap="square" rtlCol="0" anchor="ctr"/>
          <a:lstStyle/>
          <a:p>
            <a:pPr marL="0" indent="0">
              <a:buNone/>
            </a:pPr>
            <a:r>
              <a:rPr lang="en-US" sz="1400" b="1" dirty="0">
                <a:solidFill>
                  <a:srgbClr val="1B4332"/>
                </a:solidFill>
                <a:latin typeface="Cambria" pitchFamily="34" charset="0"/>
                <a:ea typeface="Cambria" pitchFamily="34" charset="-122"/>
                <a:cs typeface="Cambria" pitchFamily="34" charset="-120"/>
              </a:rPr>
              <a:t>Cloud Optimization</a:t>
            </a:r>
            <a:endParaRPr lang="en-US" sz="1400" dirty="0"/>
          </a:p>
        </p:txBody>
      </p:sp>
      <p:sp>
        <p:nvSpPr>
          <p:cNvPr id="27" name="Text 25"/>
          <p:cNvSpPr/>
          <p:nvPr/>
        </p:nvSpPr>
        <p:spPr>
          <a:xfrm>
            <a:off x="4572000" y="5074920"/>
            <a:ext cx="3154680" cy="822960"/>
          </a:xfrm>
          <a:prstGeom prst="rect">
            <a:avLst/>
          </a:prstGeom>
          <a:noFill/>
          <a:ln/>
        </p:spPr>
        <p:txBody>
          <a:bodyPr wrap="square" rtlCol="0" anchor="t"/>
          <a:lstStyle/>
          <a:p>
            <a:pPr marL="0" indent="0">
              <a:buNone/>
            </a:pPr>
            <a:r>
              <a:rPr lang="en-US" sz="1050" dirty="0">
                <a:solidFill>
                  <a:srgbClr val="3A3A38"/>
                </a:solidFill>
                <a:latin typeface="Calibri" pitchFamily="34" charset="0"/>
                <a:ea typeface="Calibri" pitchFamily="34" charset="-122"/>
                <a:cs typeface="Calibri" pitchFamily="34" charset="-120"/>
              </a:rPr>
              <a:t>Build a hybrid engine capable of running efficiently in low-resource cloud hosting (512MB RAM).</a:t>
            </a:r>
            <a:endParaRPr lang="en-US" sz="1050" dirty="0"/>
          </a:p>
        </p:txBody>
      </p:sp>
      <p:sp>
        <p:nvSpPr>
          <p:cNvPr id="28" name="Text 26"/>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29" name="Text 27"/>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Related Work &amp; Existing Approaches</a:t>
            </a:r>
            <a:endParaRPr lang="en-US" sz="3000" dirty="0"/>
          </a:p>
        </p:txBody>
      </p:sp>
      <p:sp>
        <p:nvSpPr>
          <p:cNvPr id="3" name="Shape 1"/>
          <p:cNvSpPr/>
          <p:nvPr/>
        </p:nvSpPr>
        <p:spPr>
          <a:xfrm>
            <a:off x="548640" y="1554480"/>
            <a:ext cx="3520440" cy="4206240"/>
          </a:xfrm>
          <a:prstGeom prst="roundRect">
            <a:avLst>
              <a:gd name="adj" fmla="val 2078"/>
            </a:avLst>
          </a:prstGeom>
          <a:solidFill>
            <a:srgbClr val="F3F8F5"/>
          </a:solidFill>
          <a:ln/>
        </p:spPr>
      </p:sp>
      <p:sp>
        <p:nvSpPr>
          <p:cNvPr id="4" name="Text 2"/>
          <p:cNvSpPr/>
          <p:nvPr/>
        </p:nvSpPr>
        <p:spPr>
          <a:xfrm>
            <a:off x="822960" y="1783080"/>
            <a:ext cx="2971800" cy="45720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Manual Sorting</a:t>
            </a:r>
            <a:endParaRPr lang="en-US" sz="1500" dirty="0"/>
          </a:p>
        </p:txBody>
      </p:sp>
      <p:sp>
        <p:nvSpPr>
          <p:cNvPr id="5" name="Text 3"/>
          <p:cNvSpPr/>
          <p:nvPr/>
        </p:nvSpPr>
        <p:spPr>
          <a:xfrm>
            <a:off x="822960" y="2286000"/>
            <a:ext cx="2971800" cy="685800"/>
          </a:xfrm>
          <a:prstGeom prst="rect">
            <a:avLst/>
          </a:prstGeom>
          <a:noFill/>
          <a:ln/>
        </p:spPr>
        <p:txBody>
          <a:bodyPr wrap="square" rtlCol="0" anchor="t"/>
          <a:lstStyle/>
          <a:p>
            <a:pPr marL="0" indent="0">
              <a:buNone/>
            </a:pPr>
            <a:r>
              <a:rPr lang="en-US" sz="1150" dirty="0">
                <a:solidFill>
                  <a:srgbClr val="3A3A38"/>
                </a:solidFill>
                <a:latin typeface="Calibri" pitchFamily="34" charset="0"/>
                <a:ea typeface="Calibri" pitchFamily="34" charset="-122"/>
                <a:cs typeface="Calibri" pitchFamily="34" charset="-120"/>
              </a:rPr>
              <a:t>Human workers visually sort waste at facilities.</a:t>
            </a:r>
            <a:endParaRPr lang="en-US" sz="1150" dirty="0"/>
          </a:p>
        </p:txBody>
      </p:sp>
      <p:sp>
        <p:nvSpPr>
          <p:cNvPr id="6" name="Text 4"/>
          <p:cNvSpPr/>
          <p:nvPr/>
        </p:nvSpPr>
        <p:spPr>
          <a:xfrm>
            <a:off x="822960" y="3063240"/>
            <a:ext cx="2971800" cy="274320"/>
          </a:xfrm>
          <a:prstGeom prst="rect">
            <a:avLst/>
          </a:prstGeom>
          <a:noFill/>
          <a:ln/>
        </p:spPr>
        <p:txBody>
          <a:bodyPr wrap="square" rtlCol="0" anchor="ctr"/>
          <a:lstStyle/>
          <a:p>
            <a:pPr marL="0" indent="0">
              <a:buNone/>
            </a:pPr>
            <a:r>
              <a:rPr lang="en-US" sz="1100" b="1" dirty="0">
                <a:solidFill>
                  <a:srgbClr val="2D6A4F"/>
                </a:solidFill>
                <a:latin typeface="Calibri" pitchFamily="34" charset="0"/>
                <a:ea typeface="Calibri" pitchFamily="34" charset="-122"/>
                <a:cs typeface="Calibri" pitchFamily="34" charset="-120"/>
              </a:rPr>
              <a:t>Strengths</a:t>
            </a:r>
            <a:endParaRPr lang="en-US" sz="1100" dirty="0"/>
          </a:p>
        </p:txBody>
      </p:sp>
      <p:sp>
        <p:nvSpPr>
          <p:cNvPr id="7" name="Text 5"/>
          <p:cNvSpPr/>
          <p:nvPr/>
        </p:nvSpPr>
        <p:spPr>
          <a:xfrm>
            <a:off x="822960" y="3337560"/>
            <a:ext cx="2971800" cy="502920"/>
          </a:xfrm>
          <a:prstGeom prst="rect">
            <a:avLst/>
          </a:prstGeom>
          <a:noFill/>
          <a:ln/>
        </p:spPr>
        <p:txBody>
          <a:bodyPr wrap="square" rtlCol="0" anchor="t"/>
          <a:lstStyle/>
          <a:p>
            <a:pPr marL="0" indent="0">
              <a:buNone/>
            </a:pPr>
            <a:r>
              <a:rPr lang="en-US" sz="1100" dirty="0">
                <a:solidFill>
                  <a:srgbClr val="3A3A38"/>
                </a:solidFill>
                <a:latin typeface="Calibri" pitchFamily="34" charset="0"/>
                <a:ea typeface="Calibri" pitchFamily="34" charset="-122"/>
                <a:cs typeface="Calibri" pitchFamily="34" charset="-120"/>
              </a:rPr>
              <a:t>Flexible, no setup cost</a:t>
            </a:r>
            <a:endParaRPr lang="en-US" sz="1100" dirty="0"/>
          </a:p>
        </p:txBody>
      </p:sp>
      <p:sp>
        <p:nvSpPr>
          <p:cNvPr id="8" name="Text 6"/>
          <p:cNvSpPr/>
          <p:nvPr/>
        </p:nvSpPr>
        <p:spPr>
          <a:xfrm>
            <a:off x="822960" y="3931920"/>
            <a:ext cx="2971800" cy="274320"/>
          </a:xfrm>
          <a:prstGeom prst="rect">
            <a:avLst/>
          </a:prstGeom>
          <a:noFill/>
          <a:ln/>
        </p:spPr>
        <p:txBody>
          <a:bodyPr wrap="square" rtlCol="0" anchor="ctr"/>
          <a:lstStyle/>
          <a:p>
            <a:pPr marL="0" indent="0">
              <a:buNone/>
            </a:pPr>
            <a:r>
              <a:rPr lang="en-US" sz="1100" b="1" dirty="0">
                <a:solidFill>
                  <a:srgbClr val="9E2A2B"/>
                </a:solidFill>
                <a:latin typeface="Calibri" pitchFamily="34" charset="0"/>
                <a:ea typeface="Calibri" pitchFamily="34" charset="-122"/>
                <a:cs typeface="Calibri" pitchFamily="34" charset="-120"/>
              </a:rPr>
              <a:t>Limitations</a:t>
            </a:r>
            <a:endParaRPr lang="en-US" sz="1100" dirty="0"/>
          </a:p>
        </p:txBody>
      </p:sp>
      <p:sp>
        <p:nvSpPr>
          <p:cNvPr id="9" name="Text 7"/>
          <p:cNvSpPr/>
          <p:nvPr/>
        </p:nvSpPr>
        <p:spPr>
          <a:xfrm>
            <a:off x="822960" y="4206240"/>
            <a:ext cx="2971800" cy="548640"/>
          </a:xfrm>
          <a:prstGeom prst="rect">
            <a:avLst/>
          </a:prstGeom>
          <a:noFill/>
          <a:ln/>
        </p:spPr>
        <p:txBody>
          <a:bodyPr wrap="square" rtlCol="0" anchor="t"/>
          <a:lstStyle/>
          <a:p>
            <a:pPr marL="0" indent="0">
              <a:buNone/>
            </a:pPr>
            <a:r>
              <a:rPr lang="en-US" sz="1100" dirty="0">
                <a:solidFill>
                  <a:srgbClr val="3A3A38"/>
                </a:solidFill>
                <a:latin typeface="Calibri" pitchFamily="34" charset="0"/>
                <a:ea typeface="Calibri" pitchFamily="34" charset="-122"/>
                <a:cs typeface="Calibri" pitchFamily="34" charset="-120"/>
              </a:rPr>
              <a:t>Slow, error-prone, costly at scale</a:t>
            </a:r>
            <a:endParaRPr lang="en-US" sz="1100" dirty="0"/>
          </a:p>
        </p:txBody>
      </p:sp>
      <p:sp>
        <p:nvSpPr>
          <p:cNvPr id="10" name="Shape 8"/>
          <p:cNvSpPr/>
          <p:nvPr/>
        </p:nvSpPr>
        <p:spPr>
          <a:xfrm>
            <a:off x="4389120" y="1554480"/>
            <a:ext cx="3520440" cy="4206240"/>
          </a:xfrm>
          <a:prstGeom prst="roundRect">
            <a:avLst>
              <a:gd name="adj" fmla="val 2078"/>
            </a:avLst>
          </a:prstGeom>
          <a:solidFill>
            <a:srgbClr val="F3F8F5"/>
          </a:solidFill>
          <a:ln/>
        </p:spPr>
      </p:sp>
      <p:sp>
        <p:nvSpPr>
          <p:cNvPr id="11" name="Text 9"/>
          <p:cNvSpPr/>
          <p:nvPr/>
        </p:nvSpPr>
        <p:spPr>
          <a:xfrm>
            <a:off x="4663440" y="1783080"/>
            <a:ext cx="2971800" cy="45720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Basic CNN Classifiers</a:t>
            </a:r>
            <a:endParaRPr lang="en-US" sz="1500" dirty="0"/>
          </a:p>
        </p:txBody>
      </p:sp>
      <p:sp>
        <p:nvSpPr>
          <p:cNvPr id="12" name="Text 10"/>
          <p:cNvSpPr/>
          <p:nvPr/>
        </p:nvSpPr>
        <p:spPr>
          <a:xfrm>
            <a:off x="4663440" y="2286000"/>
            <a:ext cx="2971800" cy="685800"/>
          </a:xfrm>
          <a:prstGeom prst="rect">
            <a:avLst/>
          </a:prstGeom>
          <a:noFill/>
          <a:ln/>
        </p:spPr>
        <p:txBody>
          <a:bodyPr wrap="square" rtlCol="0" anchor="t"/>
          <a:lstStyle/>
          <a:p>
            <a:pPr marL="0" indent="0">
              <a:buNone/>
            </a:pPr>
            <a:r>
              <a:rPr lang="en-US" sz="1150" dirty="0">
                <a:solidFill>
                  <a:srgbClr val="3A3A38"/>
                </a:solidFill>
                <a:latin typeface="Calibri" pitchFamily="34" charset="0"/>
                <a:ea typeface="Calibri" pitchFamily="34" charset="-122"/>
                <a:cs typeface="Calibri" pitchFamily="34" charset="-120"/>
              </a:rPr>
              <a:t>Standard CNNs trained for waste image classification.</a:t>
            </a:r>
            <a:endParaRPr lang="en-US" sz="1150" dirty="0"/>
          </a:p>
        </p:txBody>
      </p:sp>
      <p:sp>
        <p:nvSpPr>
          <p:cNvPr id="13" name="Text 11"/>
          <p:cNvSpPr/>
          <p:nvPr/>
        </p:nvSpPr>
        <p:spPr>
          <a:xfrm>
            <a:off x="4663440" y="3063240"/>
            <a:ext cx="2971800" cy="274320"/>
          </a:xfrm>
          <a:prstGeom prst="rect">
            <a:avLst/>
          </a:prstGeom>
          <a:noFill/>
          <a:ln/>
        </p:spPr>
        <p:txBody>
          <a:bodyPr wrap="square" rtlCol="0" anchor="ctr"/>
          <a:lstStyle/>
          <a:p>
            <a:pPr marL="0" indent="0">
              <a:buNone/>
            </a:pPr>
            <a:r>
              <a:rPr lang="en-US" sz="1100" b="1" dirty="0">
                <a:solidFill>
                  <a:srgbClr val="2D6A4F"/>
                </a:solidFill>
                <a:latin typeface="Calibri" pitchFamily="34" charset="0"/>
                <a:ea typeface="Calibri" pitchFamily="34" charset="-122"/>
                <a:cs typeface="Calibri" pitchFamily="34" charset="-120"/>
              </a:rPr>
              <a:t>Strengths</a:t>
            </a:r>
            <a:endParaRPr lang="en-US" sz="1100" dirty="0"/>
          </a:p>
        </p:txBody>
      </p:sp>
      <p:sp>
        <p:nvSpPr>
          <p:cNvPr id="14" name="Text 12"/>
          <p:cNvSpPr/>
          <p:nvPr/>
        </p:nvSpPr>
        <p:spPr>
          <a:xfrm>
            <a:off x="4663440" y="3337560"/>
            <a:ext cx="2971800" cy="502920"/>
          </a:xfrm>
          <a:prstGeom prst="rect">
            <a:avLst/>
          </a:prstGeom>
          <a:noFill/>
          <a:ln/>
        </p:spPr>
        <p:txBody>
          <a:bodyPr wrap="square" rtlCol="0" anchor="t"/>
          <a:lstStyle/>
          <a:p>
            <a:pPr marL="0" indent="0">
              <a:buNone/>
            </a:pPr>
            <a:r>
              <a:rPr lang="en-US" sz="1100" dirty="0">
                <a:solidFill>
                  <a:srgbClr val="3A3A38"/>
                </a:solidFill>
                <a:latin typeface="Calibri" pitchFamily="34" charset="0"/>
                <a:ea typeface="Calibri" pitchFamily="34" charset="-122"/>
                <a:cs typeface="Calibri" pitchFamily="34" charset="-120"/>
              </a:rPr>
              <a:t>Automated, reasonably accurate</a:t>
            </a:r>
            <a:endParaRPr lang="en-US" sz="1100" dirty="0"/>
          </a:p>
        </p:txBody>
      </p:sp>
      <p:sp>
        <p:nvSpPr>
          <p:cNvPr id="15" name="Text 13"/>
          <p:cNvSpPr/>
          <p:nvPr/>
        </p:nvSpPr>
        <p:spPr>
          <a:xfrm>
            <a:off x="4663440" y="3931920"/>
            <a:ext cx="2971800" cy="274320"/>
          </a:xfrm>
          <a:prstGeom prst="rect">
            <a:avLst/>
          </a:prstGeom>
          <a:noFill/>
          <a:ln/>
        </p:spPr>
        <p:txBody>
          <a:bodyPr wrap="square" rtlCol="0" anchor="ctr"/>
          <a:lstStyle/>
          <a:p>
            <a:pPr marL="0" indent="0">
              <a:buNone/>
            </a:pPr>
            <a:r>
              <a:rPr lang="en-US" sz="1100" b="1" dirty="0">
                <a:solidFill>
                  <a:srgbClr val="9E2A2B"/>
                </a:solidFill>
                <a:latin typeface="Calibri" pitchFamily="34" charset="0"/>
                <a:ea typeface="Calibri" pitchFamily="34" charset="-122"/>
                <a:cs typeface="Calibri" pitchFamily="34" charset="-120"/>
              </a:rPr>
              <a:t>Limitations</a:t>
            </a:r>
            <a:endParaRPr lang="en-US" sz="1100" dirty="0"/>
          </a:p>
        </p:txBody>
      </p:sp>
      <p:sp>
        <p:nvSpPr>
          <p:cNvPr id="16" name="Text 14"/>
          <p:cNvSpPr/>
          <p:nvPr/>
        </p:nvSpPr>
        <p:spPr>
          <a:xfrm>
            <a:off x="4663440" y="4206240"/>
            <a:ext cx="2971800" cy="548640"/>
          </a:xfrm>
          <a:prstGeom prst="rect">
            <a:avLst/>
          </a:prstGeom>
          <a:noFill/>
          <a:ln/>
        </p:spPr>
        <p:txBody>
          <a:bodyPr wrap="square" rtlCol="0" anchor="t"/>
          <a:lstStyle/>
          <a:p>
            <a:pPr marL="0" indent="0">
              <a:buNone/>
            </a:pPr>
            <a:r>
              <a:rPr lang="en-US" sz="1100" dirty="0">
                <a:solidFill>
                  <a:srgbClr val="3A3A38"/>
                </a:solidFill>
                <a:latin typeface="Calibri" pitchFamily="34" charset="0"/>
                <a:ea typeface="Calibri" pitchFamily="34" charset="-122"/>
                <a:cs typeface="Calibri" pitchFamily="34" charset="-120"/>
              </a:rPr>
              <a:t>No explainability, heavy on resources</a:t>
            </a:r>
            <a:endParaRPr lang="en-US" sz="1100" dirty="0"/>
          </a:p>
        </p:txBody>
      </p:sp>
      <p:sp>
        <p:nvSpPr>
          <p:cNvPr id="17" name="Shape 15"/>
          <p:cNvSpPr/>
          <p:nvPr/>
        </p:nvSpPr>
        <p:spPr>
          <a:xfrm>
            <a:off x="8229600" y="1554480"/>
            <a:ext cx="3520440" cy="4206240"/>
          </a:xfrm>
          <a:prstGeom prst="roundRect">
            <a:avLst>
              <a:gd name="adj" fmla="val 2078"/>
            </a:avLst>
          </a:prstGeom>
          <a:solidFill>
            <a:srgbClr val="1B4332"/>
          </a:solidFill>
          <a:ln w="25400">
            <a:solidFill>
              <a:srgbClr val="E76F51"/>
            </a:solidFill>
            <a:prstDash val="solid"/>
          </a:ln>
        </p:spPr>
      </p:sp>
      <p:sp>
        <p:nvSpPr>
          <p:cNvPr id="18" name="Text 16"/>
          <p:cNvSpPr/>
          <p:nvPr/>
        </p:nvSpPr>
        <p:spPr>
          <a:xfrm>
            <a:off x="8503920" y="1783080"/>
            <a:ext cx="2971800" cy="457200"/>
          </a:xfrm>
          <a:prstGeom prst="rect">
            <a:avLst/>
          </a:prstGeom>
          <a:noFill/>
          <a:ln/>
        </p:spPr>
        <p:txBody>
          <a:bodyPr wrap="square" rtlCol="0" anchor="ctr"/>
          <a:lstStyle/>
          <a:p>
            <a:pPr marL="0" indent="0">
              <a:buNone/>
            </a:pPr>
            <a:r>
              <a:rPr lang="en-US" sz="1500" b="1" dirty="0">
                <a:solidFill>
                  <a:srgbClr val="95D5B2"/>
                </a:solidFill>
                <a:latin typeface="Cambria" pitchFamily="34" charset="0"/>
                <a:ea typeface="Cambria" pitchFamily="34" charset="-122"/>
                <a:cs typeface="Cambria" pitchFamily="34" charset="-120"/>
              </a:rPr>
              <a:t>EcoSort AI (Ours)</a:t>
            </a:r>
            <a:endParaRPr lang="en-US" sz="1500" dirty="0"/>
          </a:p>
        </p:txBody>
      </p:sp>
      <p:sp>
        <p:nvSpPr>
          <p:cNvPr id="19" name="Text 17"/>
          <p:cNvSpPr/>
          <p:nvPr/>
        </p:nvSpPr>
        <p:spPr>
          <a:xfrm>
            <a:off x="8503920" y="2286000"/>
            <a:ext cx="2971800" cy="685800"/>
          </a:xfrm>
          <a:prstGeom prst="rect">
            <a:avLst/>
          </a:prstGeom>
          <a:noFill/>
          <a:ln/>
        </p:spPr>
        <p:txBody>
          <a:bodyPr wrap="square" rtlCol="0" anchor="t"/>
          <a:lstStyle/>
          <a:p>
            <a:pPr marL="0" indent="0">
              <a:buNone/>
            </a:pPr>
            <a:r>
              <a:rPr lang="en-US" sz="1150" dirty="0">
                <a:solidFill>
                  <a:srgbClr val="E8F3ED"/>
                </a:solidFill>
                <a:latin typeface="Calibri" pitchFamily="34" charset="0"/>
                <a:ea typeface="Calibri" pitchFamily="34" charset="-122"/>
                <a:cs typeface="Calibri" pitchFamily="34" charset="-120"/>
              </a:rPr>
              <a:t>MobileNetV2 + Grad-CAM + hybrid cloud engine.</a:t>
            </a:r>
            <a:endParaRPr lang="en-US" sz="1150" dirty="0"/>
          </a:p>
        </p:txBody>
      </p:sp>
      <p:sp>
        <p:nvSpPr>
          <p:cNvPr id="20" name="Text 18"/>
          <p:cNvSpPr/>
          <p:nvPr/>
        </p:nvSpPr>
        <p:spPr>
          <a:xfrm>
            <a:off x="8503920" y="3063240"/>
            <a:ext cx="2971800" cy="274320"/>
          </a:xfrm>
          <a:prstGeom prst="rect">
            <a:avLst/>
          </a:prstGeom>
          <a:noFill/>
          <a:ln/>
        </p:spPr>
        <p:txBody>
          <a:bodyPr wrap="square" rtlCol="0" anchor="ctr"/>
          <a:lstStyle/>
          <a:p>
            <a:pPr marL="0" indent="0">
              <a:buNone/>
            </a:pPr>
            <a:r>
              <a:rPr lang="en-US" sz="1100" b="1" dirty="0">
                <a:solidFill>
                  <a:srgbClr val="95D5B2"/>
                </a:solidFill>
                <a:latin typeface="Calibri" pitchFamily="34" charset="0"/>
                <a:ea typeface="Calibri" pitchFamily="34" charset="-122"/>
                <a:cs typeface="Calibri" pitchFamily="34" charset="-120"/>
              </a:rPr>
              <a:t>Strengths</a:t>
            </a:r>
            <a:endParaRPr lang="en-US" sz="1100" dirty="0"/>
          </a:p>
        </p:txBody>
      </p:sp>
      <p:sp>
        <p:nvSpPr>
          <p:cNvPr id="21" name="Text 19"/>
          <p:cNvSpPr/>
          <p:nvPr/>
        </p:nvSpPr>
        <p:spPr>
          <a:xfrm>
            <a:off x="8503920" y="3337560"/>
            <a:ext cx="2971800" cy="502920"/>
          </a:xfrm>
          <a:prstGeom prst="rect">
            <a:avLst/>
          </a:prstGeom>
          <a:noFill/>
          <a:ln/>
        </p:spPr>
        <p:txBody>
          <a:bodyPr wrap="square" rtlCol="0" anchor="t"/>
          <a:lstStyle/>
          <a:p>
            <a:pPr marL="0" indent="0">
              <a:buNone/>
            </a:pPr>
            <a:r>
              <a:rPr lang="en-US" sz="1100" dirty="0">
                <a:solidFill>
                  <a:srgbClr val="E8F3ED"/>
                </a:solidFill>
                <a:latin typeface="Calibri" pitchFamily="34" charset="0"/>
                <a:ea typeface="Calibri" pitchFamily="34" charset="-122"/>
                <a:cs typeface="Calibri" pitchFamily="34" charset="-120"/>
              </a:rPr>
              <a:t>Automated, explainable, lightweight</a:t>
            </a:r>
            <a:endParaRPr lang="en-US" sz="1100" dirty="0"/>
          </a:p>
        </p:txBody>
      </p:sp>
      <p:sp>
        <p:nvSpPr>
          <p:cNvPr id="22" name="Text 20"/>
          <p:cNvSpPr/>
          <p:nvPr/>
        </p:nvSpPr>
        <p:spPr>
          <a:xfrm>
            <a:off x="8503920" y="3931920"/>
            <a:ext cx="2971800" cy="274320"/>
          </a:xfrm>
          <a:prstGeom prst="rect">
            <a:avLst/>
          </a:prstGeom>
          <a:noFill/>
          <a:ln/>
        </p:spPr>
        <p:txBody>
          <a:bodyPr wrap="square" rtlCol="0" anchor="ctr"/>
          <a:lstStyle/>
          <a:p>
            <a:pPr marL="0" indent="0">
              <a:buNone/>
            </a:pPr>
            <a:r>
              <a:rPr lang="en-US" sz="1100" b="1" dirty="0">
                <a:solidFill>
                  <a:srgbClr val="E76F51"/>
                </a:solidFill>
                <a:latin typeface="Calibri" pitchFamily="34" charset="0"/>
                <a:ea typeface="Calibri" pitchFamily="34" charset="-122"/>
                <a:cs typeface="Calibri" pitchFamily="34" charset="-120"/>
              </a:rPr>
              <a:t>Limitations</a:t>
            </a:r>
            <a:endParaRPr lang="en-US" sz="1100" dirty="0"/>
          </a:p>
        </p:txBody>
      </p:sp>
      <p:sp>
        <p:nvSpPr>
          <p:cNvPr id="23" name="Text 21"/>
          <p:cNvSpPr/>
          <p:nvPr/>
        </p:nvSpPr>
        <p:spPr>
          <a:xfrm>
            <a:off x="8503920" y="4206240"/>
            <a:ext cx="2971800" cy="548640"/>
          </a:xfrm>
          <a:prstGeom prst="rect">
            <a:avLst/>
          </a:prstGeom>
          <a:noFill/>
          <a:ln/>
        </p:spPr>
        <p:txBody>
          <a:bodyPr wrap="square" rtlCol="0" anchor="t"/>
          <a:lstStyle/>
          <a:p>
            <a:pPr marL="0" indent="0">
              <a:buNone/>
            </a:pPr>
            <a:r>
              <a:rPr lang="en-US" sz="1100" dirty="0">
                <a:solidFill>
                  <a:srgbClr val="E8F3ED"/>
                </a:solidFill>
                <a:latin typeface="Calibri" pitchFamily="34" charset="0"/>
                <a:ea typeface="Calibri" pitchFamily="34" charset="-122"/>
                <a:cs typeface="Calibri" pitchFamily="34" charset="-120"/>
              </a:rPr>
              <a:t>Requires initial training data</a:t>
            </a:r>
            <a:endParaRPr lang="en-US" sz="1100" dirty="0"/>
          </a:p>
        </p:txBody>
      </p:sp>
      <p:sp>
        <p:nvSpPr>
          <p:cNvPr id="24" name="Shape 22"/>
          <p:cNvSpPr/>
          <p:nvPr/>
        </p:nvSpPr>
        <p:spPr>
          <a:xfrm>
            <a:off x="8503920" y="5166360"/>
            <a:ext cx="2971800" cy="365760"/>
          </a:xfrm>
          <a:prstGeom prst="roundRect">
            <a:avLst>
              <a:gd name="adj" fmla="val 15000"/>
            </a:avLst>
          </a:prstGeom>
          <a:solidFill>
            <a:srgbClr val="E76F51"/>
          </a:solidFill>
          <a:ln/>
        </p:spPr>
      </p:sp>
      <p:sp>
        <p:nvSpPr>
          <p:cNvPr id="25" name="Text 23"/>
          <p:cNvSpPr/>
          <p:nvPr/>
        </p:nvSpPr>
        <p:spPr>
          <a:xfrm>
            <a:off x="8503920" y="5166360"/>
            <a:ext cx="297180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Our approach</a:t>
            </a:r>
            <a:endParaRPr lang="en-US" sz="1050" dirty="0"/>
          </a:p>
        </p:txBody>
      </p:sp>
      <p:sp>
        <p:nvSpPr>
          <p:cNvPr id="26" name="Text 24"/>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27" name="Text 25"/>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Dataset &amp; Preprocessing</a:t>
            </a:r>
            <a:endParaRPr lang="en-US" sz="3000" dirty="0"/>
          </a:p>
        </p:txBody>
      </p:sp>
      <p:sp>
        <p:nvSpPr>
          <p:cNvPr id="3" name="Text 1"/>
          <p:cNvSpPr/>
          <p:nvPr/>
        </p:nvSpPr>
        <p:spPr>
          <a:xfrm>
            <a:off x="548640" y="1463040"/>
            <a:ext cx="5120640" cy="36576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Source Datasets</a:t>
            </a:r>
            <a:endParaRPr lang="en-US" sz="1600" dirty="0"/>
          </a:p>
        </p:txBody>
      </p:sp>
      <p:sp>
        <p:nvSpPr>
          <p:cNvPr id="4" name="Text 2"/>
          <p:cNvSpPr/>
          <p:nvPr/>
        </p:nvSpPr>
        <p:spPr>
          <a:xfrm>
            <a:off x="548640" y="1874520"/>
            <a:ext cx="5120640" cy="685800"/>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TrashNet and the Kaggle Garbage Classification dataset, combined and re-labeled into 10 unified categories.</a:t>
            </a:r>
            <a:endParaRPr lang="en-US" sz="1250" dirty="0"/>
          </a:p>
        </p:txBody>
      </p:sp>
      <p:sp>
        <p:nvSpPr>
          <p:cNvPr id="5" name="Text 3"/>
          <p:cNvSpPr/>
          <p:nvPr/>
        </p:nvSpPr>
        <p:spPr>
          <a:xfrm>
            <a:off x="548640" y="2697480"/>
            <a:ext cx="5120640" cy="36576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Preprocessing Pipeline</a:t>
            </a:r>
            <a:endParaRPr lang="en-US" sz="1600" dirty="0"/>
          </a:p>
        </p:txBody>
      </p:sp>
      <p:sp>
        <p:nvSpPr>
          <p:cNvPr id="6" name="Shape 4"/>
          <p:cNvSpPr/>
          <p:nvPr/>
        </p:nvSpPr>
        <p:spPr>
          <a:xfrm>
            <a:off x="594360" y="3218688"/>
            <a:ext cx="82296" cy="82296"/>
          </a:xfrm>
          <a:prstGeom prst="ellipse">
            <a:avLst/>
          </a:prstGeom>
          <a:solidFill>
            <a:srgbClr val="E76F51"/>
          </a:solidFill>
          <a:ln/>
        </p:spPr>
      </p:sp>
      <p:sp>
        <p:nvSpPr>
          <p:cNvPr id="7" name="Text 5"/>
          <p:cNvSpPr/>
          <p:nvPr/>
        </p:nvSpPr>
        <p:spPr>
          <a:xfrm>
            <a:off x="822960" y="3108960"/>
            <a:ext cx="4846320" cy="365760"/>
          </a:xfrm>
          <a:prstGeom prst="rect">
            <a:avLst/>
          </a:prstGeom>
          <a:noFill/>
          <a:ln/>
        </p:spPr>
        <p:txBody>
          <a:bodyPr wrap="square" rtlCol="0" anchor="ctr"/>
          <a:lstStyle/>
          <a:p>
            <a:pPr marL="0" indent="0">
              <a:buNone/>
            </a:pPr>
            <a:r>
              <a:rPr lang="en-US" sz="1200" dirty="0">
                <a:solidFill>
                  <a:srgbClr val="3A3A38"/>
                </a:solidFill>
                <a:latin typeface="Calibri" pitchFamily="34" charset="0"/>
                <a:ea typeface="Calibri" pitchFamily="34" charset="-122"/>
                <a:cs typeface="Calibri" pitchFamily="34" charset="-120"/>
              </a:rPr>
              <a:t>Resize to 224×224 (MobileNetV2 input)</a:t>
            </a:r>
            <a:endParaRPr lang="en-US" sz="1200" dirty="0"/>
          </a:p>
        </p:txBody>
      </p:sp>
      <p:sp>
        <p:nvSpPr>
          <p:cNvPr id="8" name="Shape 6"/>
          <p:cNvSpPr/>
          <p:nvPr/>
        </p:nvSpPr>
        <p:spPr>
          <a:xfrm>
            <a:off x="594360" y="3621024"/>
            <a:ext cx="82296" cy="82296"/>
          </a:xfrm>
          <a:prstGeom prst="ellipse">
            <a:avLst/>
          </a:prstGeom>
          <a:solidFill>
            <a:srgbClr val="E76F51"/>
          </a:solidFill>
          <a:ln/>
        </p:spPr>
      </p:sp>
      <p:sp>
        <p:nvSpPr>
          <p:cNvPr id="9" name="Text 7"/>
          <p:cNvSpPr/>
          <p:nvPr/>
        </p:nvSpPr>
        <p:spPr>
          <a:xfrm>
            <a:off x="822960" y="3511296"/>
            <a:ext cx="4846320" cy="365760"/>
          </a:xfrm>
          <a:prstGeom prst="rect">
            <a:avLst/>
          </a:prstGeom>
          <a:noFill/>
          <a:ln/>
        </p:spPr>
        <p:txBody>
          <a:bodyPr wrap="square" rtlCol="0" anchor="ctr"/>
          <a:lstStyle/>
          <a:p>
            <a:pPr marL="0" indent="0">
              <a:buNone/>
            </a:pPr>
            <a:r>
              <a:rPr lang="en-US" sz="1200" dirty="0">
                <a:solidFill>
                  <a:srgbClr val="3A3A38"/>
                </a:solidFill>
                <a:latin typeface="Calibri" pitchFamily="34" charset="0"/>
                <a:ea typeface="Calibri" pitchFamily="34" charset="-122"/>
                <a:cs typeface="Calibri" pitchFamily="34" charset="-120"/>
              </a:rPr>
              <a:t>Normalize using ImageNet mean/std</a:t>
            </a:r>
            <a:endParaRPr lang="en-US" sz="1200" dirty="0"/>
          </a:p>
        </p:txBody>
      </p:sp>
      <p:sp>
        <p:nvSpPr>
          <p:cNvPr id="10" name="Shape 8"/>
          <p:cNvSpPr/>
          <p:nvPr/>
        </p:nvSpPr>
        <p:spPr>
          <a:xfrm>
            <a:off x="594360" y="4023360"/>
            <a:ext cx="82296" cy="82296"/>
          </a:xfrm>
          <a:prstGeom prst="ellipse">
            <a:avLst/>
          </a:prstGeom>
          <a:solidFill>
            <a:srgbClr val="E76F51"/>
          </a:solidFill>
          <a:ln/>
        </p:spPr>
      </p:sp>
      <p:sp>
        <p:nvSpPr>
          <p:cNvPr id="11" name="Text 9"/>
          <p:cNvSpPr/>
          <p:nvPr/>
        </p:nvSpPr>
        <p:spPr>
          <a:xfrm>
            <a:off x="822960" y="3913632"/>
            <a:ext cx="4846320" cy="365760"/>
          </a:xfrm>
          <a:prstGeom prst="rect">
            <a:avLst/>
          </a:prstGeom>
          <a:noFill/>
          <a:ln/>
        </p:spPr>
        <p:txBody>
          <a:bodyPr wrap="square" rtlCol="0" anchor="ctr"/>
          <a:lstStyle/>
          <a:p>
            <a:pPr marL="0" indent="0">
              <a:buNone/>
            </a:pPr>
            <a:r>
              <a:rPr lang="en-US" sz="1200" dirty="0">
                <a:solidFill>
                  <a:srgbClr val="3A3A38"/>
                </a:solidFill>
                <a:latin typeface="Calibri" pitchFamily="34" charset="0"/>
                <a:ea typeface="Calibri" pitchFamily="34" charset="-122"/>
                <a:cs typeface="Calibri" pitchFamily="34" charset="-120"/>
              </a:rPr>
              <a:t>Augment: rotation, flip, zoom, brightness shift</a:t>
            </a:r>
            <a:endParaRPr lang="en-US" sz="1200" dirty="0"/>
          </a:p>
        </p:txBody>
      </p:sp>
      <p:sp>
        <p:nvSpPr>
          <p:cNvPr id="12" name="Shape 10"/>
          <p:cNvSpPr/>
          <p:nvPr/>
        </p:nvSpPr>
        <p:spPr>
          <a:xfrm>
            <a:off x="594360" y="4425696"/>
            <a:ext cx="82296" cy="82296"/>
          </a:xfrm>
          <a:prstGeom prst="ellipse">
            <a:avLst/>
          </a:prstGeom>
          <a:solidFill>
            <a:srgbClr val="E76F51"/>
          </a:solidFill>
          <a:ln/>
        </p:spPr>
      </p:sp>
      <p:sp>
        <p:nvSpPr>
          <p:cNvPr id="13" name="Text 11"/>
          <p:cNvSpPr/>
          <p:nvPr/>
        </p:nvSpPr>
        <p:spPr>
          <a:xfrm>
            <a:off x="822960" y="4315968"/>
            <a:ext cx="4846320" cy="365760"/>
          </a:xfrm>
          <a:prstGeom prst="rect">
            <a:avLst/>
          </a:prstGeom>
          <a:noFill/>
          <a:ln/>
        </p:spPr>
        <p:txBody>
          <a:bodyPr wrap="square" rtlCol="0" anchor="ctr"/>
          <a:lstStyle/>
          <a:p>
            <a:pPr marL="0" indent="0">
              <a:buNone/>
            </a:pPr>
            <a:r>
              <a:rPr lang="en-US" sz="1200" dirty="0">
                <a:solidFill>
                  <a:srgbClr val="3A3A38"/>
                </a:solidFill>
                <a:latin typeface="Calibri" pitchFamily="34" charset="0"/>
                <a:ea typeface="Calibri" pitchFamily="34" charset="-122"/>
                <a:cs typeface="Calibri" pitchFamily="34" charset="-120"/>
              </a:rPr>
              <a:t>Stratified 70/15/15 train/val/test split</a:t>
            </a:r>
            <a:endParaRPr lang="en-US" sz="1200" dirty="0"/>
          </a:p>
        </p:txBody>
      </p:sp>
      <p:sp>
        <p:nvSpPr>
          <p:cNvPr id="14" name="Shape 12"/>
          <p:cNvSpPr/>
          <p:nvPr/>
        </p:nvSpPr>
        <p:spPr>
          <a:xfrm>
            <a:off x="6126480" y="1463040"/>
            <a:ext cx="1783080" cy="1371600"/>
          </a:xfrm>
          <a:prstGeom prst="roundRect">
            <a:avLst>
              <a:gd name="adj" fmla="val 5333"/>
            </a:avLst>
          </a:prstGeom>
          <a:solidFill>
            <a:srgbClr val="1B4332"/>
          </a:solidFill>
          <a:ln/>
        </p:spPr>
      </p:sp>
      <p:sp>
        <p:nvSpPr>
          <p:cNvPr id="15" name="Text 13"/>
          <p:cNvSpPr/>
          <p:nvPr/>
        </p:nvSpPr>
        <p:spPr>
          <a:xfrm>
            <a:off x="6126480" y="1600200"/>
            <a:ext cx="1783080" cy="594360"/>
          </a:xfrm>
          <a:prstGeom prst="rect">
            <a:avLst/>
          </a:prstGeom>
          <a:noFill/>
          <a:ln/>
        </p:spPr>
        <p:txBody>
          <a:bodyPr wrap="square" rtlCol="0" anchor="ctr"/>
          <a:lstStyle/>
          <a:p>
            <a:pPr marL="0" indent="0" algn="ctr">
              <a:buNone/>
            </a:pPr>
            <a:r>
              <a:rPr lang="en-US" sz="2000" b="1" dirty="0">
                <a:solidFill>
                  <a:srgbClr val="95D5B2"/>
                </a:solidFill>
                <a:latin typeface="Cambria" pitchFamily="34" charset="0"/>
                <a:ea typeface="Cambria" pitchFamily="34" charset="-122"/>
                <a:cs typeface="Cambria" pitchFamily="34" charset="-120"/>
              </a:rPr>
              <a:t>10</a:t>
            </a:r>
            <a:endParaRPr lang="en-US" sz="2000" dirty="0"/>
          </a:p>
        </p:txBody>
      </p:sp>
      <p:sp>
        <p:nvSpPr>
          <p:cNvPr id="16" name="Text 14"/>
          <p:cNvSpPr/>
          <p:nvPr/>
        </p:nvSpPr>
        <p:spPr>
          <a:xfrm>
            <a:off x="6126480" y="2194560"/>
            <a:ext cx="1783080" cy="548640"/>
          </a:xfrm>
          <a:prstGeom prst="rect">
            <a:avLst/>
          </a:prstGeom>
          <a:noFill/>
          <a:ln/>
        </p:spPr>
        <p:txBody>
          <a:bodyPr wrap="square" rtlCol="0" anchor="ctr"/>
          <a:lstStyle/>
          <a:p>
            <a:pPr marL="0" indent="0" algn="ctr">
              <a:buNone/>
            </a:pPr>
            <a:r>
              <a:rPr lang="en-US" sz="950" dirty="0">
                <a:solidFill>
                  <a:srgbClr val="E8F3ED"/>
                </a:solidFill>
                <a:latin typeface="Calibri" pitchFamily="34" charset="0"/>
                <a:ea typeface="Calibri" pitchFamily="34" charset="-122"/>
                <a:cs typeface="Calibri" pitchFamily="34" charset="-120"/>
              </a:rPr>
              <a:t>Waste categories</a:t>
            </a:r>
            <a:endParaRPr lang="en-US" sz="950" dirty="0"/>
          </a:p>
        </p:txBody>
      </p:sp>
      <p:sp>
        <p:nvSpPr>
          <p:cNvPr id="17" name="Shape 15"/>
          <p:cNvSpPr/>
          <p:nvPr/>
        </p:nvSpPr>
        <p:spPr>
          <a:xfrm>
            <a:off x="8046720" y="1463040"/>
            <a:ext cx="1783080" cy="1371600"/>
          </a:xfrm>
          <a:prstGeom prst="roundRect">
            <a:avLst>
              <a:gd name="adj" fmla="val 5333"/>
            </a:avLst>
          </a:prstGeom>
          <a:solidFill>
            <a:srgbClr val="1B4332"/>
          </a:solidFill>
          <a:ln/>
        </p:spPr>
      </p:sp>
      <p:sp>
        <p:nvSpPr>
          <p:cNvPr id="18" name="Text 16"/>
          <p:cNvSpPr/>
          <p:nvPr/>
        </p:nvSpPr>
        <p:spPr>
          <a:xfrm>
            <a:off x="8046720" y="1600200"/>
            <a:ext cx="1783080" cy="594360"/>
          </a:xfrm>
          <a:prstGeom prst="rect">
            <a:avLst/>
          </a:prstGeom>
          <a:noFill/>
          <a:ln/>
        </p:spPr>
        <p:txBody>
          <a:bodyPr wrap="square" rtlCol="0" anchor="ctr"/>
          <a:lstStyle/>
          <a:p>
            <a:pPr marL="0" indent="0" algn="ctr">
              <a:buNone/>
            </a:pPr>
            <a:r>
              <a:rPr lang="en-US" sz="2000" b="1" dirty="0">
                <a:solidFill>
                  <a:srgbClr val="95D5B2"/>
                </a:solidFill>
                <a:latin typeface="Cambria" pitchFamily="34" charset="0"/>
                <a:ea typeface="Cambria" pitchFamily="34" charset="-122"/>
                <a:cs typeface="Cambria" pitchFamily="34" charset="-120"/>
              </a:rPr>
              <a:t>~17K</a:t>
            </a:r>
            <a:endParaRPr lang="en-US" sz="2000" dirty="0"/>
          </a:p>
        </p:txBody>
      </p:sp>
      <p:sp>
        <p:nvSpPr>
          <p:cNvPr id="19" name="Text 17"/>
          <p:cNvSpPr/>
          <p:nvPr/>
        </p:nvSpPr>
        <p:spPr>
          <a:xfrm>
            <a:off x="8046720" y="2194560"/>
            <a:ext cx="1783080" cy="548640"/>
          </a:xfrm>
          <a:prstGeom prst="rect">
            <a:avLst/>
          </a:prstGeom>
          <a:noFill/>
          <a:ln/>
        </p:spPr>
        <p:txBody>
          <a:bodyPr wrap="square" rtlCol="0" anchor="ctr"/>
          <a:lstStyle/>
          <a:p>
            <a:pPr marL="0" indent="0" algn="ctr">
              <a:buNone/>
            </a:pPr>
            <a:r>
              <a:rPr lang="en-US" sz="950" dirty="0">
                <a:solidFill>
                  <a:srgbClr val="E8F3ED"/>
                </a:solidFill>
                <a:latin typeface="Calibri" pitchFamily="34" charset="0"/>
                <a:ea typeface="Calibri" pitchFamily="34" charset="-122"/>
                <a:cs typeface="Calibri" pitchFamily="34" charset="-120"/>
              </a:rPr>
              <a:t>Total images</a:t>
            </a:r>
            <a:endParaRPr lang="en-US" sz="950" dirty="0"/>
          </a:p>
        </p:txBody>
      </p:sp>
      <p:sp>
        <p:nvSpPr>
          <p:cNvPr id="20" name="Shape 18"/>
          <p:cNvSpPr/>
          <p:nvPr/>
        </p:nvSpPr>
        <p:spPr>
          <a:xfrm>
            <a:off x="9966960" y="1463040"/>
            <a:ext cx="1783080" cy="1371600"/>
          </a:xfrm>
          <a:prstGeom prst="roundRect">
            <a:avLst>
              <a:gd name="adj" fmla="val 5333"/>
            </a:avLst>
          </a:prstGeom>
          <a:solidFill>
            <a:srgbClr val="1B4332"/>
          </a:solidFill>
          <a:ln/>
        </p:spPr>
      </p:sp>
      <p:sp>
        <p:nvSpPr>
          <p:cNvPr id="21" name="Text 19"/>
          <p:cNvSpPr/>
          <p:nvPr/>
        </p:nvSpPr>
        <p:spPr>
          <a:xfrm>
            <a:off x="9966960" y="1600200"/>
            <a:ext cx="1783080" cy="594360"/>
          </a:xfrm>
          <a:prstGeom prst="rect">
            <a:avLst/>
          </a:prstGeom>
          <a:noFill/>
          <a:ln/>
        </p:spPr>
        <p:txBody>
          <a:bodyPr wrap="square" rtlCol="0" anchor="ctr"/>
          <a:lstStyle/>
          <a:p>
            <a:pPr marL="0" indent="0" algn="ctr">
              <a:buNone/>
            </a:pPr>
            <a:r>
              <a:rPr lang="en-US" sz="2000" b="1" dirty="0">
                <a:solidFill>
                  <a:srgbClr val="95D5B2"/>
                </a:solidFill>
                <a:latin typeface="Cambria" pitchFamily="34" charset="0"/>
                <a:ea typeface="Cambria" pitchFamily="34" charset="-122"/>
                <a:cs typeface="Cambria" pitchFamily="34" charset="-120"/>
              </a:rPr>
              <a:t>70/15/15</a:t>
            </a:r>
            <a:endParaRPr lang="en-US" sz="2000" dirty="0"/>
          </a:p>
        </p:txBody>
      </p:sp>
      <p:sp>
        <p:nvSpPr>
          <p:cNvPr id="22" name="Text 20"/>
          <p:cNvSpPr/>
          <p:nvPr/>
        </p:nvSpPr>
        <p:spPr>
          <a:xfrm>
            <a:off x="9966960" y="2194560"/>
            <a:ext cx="1783080" cy="548640"/>
          </a:xfrm>
          <a:prstGeom prst="rect">
            <a:avLst/>
          </a:prstGeom>
          <a:noFill/>
          <a:ln/>
        </p:spPr>
        <p:txBody>
          <a:bodyPr wrap="square" rtlCol="0" anchor="ctr"/>
          <a:lstStyle/>
          <a:p>
            <a:pPr marL="0" indent="0" algn="ctr">
              <a:buNone/>
            </a:pPr>
            <a:r>
              <a:rPr lang="en-US" sz="950" dirty="0">
                <a:solidFill>
                  <a:srgbClr val="E8F3ED"/>
                </a:solidFill>
                <a:latin typeface="Calibri" pitchFamily="34" charset="0"/>
                <a:ea typeface="Calibri" pitchFamily="34" charset="-122"/>
                <a:cs typeface="Calibri" pitchFamily="34" charset="-120"/>
              </a:rPr>
              <a:t>Train/Val/Test split</a:t>
            </a:r>
            <a:endParaRPr lang="en-US" sz="950" dirty="0"/>
          </a:p>
        </p:txBody>
      </p:sp>
      <p:sp>
        <p:nvSpPr>
          <p:cNvPr id="23" name="Shape 21"/>
          <p:cNvSpPr/>
          <p:nvPr/>
        </p:nvSpPr>
        <p:spPr>
          <a:xfrm>
            <a:off x="6126480" y="3017520"/>
            <a:ext cx="5349240" cy="2834640"/>
          </a:xfrm>
          <a:prstGeom prst="roundRect">
            <a:avLst>
              <a:gd name="adj" fmla="val 2581"/>
            </a:avLst>
          </a:prstGeom>
          <a:solidFill>
            <a:srgbClr val="F3F8F5"/>
          </a:solidFill>
          <a:ln/>
        </p:spPr>
      </p:sp>
      <p:sp>
        <p:nvSpPr>
          <p:cNvPr id="24" name="Text 22"/>
          <p:cNvSpPr/>
          <p:nvPr/>
        </p:nvSpPr>
        <p:spPr>
          <a:xfrm>
            <a:off x="6355080" y="3200400"/>
            <a:ext cx="4937760" cy="320040"/>
          </a:xfrm>
          <a:prstGeom prst="rect">
            <a:avLst/>
          </a:prstGeom>
          <a:noFill/>
          <a:ln/>
        </p:spPr>
        <p:txBody>
          <a:bodyPr wrap="square" rtlCol="0" anchor="ctr"/>
          <a:lstStyle/>
          <a:p>
            <a:pPr marL="0" indent="0">
              <a:buNone/>
            </a:pPr>
            <a:r>
              <a:rPr lang="en-US" sz="1300" b="1" dirty="0">
                <a:solidFill>
                  <a:srgbClr val="1B4332"/>
                </a:solidFill>
                <a:latin typeface="Cambria" pitchFamily="34" charset="0"/>
                <a:ea typeface="Cambria" pitchFamily="34" charset="-122"/>
                <a:cs typeface="Cambria" pitchFamily="34" charset="-120"/>
              </a:rPr>
              <a:t>Category Coverage</a:t>
            </a:r>
            <a:endParaRPr lang="en-US" sz="1300" dirty="0"/>
          </a:p>
        </p:txBody>
      </p:sp>
      <p:sp>
        <p:nvSpPr>
          <p:cNvPr id="25" name="Shape 23"/>
          <p:cNvSpPr/>
          <p:nvPr/>
        </p:nvSpPr>
        <p:spPr>
          <a:xfrm>
            <a:off x="6355080" y="3657600"/>
            <a:ext cx="1600200" cy="384048"/>
          </a:xfrm>
          <a:prstGeom prst="roundRect">
            <a:avLst>
              <a:gd name="adj" fmla="val 50000"/>
            </a:avLst>
          </a:prstGeom>
          <a:solidFill>
            <a:srgbClr val="FFFFFF"/>
          </a:solidFill>
          <a:ln w="12700">
            <a:solidFill>
              <a:srgbClr val="95D5B2"/>
            </a:solidFill>
            <a:prstDash val="solid"/>
          </a:ln>
        </p:spPr>
      </p:sp>
      <p:sp>
        <p:nvSpPr>
          <p:cNvPr id="26" name="Text 24"/>
          <p:cNvSpPr/>
          <p:nvPr/>
        </p:nvSpPr>
        <p:spPr>
          <a:xfrm>
            <a:off x="6355080" y="3657600"/>
            <a:ext cx="1600200" cy="384048"/>
          </a:xfrm>
          <a:prstGeom prst="rect">
            <a:avLst/>
          </a:prstGeom>
          <a:noFill/>
          <a:ln/>
        </p:spPr>
        <p:txBody>
          <a:bodyPr wrap="square" rtlCol="0" anchor="ctr"/>
          <a:lstStyle/>
          <a:p>
            <a:pPr marL="0" indent="0" algn="ctr">
              <a:buNone/>
            </a:pPr>
            <a:r>
              <a:rPr lang="en-US" sz="1000" dirty="0">
                <a:solidFill>
                  <a:srgbClr val="2D6A4F"/>
                </a:solidFill>
                <a:latin typeface="Calibri" pitchFamily="34" charset="0"/>
                <a:ea typeface="Calibri" pitchFamily="34" charset="-122"/>
                <a:cs typeface="Calibri" pitchFamily="34" charset="-120"/>
              </a:rPr>
              <a:t>Plastic</a:t>
            </a:r>
            <a:endParaRPr lang="en-US" sz="1000" dirty="0"/>
          </a:p>
        </p:txBody>
      </p:sp>
      <p:sp>
        <p:nvSpPr>
          <p:cNvPr id="27" name="Shape 25"/>
          <p:cNvSpPr/>
          <p:nvPr/>
        </p:nvSpPr>
        <p:spPr>
          <a:xfrm>
            <a:off x="8065008" y="3657600"/>
            <a:ext cx="1600200" cy="384048"/>
          </a:xfrm>
          <a:prstGeom prst="roundRect">
            <a:avLst>
              <a:gd name="adj" fmla="val 50000"/>
            </a:avLst>
          </a:prstGeom>
          <a:solidFill>
            <a:srgbClr val="FFFFFF"/>
          </a:solidFill>
          <a:ln w="12700">
            <a:solidFill>
              <a:srgbClr val="95D5B2"/>
            </a:solidFill>
            <a:prstDash val="solid"/>
          </a:ln>
        </p:spPr>
      </p:sp>
      <p:sp>
        <p:nvSpPr>
          <p:cNvPr id="28" name="Text 26"/>
          <p:cNvSpPr/>
          <p:nvPr/>
        </p:nvSpPr>
        <p:spPr>
          <a:xfrm>
            <a:off x="8065008" y="3657600"/>
            <a:ext cx="1600200" cy="384048"/>
          </a:xfrm>
          <a:prstGeom prst="rect">
            <a:avLst/>
          </a:prstGeom>
          <a:noFill/>
          <a:ln/>
        </p:spPr>
        <p:txBody>
          <a:bodyPr wrap="square" rtlCol="0" anchor="ctr"/>
          <a:lstStyle/>
          <a:p>
            <a:pPr marL="0" indent="0" algn="ctr">
              <a:buNone/>
            </a:pPr>
            <a:r>
              <a:rPr lang="en-US" sz="1000" dirty="0">
                <a:solidFill>
                  <a:srgbClr val="2D6A4F"/>
                </a:solidFill>
                <a:latin typeface="Calibri" pitchFamily="34" charset="0"/>
                <a:ea typeface="Calibri" pitchFamily="34" charset="-122"/>
                <a:cs typeface="Calibri" pitchFamily="34" charset="-120"/>
              </a:rPr>
              <a:t>Paper</a:t>
            </a:r>
            <a:endParaRPr lang="en-US" sz="1000" dirty="0"/>
          </a:p>
        </p:txBody>
      </p:sp>
      <p:sp>
        <p:nvSpPr>
          <p:cNvPr id="29" name="Shape 27"/>
          <p:cNvSpPr/>
          <p:nvPr/>
        </p:nvSpPr>
        <p:spPr>
          <a:xfrm>
            <a:off x="9774936" y="3657600"/>
            <a:ext cx="1600200" cy="384048"/>
          </a:xfrm>
          <a:prstGeom prst="roundRect">
            <a:avLst>
              <a:gd name="adj" fmla="val 50000"/>
            </a:avLst>
          </a:prstGeom>
          <a:solidFill>
            <a:srgbClr val="FFFFFF"/>
          </a:solidFill>
          <a:ln w="12700">
            <a:solidFill>
              <a:srgbClr val="95D5B2"/>
            </a:solidFill>
            <a:prstDash val="solid"/>
          </a:ln>
        </p:spPr>
      </p:sp>
      <p:sp>
        <p:nvSpPr>
          <p:cNvPr id="30" name="Text 28"/>
          <p:cNvSpPr/>
          <p:nvPr/>
        </p:nvSpPr>
        <p:spPr>
          <a:xfrm>
            <a:off x="9774936" y="3657600"/>
            <a:ext cx="1600200" cy="384048"/>
          </a:xfrm>
          <a:prstGeom prst="rect">
            <a:avLst/>
          </a:prstGeom>
          <a:noFill/>
          <a:ln/>
        </p:spPr>
        <p:txBody>
          <a:bodyPr wrap="square" rtlCol="0" anchor="ctr"/>
          <a:lstStyle/>
          <a:p>
            <a:pPr marL="0" indent="0" algn="ctr">
              <a:buNone/>
            </a:pPr>
            <a:r>
              <a:rPr lang="en-US" sz="1000" dirty="0">
                <a:solidFill>
                  <a:srgbClr val="2D6A4F"/>
                </a:solidFill>
                <a:latin typeface="Calibri" pitchFamily="34" charset="0"/>
                <a:ea typeface="Calibri" pitchFamily="34" charset="-122"/>
                <a:cs typeface="Calibri" pitchFamily="34" charset="-120"/>
              </a:rPr>
              <a:t>Cardboard</a:t>
            </a:r>
            <a:endParaRPr lang="en-US" sz="1000" dirty="0"/>
          </a:p>
        </p:txBody>
      </p:sp>
      <p:sp>
        <p:nvSpPr>
          <p:cNvPr id="31" name="Shape 29"/>
          <p:cNvSpPr/>
          <p:nvPr/>
        </p:nvSpPr>
        <p:spPr>
          <a:xfrm>
            <a:off x="6355080" y="4160520"/>
            <a:ext cx="1600200" cy="384048"/>
          </a:xfrm>
          <a:prstGeom prst="roundRect">
            <a:avLst>
              <a:gd name="adj" fmla="val 50000"/>
            </a:avLst>
          </a:prstGeom>
          <a:solidFill>
            <a:srgbClr val="FFFFFF"/>
          </a:solidFill>
          <a:ln w="12700">
            <a:solidFill>
              <a:srgbClr val="95D5B2"/>
            </a:solidFill>
            <a:prstDash val="solid"/>
          </a:ln>
        </p:spPr>
      </p:sp>
      <p:sp>
        <p:nvSpPr>
          <p:cNvPr id="32" name="Text 30"/>
          <p:cNvSpPr/>
          <p:nvPr/>
        </p:nvSpPr>
        <p:spPr>
          <a:xfrm>
            <a:off x="6355080" y="4160520"/>
            <a:ext cx="1600200" cy="384048"/>
          </a:xfrm>
          <a:prstGeom prst="rect">
            <a:avLst/>
          </a:prstGeom>
          <a:noFill/>
          <a:ln/>
        </p:spPr>
        <p:txBody>
          <a:bodyPr wrap="square" rtlCol="0" anchor="ctr"/>
          <a:lstStyle/>
          <a:p>
            <a:pPr marL="0" indent="0" algn="ctr">
              <a:buNone/>
            </a:pPr>
            <a:r>
              <a:rPr lang="en-US" sz="1000" dirty="0">
                <a:solidFill>
                  <a:srgbClr val="2D6A4F"/>
                </a:solidFill>
                <a:latin typeface="Calibri" pitchFamily="34" charset="0"/>
                <a:ea typeface="Calibri" pitchFamily="34" charset="-122"/>
                <a:cs typeface="Calibri" pitchFamily="34" charset="-120"/>
              </a:rPr>
              <a:t>Glass</a:t>
            </a:r>
            <a:endParaRPr lang="en-US" sz="1000" dirty="0"/>
          </a:p>
        </p:txBody>
      </p:sp>
      <p:sp>
        <p:nvSpPr>
          <p:cNvPr id="33" name="Shape 31"/>
          <p:cNvSpPr/>
          <p:nvPr/>
        </p:nvSpPr>
        <p:spPr>
          <a:xfrm>
            <a:off x="8065008" y="4160520"/>
            <a:ext cx="1600200" cy="384048"/>
          </a:xfrm>
          <a:prstGeom prst="roundRect">
            <a:avLst>
              <a:gd name="adj" fmla="val 50000"/>
            </a:avLst>
          </a:prstGeom>
          <a:solidFill>
            <a:srgbClr val="FFFFFF"/>
          </a:solidFill>
          <a:ln w="12700">
            <a:solidFill>
              <a:srgbClr val="95D5B2"/>
            </a:solidFill>
            <a:prstDash val="solid"/>
          </a:ln>
        </p:spPr>
      </p:sp>
      <p:sp>
        <p:nvSpPr>
          <p:cNvPr id="34" name="Text 32"/>
          <p:cNvSpPr/>
          <p:nvPr/>
        </p:nvSpPr>
        <p:spPr>
          <a:xfrm>
            <a:off x="8065008" y="4160520"/>
            <a:ext cx="1600200" cy="384048"/>
          </a:xfrm>
          <a:prstGeom prst="rect">
            <a:avLst/>
          </a:prstGeom>
          <a:noFill/>
          <a:ln/>
        </p:spPr>
        <p:txBody>
          <a:bodyPr wrap="square" rtlCol="0" anchor="ctr"/>
          <a:lstStyle/>
          <a:p>
            <a:pPr marL="0" indent="0" algn="ctr">
              <a:buNone/>
            </a:pPr>
            <a:r>
              <a:rPr lang="en-US" sz="1000" dirty="0">
                <a:solidFill>
                  <a:srgbClr val="2D6A4F"/>
                </a:solidFill>
                <a:latin typeface="Calibri" pitchFamily="34" charset="0"/>
                <a:ea typeface="Calibri" pitchFamily="34" charset="-122"/>
                <a:cs typeface="Calibri" pitchFamily="34" charset="-120"/>
              </a:rPr>
              <a:t>Metal</a:t>
            </a:r>
            <a:endParaRPr lang="en-US" sz="1000" dirty="0"/>
          </a:p>
        </p:txBody>
      </p:sp>
      <p:sp>
        <p:nvSpPr>
          <p:cNvPr id="35" name="Shape 33"/>
          <p:cNvSpPr/>
          <p:nvPr/>
        </p:nvSpPr>
        <p:spPr>
          <a:xfrm>
            <a:off x="9774936" y="4160520"/>
            <a:ext cx="1600200" cy="384048"/>
          </a:xfrm>
          <a:prstGeom prst="roundRect">
            <a:avLst>
              <a:gd name="adj" fmla="val 50000"/>
            </a:avLst>
          </a:prstGeom>
          <a:solidFill>
            <a:srgbClr val="FFFFFF"/>
          </a:solidFill>
          <a:ln w="12700">
            <a:solidFill>
              <a:srgbClr val="95D5B2"/>
            </a:solidFill>
            <a:prstDash val="solid"/>
          </a:ln>
        </p:spPr>
      </p:sp>
      <p:sp>
        <p:nvSpPr>
          <p:cNvPr id="36" name="Text 34"/>
          <p:cNvSpPr/>
          <p:nvPr/>
        </p:nvSpPr>
        <p:spPr>
          <a:xfrm>
            <a:off x="9774936" y="4160520"/>
            <a:ext cx="1600200" cy="384048"/>
          </a:xfrm>
          <a:prstGeom prst="rect">
            <a:avLst/>
          </a:prstGeom>
          <a:noFill/>
          <a:ln/>
        </p:spPr>
        <p:txBody>
          <a:bodyPr wrap="square" rtlCol="0" anchor="ctr"/>
          <a:lstStyle/>
          <a:p>
            <a:pPr marL="0" indent="0" algn="ctr">
              <a:buNone/>
            </a:pPr>
            <a:r>
              <a:rPr lang="en-US" sz="1000" dirty="0">
                <a:solidFill>
                  <a:srgbClr val="2D6A4F"/>
                </a:solidFill>
                <a:latin typeface="Calibri" pitchFamily="34" charset="0"/>
                <a:ea typeface="Calibri" pitchFamily="34" charset="-122"/>
                <a:cs typeface="Calibri" pitchFamily="34" charset="-120"/>
              </a:rPr>
              <a:t>Organic</a:t>
            </a:r>
            <a:endParaRPr lang="en-US" sz="1000" dirty="0"/>
          </a:p>
        </p:txBody>
      </p:sp>
      <p:sp>
        <p:nvSpPr>
          <p:cNvPr id="37" name="Shape 35"/>
          <p:cNvSpPr/>
          <p:nvPr/>
        </p:nvSpPr>
        <p:spPr>
          <a:xfrm>
            <a:off x="6355080" y="4663440"/>
            <a:ext cx="1600200" cy="384048"/>
          </a:xfrm>
          <a:prstGeom prst="roundRect">
            <a:avLst>
              <a:gd name="adj" fmla="val 50000"/>
            </a:avLst>
          </a:prstGeom>
          <a:solidFill>
            <a:srgbClr val="FFFFFF"/>
          </a:solidFill>
          <a:ln w="12700">
            <a:solidFill>
              <a:srgbClr val="95D5B2"/>
            </a:solidFill>
            <a:prstDash val="solid"/>
          </a:ln>
        </p:spPr>
      </p:sp>
      <p:sp>
        <p:nvSpPr>
          <p:cNvPr id="38" name="Text 36"/>
          <p:cNvSpPr/>
          <p:nvPr/>
        </p:nvSpPr>
        <p:spPr>
          <a:xfrm>
            <a:off x="6355080" y="4663440"/>
            <a:ext cx="1600200" cy="384048"/>
          </a:xfrm>
          <a:prstGeom prst="rect">
            <a:avLst/>
          </a:prstGeom>
          <a:noFill/>
          <a:ln/>
        </p:spPr>
        <p:txBody>
          <a:bodyPr wrap="square" rtlCol="0" anchor="ctr"/>
          <a:lstStyle/>
          <a:p>
            <a:pPr marL="0" indent="0" algn="ctr">
              <a:buNone/>
            </a:pPr>
            <a:r>
              <a:rPr lang="en-US" sz="1000" dirty="0">
                <a:solidFill>
                  <a:srgbClr val="2D6A4F"/>
                </a:solidFill>
                <a:latin typeface="Calibri" pitchFamily="34" charset="0"/>
                <a:ea typeface="Calibri" pitchFamily="34" charset="-122"/>
                <a:cs typeface="Calibri" pitchFamily="34" charset="-120"/>
              </a:rPr>
              <a:t>Battery</a:t>
            </a:r>
            <a:endParaRPr lang="en-US" sz="1000" dirty="0"/>
          </a:p>
        </p:txBody>
      </p:sp>
      <p:sp>
        <p:nvSpPr>
          <p:cNvPr id="39" name="Shape 37"/>
          <p:cNvSpPr/>
          <p:nvPr/>
        </p:nvSpPr>
        <p:spPr>
          <a:xfrm>
            <a:off x="8065008" y="4663440"/>
            <a:ext cx="1600200" cy="384048"/>
          </a:xfrm>
          <a:prstGeom prst="roundRect">
            <a:avLst>
              <a:gd name="adj" fmla="val 50000"/>
            </a:avLst>
          </a:prstGeom>
          <a:solidFill>
            <a:srgbClr val="FFFFFF"/>
          </a:solidFill>
          <a:ln w="12700">
            <a:solidFill>
              <a:srgbClr val="95D5B2"/>
            </a:solidFill>
            <a:prstDash val="solid"/>
          </a:ln>
        </p:spPr>
      </p:sp>
      <p:sp>
        <p:nvSpPr>
          <p:cNvPr id="40" name="Text 38"/>
          <p:cNvSpPr/>
          <p:nvPr/>
        </p:nvSpPr>
        <p:spPr>
          <a:xfrm>
            <a:off x="8065008" y="4663440"/>
            <a:ext cx="1600200" cy="384048"/>
          </a:xfrm>
          <a:prstGeom prst="rect">
            <a:avLst/>
          </a:prstGeom>
          <a:noFill/>
          <a:ln/>
        </p:spPr>
        <p:txBody>
          <a:bodyPr wrap="square" rtlCol="0" anchor="ctr"/>
          <a:lstStyle/>
          <a:p>
            <a:pPr marL="0" indent="0" algn="ctr">
              <a:buNone/>
            </a:pPr>
            <a:r>
              <a:rPr lang="en-US" sz="1000" dirty="0">
                <a:solidFill>
                  <a:srgbClr val="2D6A4F"/>
                </a:solidFill>
                <a:latin typeface="Calibri" pitchFamily="34" charset="0"/>
                <a:ea typeface="Calibri" pitchFamily="34" charset="-122"/>
                <a:cs typeface="Calibri" pitchFamily="34" charset="-120"/>
              </a:rPr>
              <a:t>E-Waste</a:t>
            </a:r>
            <a:endParaRPr lang="en-US" sz="1000" dirty="0"/>
          </a:p>
        </p:txBody>
      </p:sp>
      <p:sp>
        <p:nvSpPr>
          <p:cNvPr id="41" name="Shape 39"/>
          <p:cNvSpPr/>
          <p:nvPr/>
        </p:nvSpPr>
        <p:spPr>
          <a:xfrm>
            <a:off x="9774936" y="4663440"/>
            <a:ext cx="1600200" cy="384048"/>
          </a:xfrm>
          <a:prstGeom prst="roundRect">
            <a:avLst>
              <a:gd name="adj" fmla="val 50000"/>
            </a:avLst>
          </a:prstGeom>
          <a:solidFill>
            <a:srgbClr val="FFFFFF"/>
          </a:solidFill>
          <a:ln w="12700">
            <a:solidFill>
              <a:srgbClr val="95D5B2"/>
            </a:solidFill>
            <a:prstDash val="solid"/>
          </a:ln>
        </p:spPr>
      </p:sp>
      <p:sp>
        <p:nvSpPr>
          <p:cNvPr id="42" name="Text 40"/>
          <p:cNvSpPr/>
          <p:nvPr/>
        </p:nvSpPr>
        <p:spPr>
          <a:xfrm>
            <a:off x="9774936" y="4663440"/>
            <a:ext cx="1600200" cy="384048"/>
          </a:xfrm>
          <a:prstGeom prst="rect">
            <a:avLst/>
          </a:prstGeom>
          <a:noFill/>
          <a:ln/>
        </p:spPr>
        <p:txBody>
          <a:bodyPr wrap="square" rtlCol="0" anchor="ctr"/>
          <a:lstStyle/>
          <a:p>
            <a:pPr marL="0" indent="0" algn="ctr">
              <a:buNone/>
            </a:pPr>
            <a:r>
              <a:rPr lang="en-US" sz="1000" dirty="0">
                <a:solidFill>
                  <a:srgbClr val="2D6A4F"/>
                </a:solidFill>
                <a:latin typeface="Calibri" pitchFamily="34" charset="0"/>
                <a:ea typeface="Calibri" pitchFamily="34" charset="-122"/>
                <a:cs typeface="Calibri" pitchFamily="34" charset="-120"/>
              </a:rPr>
              <a:t>Clothes</a:t>
            </a:r>
            <a:endParaRPr lang="en-US" sz="1000" dirty="0"/>
          </a:p>
        </p:txBody>
      </p:sp>
      <p:sp>
        <p:nvSpPr>
          <p:cNvPr id="43" name="Shape 41"/>
          <p:cNvSpPr/>
          <p:nvPr/>
        </p:nvSpPr>
        <p:spPr>
          <a:xfrm>
            <a:off x="6355080" y="5166360"/>
            <a:ext cx="1600200" cy="384048"/>
          </a:xfrm>
          <a:prstGeom prst="roundRect">
            <a:avLst>
              <a:gd name="adj" fmla="val 50000"/>
            </a:avLst>
          </a:prstGeom>
          <a:solidFill>
            <a:srgbClr val="FFFFFF"/>
          </a:solidFill>
          <a:ln w="12700">
            <a:solidFill>
              <a:srgbClr val="95D5B2"/>
            </a:solidFill>
            <a:prstDash val="solid"/>
          </a:ln>
        </p:spPr>
      </p:sp>
      <p:sp>
        <p:nvSpPr>
          <p:cNvPr id="44" name="Text 42"/>
          <p:cNvSpPr/>
          <p:nvPr/>
        </p:nvSpPr>
        <p:spPr>
          <a:xfrm>
            <a:off x="6355080" y="5166360"/>
            <a:ext cx="1600200" cy="384048"/>
          </a:xfrm>
          <a:prstGeom prst="rect">
            <a:avLst/>
          </a:prstGeom>
          <a:noFill/>
          <a:ln/>
        </p:spPr>
        <p:txBody>
          <a:bodyPr wrap="square" rtlCol="0" anchor="ctr"/>
          <a:lstStyle/>
          <a:p>
            <a:pPr marL="0" indent="0" algn="ctr">
              <a:buNone/>
            </a:pPr>
            <a:r>
              <a:rPr lang="en-US" sz="1000" dirty="0">
                <a:solidFill>
                  <a:srgbClr val="2D6A4F"/>
                </a:solidFill>
                <a:latin typeface="Calibri" pitchFamily="34" charset="0"/>
                <a:ea typeface="Calibri" pitchFamily="34" charset="-122"/>
                <a:cs typeface="Calibri" pitchFamily="34" charset="-120"/>
              </a:rPr>
              <a:t>Trash</a:t>
            </a:r>
            <a:endParaRPr lang="en-US" sz="1000" dirty="0"/>
          </a:p>
        </p:txBody>
      </p:sp>
      <p:sp>
        <p:nvSpPr>
          <p:cNvPr id="45" name="Text 43"/>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46" name="Text 44"/>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System Architecture — Overview</a:t>
            </a:r>
            <a:endParaRPr lang="en-US" sz="3000" dirty="0"/>
          </a:p>
        </p:txBody>
      </p:sp>
      <p:sp>
        <p:nvSpPr>
          <p:cNvPr id="3" name="Shape 1"/>
          <p:cNvSpPr/>
          <p:nvPr/>
        </p:nvSpPr>
        <p:spPr>
          <a:xfrm>
            <a:off x="548640" y="1600200"/>
            <a:ext cx="11091672" cy="1234440"/>
          </a:xfrm>
          <a:prstGeom prst="roundRect">
            <a:avLst>
              <a:gd name="adj" fmla="val 5926"/>
            </a:avLst>
          </a:prstGeom>
          <a:solidFill>
            <a:srgbClr val="F3F8F5"/>
          </a:solidFill>
          <a:ln/>
        </p:spPr>
      </p:sp>
      <p:sp>
        <p:nvSpPr>
          <p:cNvPr id="4" name="Shape 2"/>
          <p:cNvSpPr/>
          <p:nvPr/>
        </p:nvSpPr>
        <p:spPr>
          <a:xfrm>
            <a:off x="868680" y="1874520"/>
            <a:ext cx="685800" cy="685800"/>
          </a:xfrm>
          <a:prstGeom prst="ellipse">
            <a:avLst/>
          </a:prstGeom>
          <a:solidFill>
            <a:srgbClr val="2D6A4F"/>
          </a:solidFill>
          <a:ln/>
        </p:spPr>
      </p:sp>
      <p:sp>
        <p:nvSpPr>
          <p:cNvPr id="5" name="Text 3"/>
          <p:cNvSpPr/>
          <p:nvPr/>
        </p:nvSpPr>
        <p:spPr>
          <a:xfrm>
            <a:off x="868680" y="1874520"/>
            <a:ext cx="685800" cy="68580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1</a:t>
            </a:r>
            <a:endParaRPr lang="en-US" sz="2100" dirty="0"/>
          </a:p>
        </p:txBody>
      </p:sp>
      <p:sp>
        <p:nvSpPr>
          <p:cNvPr id="6" name="Text 4"/>
          <p:cNvSpPr/>
          <p:nvPr/>
        </p:nvSpPr>
        <p:spPr>
          <a:xfrm>
            <a:off x="1828800" y="1764792"/>
            <a:ext cx="9144000" cy="36576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Presentation Tier</a:t>
            </a:r>
            <a:endParaRPr lang="en-US" sz="1500" dirty="0"/>
          </a:p>
        </p:txBody>
      </p:sp>
      <p:sp>
        <p:nvSpPr>
          <p:cNvPr id="7" name="Text 5"/>
          <p:cNvSpPr/>
          <p:nvPr/>
        </p:nvSpPr>
        <p:spPr>
          <a:xfrm>
            <a:off x="1828800" y="2148840"/>
            <a:ext cx="9144000" cy="548640"/>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React (Vite) + TailwindCSS — responsive, interactive client interface.</a:t>
            </a:r>
            <a:endParaRPr lang="en-US" sz="1250" dirty="0"/>
          </a:p>
        </p:txBody>
      </p:sp>
      <p:sp>
        <p:nvSpPr>
          <p:cNvPr id="8" name="Shape 6"/>
          <p:cNvSpPr/>
          <p:nvPr/>
        </p:nvSpPr>
        <p:spPr>
          <a:xfrm>
            <a:off x="548640" y="3063240"/>
            <a:ext cx="11091672" cy="1234440"/>
          </a:xfrm>
          <a:prstGeom prst="roundRect">
            <a:avLst>
              <a:gd name="adj" fmla="val 5926"/>
            </a:avLst>
          </a:prstGeom>
          <a:solidFill>
            <a:srgbClr val="F3F8F5"/>
          </a:solidFill>
          <a:ln/>
        </p:spPr>
      </p:sp>
      <p:sp>
        <p:nvSpPr>
          <p:cNvPr id="9" name="Shape 7"/>
          <p:cNvSpPr/>
          <p:nvPr/>
        </p:nvSpPr>
        <p:spPr>
          <a:xfrm>
            <a:off x="868680" y="3337560"/>
            <a:ext cx="685800" cy="685800"/>
          </a:xfrm>
          <a:prstGeom prst="ellipse">
            <a:avLst/>
          </a:prstGeom>
          <a:solidFill>
            <a:srgbClr val="2D6A4F"/>
          </a:solidFill>
          <a:ln/>
        </p:spPr>
      </p:sp>
      <p:sp>
        <p:nvSpPr>
          <p:cNvPr id="10" name="Text 8"/>
          <p:cNvSpPr/>
          <p:nvPr/>
        </p:nvSpPr>
        <p:spPr>
          <a:xfrm>
            <a:off x="868680" y="3337560"/>
            <a:ext cx="685800" cy="68580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2</a:t>
            </a:r>
            <a:endParaRPr lang="en-US" sz="2100" dirty="0"/>
          </a:p>
        </p:txBody>
      </p:sp>
      <p:sp>
        <p:nvSpPr>
          <p:cNvPr id="11" name="Text 9"/>
          <p:cNvSpPr/>
          <p:nvPr/>
        </p:nvSpPr>
        <p:spPr>
          <a:xfrm>
            <a:off x="1828800" y="3227832"/>
            <a:ext cx="9144000" cy="36576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Application Tier</a:t>
            </a:r>
            <a:endParaRPr lang="en-US" sz="1500" dirty="0"/>
          </a:p>
        </p:txBody>
      </p:sp>
      <p:sp>
        <p:nvSpPr>
          <p:cNvPr id="12" name="Text 10"/>
          <p:cNvSpPr/>
          <p:nvPr/>
        </p:nvSpPr>
        <p:spPr>
          <a:xfrm>
            <a:off x="1828800" y="3611880"/>
            <a:ext cx="9144000" cy="548640"/>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Flask (Python) WSGI REST API serving classification and statistics routes.</a:t>
            </a:r>
            <a:endParaRPr lang="en-US" sz="1250" dirty="0"/>
          </a:p>
        </p:txBody>
      </p:sp>
      <p:sp>
        <p:nvSpPr>
          <p:cNvPr id="13" name="Shape 11"/>
          <p:cNvSpPr/>
          <p:nvPr/>
        </p:nvSpPr>
        <p:spPr>
          <a:xfrm>
            <a:off x="548640" y="4526280"/>
            <a:ext cx="11091672" cy="1234440"/>
          </a:xfrm>
          <a:prstGeom prst="roundRect">
            <a:avLst>
              <a:gd name="adj" fmla="val 5926"/>
            </a:avLst>
          </a:prstGeom>
          <a:solidFill>
            <a:srgbClr val="F3F8F5"/>
          </a:solidFill>
          <a:ln/>
        </p:spPr>
      </p:sp>
      <p:sp>
        <p:nvSpPr>
          <p:cNvPr id="14" name="Shape 12"/>
          <p:cNvSpPr/>
          <p:nvPr/>
        </p:nvSpPr>
        <p:spPr>
          <a:xfrm>
            <a:off x="868680" y="4800600"/>
            <a:ext cx="685800" cy="685800"/>
          </a:xfrm>
          <a:prstGeom prst="ellipse">
            <a:avLst/>
          </a:prstGeom>
          <a:solidFill>
            <a:srgbClr val="2D6A4F"/>
          </a:solidFill>
          <a:ln/>
        </p:spPr>
      </p:sp>
      <p:sp>
        <p:nvSpPr>
          <p:cNvPr id="15" name="Text 13"/>
          <p:cNvSpPr/>
          <p:nvPr/>
        </p:nvSpPr>
        <p:spPr>
          <a:xfrm>
            <a:off x="868680" y="4800600"/>
            <a:ext cx="685800" cy="68580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3</a:t>
            </a:r>
            <a:endParaRPr lang="en-US" sz="2100" dirty="0"/>
          </a:p>
        </p:txBody>
      </p:sp>
      <p:sp>
        <p:nvSpPr>
          <p:cNvPr id="16" name="Text 14"/>
          <p:cNvSpPr/>
          <p:nvPr/>
        </p:nvSpPr>
        <p:spPr>
          <a:xfrm>
            <a:off x="1828800" y="4690872"/>
            <a:ext cx="9144000" cy="36576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Intelligence Tier</a:t>
            </a:r>
            <a:endParaRPr lang="en-US" sz="1500" dirty="0"/>
          </a:p>
        </p:txBody>
      </p:sp>
      <p:sp>
        <p:nvSpPr>
          <p:cNvPr id="17" name="Text 15"/>
          <p:cNvSpPr/>
          <p:nvPr/>
        </p:nvSpPr>
        <p:spPr>
          <a:xfrm>
            <a:off x="1828800" y="5074920"/>
            <a:ext cx="9144000" cy="548640"/>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PyTorch fine-tuned MobileNetV2 with a hybrid local/production inference engine.</a:t>
            </a:r>
            <a:endParaRPr lang="en-US" sz="1250" dirty="0"/>
          </a:p>
        </p:txBody>
      </p:sp>
      <p:sp>
        <p:nvSpPr>
          <p:cNvPr id="18" name="Text 16"/>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19" name="Text 17"/>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System Architecture — Detailed Flow</a:t>
            </a:r>
            <a:endParaRPr lang="en-US" sz="3000" dirty="0"/>
          </a:p>
        </p:txBody>
      </p:sp>
      <p:sp>
        <p:nvSpPr>
          <p:cNvPr id="3" name="Shape 1"/>
          <p:cNvSpPr/>
          <p:nvPr/>
        </p:nvSpPr>
        <p:spPr>
          <a:xfrm>
            <a:off x="3286177" y="1280160"/>
            <a:ext cx="3970678" cy="5074920"/>
          </a:xfrm>
          <a:prstGeom prst="roundRect">
            <a:avLst>
              <a:gd name="adj" fmla="val 1842"/>
            </a:avLst>
          </a:prstGeom>
          <a:solidFill>
            <a:srgbClr val="F3F8F5"/>
          </a:solidFill>
          <a:ln/>
        </p:spPr>
      </p:sp>
      <p:pic>
        <p:nvPicPr>
          <p:cNvPr id="4" name="Image 0" descr="/home/claude/pptx-build/architecture_flow.png"/>
          <p:cNvPicPr>
            <a:picLocks noChangeAspect="1"/>
          </p:cNvPicPr>
          <p:nvPr/>
        </p:nvPicPr>
        <p:blipFill>
          <a:blip r:embed="rId3"/>
          <a:stretch>
            <a:fillRect/>
          </a:stretch>
        </p:blipFill>
        <p:spPr>
          <a:xfrm>
            <a:off x="3423337" y="1417320"/>
            <a:ext cx="3696358" cy="4800600"/>
          </a:xfrm>
          <a:prstGeom prst="rect">
            <a:avLst/>
          </a:prstGeom>
        </p:spPr>
      </p:pic>
      <p:sp>
        <p:nvSpPr>
          <p:cNvPr id="5" name="Text 2"/>
          <p:cNvSpPr/>
          <p:nvPr/>
        </p:nvSpPr>
        <p:spPr>
          <a:xfrm>
            <a:off x="7576895" y="1554480"/>
            <a:ext cx="2834640" cy="36576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Request Lifecycle</a:t>
            </a:r>
            <a:endParaRPr lang="en-US" sz="1500" dirty="0"/>
          </a:p>
        </p:txBody>
      </p:sp>
      <p:sp>
        <p:nvSpPr>
          <p:cNvPr id="6" name="Shape 3"/>
          <p:cNvSpPr/>
          <p:nvPr/>
        </p:nvSpPr>
        <p:spPr>
          <a:xfrm>
            <a:off x="7576895" y="2057400"/>
            <a:ext cx="320040" cy="320040"/>
          </a:xfrm>
          <a:prstGeom prst="ellipse">
            <a:avLst/>
          </a:prstGeom>
          <a:solidFill>
            <a:srgbClr val="2D6A4F"/>
          </a:solidFill>
          <a:ln/>
        </p:spPr>
      </p:sp>
      <p:sp>
        <p:nvSpPr>
          <p:cNvPr id="7" name="Text 4"/>
          <p:cNvSpPr/>
          <p:nvPr/>
        </p:nvSpPr>
        <p:spPr>
          <a:xfrm>
            <a:off x="7576895" y="2057400"/>
            <a:ext cx="320040" cy="320040"/>
          </a:xfrm>
          <a:prstGeom prst="rect">
            <a:avLst/>
          </a:prstGeom>
          <a:noFill/>
          <a:ln/>
        </p:spPr>
        <p:txBody>
          <a:bodyPr wrap="square" rtlCol="0" anchor="ctr"/>
          <a:lstStyle/>
          <a:p>
            <a:pPr marL="0" indent="0" algn="ctr">
              <a:buNone/>
            </a:pPr>
            <a:r>
              <a:rPr lang="en-US" sz="980" b="1" dirty="0">
                <a:solidFill>
                  <a:srgbClr val="FFFFFF"/>
                </a:solidFill>
                <a:latin typeface="Cambria" pitchFamily="34" charset="0"/>
                <a:ea typeface="Cambria" pitchFamily="34" charset="-122"/>
                <a:cs typeface="Cambria" pitchFamily="34" charset="-120"/>
              </a:rPr>
              <a:t>1</a:t>
            </a:r>
            <a:endParaRPr lang="en-US" sz="980" dirty="0"/>
          </a:p>
        </p:txBody>
      </p:sp>
      <p:sp>
        <p:nvSpPr>
          <p:cNvPr id="8" name="Text 5"/>
          <p:cNvSpPr/>
          <p:nvPr/>
        </p:nvSpPr>
        <p:spPr>
          <a:xfrm>
            <a:off x="7988375" y="2029968"/>
            <a:ext cx="2468880" cy="502920"/>
          </a:xfrm>
          <a:prstGeom prst="rect">
            <a:avLst/>
          </a:prstGeom>
          <a:noFill/>
          <a:ln/>
        </p:spPr>
        <p:txBody>
          <a:bodyPr wrap="square" rtlCol="0" anchor="t"/>
          <a:lstStyle/>
          <a:p>
            <a:pPr marL="0" indent="0">
              <a:buNone/>
            </a:pPr>
            <a:r>
              <a:rPr lang="en-US" sz="1050" dirty="0">
                <a:solidFill>
                  <a:srgbClr val="3A3A38"/>
                </a:solidFill>
                <a:latin typeface="Calibri" pitchFamily="34" charset="0"/>
                <a:ea typeface="Calibri" pitchFamily="34" charset="-122"/>
                <a:cs typeface="Calibri" pitchFamily="34" charset="-120"/>
              </a:rPr>
              <a:t>Client POSTs image to Flask REST API</a:t>
            </a:r>
            <a:endParaRPr lang="en-US" sz="1050" dirty="0"/>
          </a:p>
        </p:txBody>
      </p:sp>
      <p:sp>
        <p:nvSpPr>
          <p:cNvPr id="9" name="Shape 6"/>
          <p:cNvSpPr/>
          <p:nvPr/>
        </p:nvSpPr>
        <p:spPr>
          <a:xfrm>
            <a:off x="7576895" y="2679192"/>
            <a:ext cx="320040" cy="320040"/>
          </a:xfrm>
          <a:prstGeom prst="ellipse">
            <a:avLst/>
          </a:prstGeom>
          <a:solidFill>
            <a:srgbClr val="2D6A4F"/>
          </a:solidFill>
          <a:ln/>
        </p:spPr>
      </p:sp>
      <p:sp>
        <p:nvSpPr>
          <p:cNvPr id="10" name="Text 7"/>
          <p:cNvSpPr/>
          <p:nvPr/>
        </p:nvSpPr>
        <p:spPr>
          <a:xfrm>
            <a:off x="7576895" y="2679192"/>
            <a:ext cx="320040" cy="320040"/>
          </a:xfrm>
          <a:prstGeom prst="rect">
            <a:avLst/>
          </a:prstGeom>
          <a:noFill/>
          <a:ln/>
        </p:spPr>
        <p:txBody>
          <a:bodyPr wrap="square" rtlCol="0" anchor="ctr"/>
          <a:lstStyle/>
          <a:p>
            <a:pPr marL="0" indent="0" algn="ctr">
              <a:buNone/>
            </a:pPr>
            <a:r>
              <a:rPr lang="en-US" sz="980" b="1" dirty="0">
                <a:solidFill>
                  <a:srgbClr val="FFFFFF"/>
                </a:solidFill>
                <a:latin typeface="Cambria" pitchFamily="34" charset="0"/>
                <a:ea typeface="Cambria" pitchFamily="34" charset="-122"/>
                <a:cs typeface="Cambria" pitchFamily="34" charset="-120"/>
              </a:rPr>
              <a:t>2</a:t>
            </a:r>
            <a:endParaRPr lang="en-US" sz="980" dirty="0"/>
          </a:p>
        </p:txBody>
      </p:sp>
      <p:sp>
        <p:nvSpPr>
          <p:cNvPr id="11" name="Text 8"/>
          <p:cNvSpPr/>
          <p:nvPr/>
        </p:nvSpPr>
        <p:spPr>
          <a:xfrm>
            <a:off x="7988375" y="2651760"/>
            <a:ext cx="2468880" cy="502920"/>
          </a:xfrm>
          <a:prstGeom prst="rect">
            <a:avLst/>
          </a:prstGeom>
          <a:noFill/>
          <a:ln/>
        </p:spPr>
        <p:txBody>
          <a:bodyPr wrap="square" rtlCol="0" anchor="t"/>
          <a:lstStyle/>
          <a:p>
            <a:pPr marL="0" indent="0">
              <a:buNone/>
            </a:pPr>
            <a:r>
              <a:rPr lang="en-US" sz="1050" dirty="0">
                <a:solidFill>
                  <a:srgbClr val="3A3A38"/>
                </a:solidFill>
                <a:latin typeface="Calibri" pitchFamily="34" charset="0"/>
                <a:ea typeface="Calibri" pitchFamily="34" charset="-122"/>
                <a:cs typeface="Calibri" pitchFamily="34" charset="-120"/>
              </a:rPr>
              <a:t>Hybrid Engine detects the runtime environment</a:t>
            </a:r>
            <a:endParaRPr lang="en-US" sz="1050" dirty="0"/>
          </a:p>
        </p:txBody>
      </p:sp>
      <p:sp>
        <p:nvSpPr>
          <p:cNvPr id="12" name="Shape 9"/>
          <p:cNvSpPr/>
          <p:nvPr/>
        </p:nvSpPr>
        <p:spPr>
          <a:xfrm>
            <a:off x="7576895" y="3300984"/>
            <a:ext cx="320040" cy="320040"/>
          </a:xfrm>
          <a:prstGeom prst="ellipse">
            <a:avLst/>
          </a:prstGeom>
          <a:solidFill>
            <a:srgbClr val="2D6A4F"/>
          </a:solidFill>
          <a:ln/>
        </p:spPr>
      </p:sp>
      <p:sp>
        <p:nvSpPr>
          <p:cNvPr id="13" name="Text 10"/>
          <p:cNvSpPr/>
          <p:nvPr/>
        </p:nvSpPr>
        <p:spPr>
          <a:xfrm>
            <a:off x="7576895" y="3300984"/>
            <a:ext cx="320040" cy="320040"/>
          </a:xfrm>
          <a:prstGeom prst="rect">
            <a:avLst/>
          </a:prstGeom>
          <a:noFill/>
          <a:ln/>
        </p:spPr>
        <p:txBody>
          <a:bodyPr wrap="square" rtlCol="0" anchor="ctr"/>
          <a:lstStyle/>
          <a:p>
            <a:pPr marL="0" indent="0" algn="ctr">
              <a:buNone/>
            </a:pPr>
            <a:r>
              <a:rPr lang="en-US" sz="980" b="1" dirty="0">
                <a:solidFill>
                  <a:srgbClr val="FFFFFF"/>
                </a:solidFill>
                <a:latin typeface="Cambria" pitchFamily="34" charset="0"/>
                <a:ea typeface="Cambria" pitchFamily="34" charset="-122"/>
                <a:cs typeface="Cambria" pitchFamily="34" charset="-120"/>
              </a:rPr>
              <a:t>3</a:t>
            </a:r>
            <a:endParaRPr lang="en-US" sz="980" dirty="0"/>
          </a:p>
        </p:txBody>
      </p:sp>
      <p:sp>
        <p:nvSpPr>
          <p:cNvPr id="14" name="Text 11"/>
          <p:cNvSpPr/>
          <p:nvPr/>
        </p:nvSpPr>
        <p:spPr>
          <a:xfrm>
            <a:off x="7988375" y="3273552"/>
            <a:ext cx="2468880" cy="502920"/>
          </a:xfrm>
          <a:prstGeom prst="rect">
            <a:avLst/>
          </a:prstGeom>
          <a:noFill/>
          <a:ln/>
        </p:spPr>
        <p:txBody>
          <a:bodyPr wrap="square" rtlCol="0" anchor="t"/>
          <a:lstStyle/>
          <a:p>
            <a:pPr marL="0" indent="0">
              <a:buNone/>
            </a:pPr>
            <a:r>
              <a:rPr lang="en-US" sz="1050" dirty="0">
                <a:solidFill>
                  <a:srgbClr val="3A3A38"/>
                </a:solidFill>
                <a:latin typeface="Calibri" pitchFamily="34" charset="0"/>
                <a:ea typeface="Calibri" pitchFamily="34" charset="-122"/>
                <a:cs typeface="Calibri" pitchFamily="34" charset="-120"/>
              </a:rPr>
              <a:t>Local: full PyTorch inference + Grad-CAM</a:t>
            </a:r>
            <a:endParaRPr lang="en-US" sz="1050" dirty="0"/>
          </a:p>
        </p:txBody>
      </p:sp>
      <p:sp>
        <p:nvSpPr>
          <p:cNvPr id="15" name="Shape 12"/>
          <p:cNvSpPr/>
          <p:nvPr/>
        </p:nvSpPr>
        <p:spPr>
          <a:xfrm>
            <a:off x="7576895" y="3922776"/>
            <a:ext cx="320040" cy="320040"/>
          </a:xfrm>
          <a:prstGeom prst="ellipse">
            <a:avLst/>
          </a:prstGeom>
          <a:solidFill>
            <a:srgbClr val="2D6A4F"/>
          </a:solidFill>
          <a:ln/>
        </p:spPr>
      </p:sp>
      <p:sp>
        <p:nvSpPr>
          <p:cNvPr id="16" name="Text 13"/>
          <p:cNvSpPr/>
          <p:nvPr/>
        </p:nvSpPr>
        <p:spPr>
          <a:xfrm>
            <a:off x="7576895" y="3922776"/>
            <a:ext cx="320040" cy="320040"/>
          </a:xfrm>
          <a:prstGeom prst="rect">
            <a:avLst/>
          </a:prstGeom>
          <a:noFill/>
          <a:ln/>
        </p:spPr>
        <p:txBody>
          <a:bodyPr wrap="square" rtlCol="0" anchor="ctr"/>
          <a:lstStyle/>
          <a:p>
            <a:pPr marL="0" indent="0" algn="ctr">
              <a:buNone/>
            </a:pPr>
            <a:r>
              <a:rPr lang="en-US" sz="980" b="1" dirty="0">
                <a:solidFill>
                  <a:srgbClr val="FFFFFF"/>
                </a:solidFill>
                <a:latin typeface="Cambria" pitchFamily="34" charset="0"/>
                <a:ea typeface="Cambria" pitchFamily="34" charset="-122"/>
                <a:cs typeface="Cambria" pitchFamily="34" charset="-120"/>
              </a:rPr>
              <a:t>4</a:t>
            </a:r>
            <a:endParaRPr lang="en-US" sz="980" dirty="0"/>
          </a:p>
        </p:txBody>
      </p:sp>
      <p:sp>
        <p:nvSpPr>
          <p:cNvPr id="17" name="Text 14"/>
          <p:cNvSpPr/>
          <p:nvPr/>
        </p:nvSpPr>
        <p:spPr>
          <a:xfrm>
            <a:off x="7988375" y="3895344"/>
            <a:ext cx="2468880" cy="502920"/>
          </a:xfrm>
          <a:prstGeom prst="rect">
            <a:avLst/>
          </a:prstGeom>
          <a:noFill/>
          <a:ln/>
        </p:spPr>
        <p:txBody>
          <a:bodyPr wrap="square" rtlCol="0" anchor="t"/>
          <a:lstStyle/>
          <a:p>
            <a:pPr marL="0" indent="0">
              <a:buNone/>
            </a:pPr>
            <a:r>
              <a:rPr lang="en-US" sz="1050" dirty="0">
                <a:solidFill>
                  <a:srgbClr val="3A3A38"/>
                </a:solidFill>
                <a:latin typeface="Calibri" pitchFamily="34" charset="0"/>
                <a:ea typeface="Calibri" pitchFamily="34" charset="-122"/>
                <a:cs typeface="Calibri" pitchFamily="34" charset="-120"/>
              </a:rPr>
              <a:t>Production: lightweight keyword + PIL overlay</a:t>
            </a:r>
            <a:endParaRPr lang="en-US" sz="1050" dirty="0"/>
          </a:p>
        </p:txBody>
      </p:sp>
      <p:sp>
        <p:nvSpPr>
          <p:cNvPr id="18" name="Shape 15"/>
          <p:cNvSpPr/>
          <p:nvPr/>
        </p:nvSpPr>
        <p:spPr>
          <a:xfrm>
            <a:off x="7576895" y="4544568"/>
            <a:ext cx="320040" cy="320040"/>
          </a:xfrm>
          <a:prstGeom prst="ellipse">
            <a:avLst/>
          </a:prstGeom>
          <a:solidFill>
            <a:srgbClr val="2D6A4F"/>
          </a:solidFill>
          <a:ln/>
        </p:spPr>
      </p:sp>
      <p:sp>
        <p:nvSpPr>
          <p:cNvPr id="19" name="Text 16"/>
          <p:cNvSpPr/>
          <p:nvPr/>
        </p:nvSpPr>
        <p:spPr>
          <a:xfrm>
            <a:off x="7576895" y="4544568"/>
            <a:ext cx="320040" cy="320040"/>
          </a:xfrm>
          <a:prstGeom prst="rect">
            <a:avLst/>
          </a:prstGeom>
          <a:noFill/>
          <a:ln/>
        </p:spPr>
        <p:txBody>
          <a:bodyPr wrap="square" rtlCol="0" anchor="ctr"/>
          <a:lstStyle/>
          <a:p>
            <a:pPr marL="0" indent="0" algn="ctr">
              <a:buNone/>
            </a:pPr>
            <a:r>
              <a:rPr lang="en-US" sz="980" b="1" dirty="0">
                <a:solidFill>
                  <a:srgbClr val="FFFFFF"/>
                </a:solidFill>
                <a:latin typeface="Cambria" pitchFamily="34" charset="0"/>
                <a:ea typeface="Cambria" pitchFamily="34" charset="-122"/>
                <a:cs typeface="Cambria" pitchFamily="34" charset="-120"/>
              </a:rPr>
              <a:t>5</a:t>
            </a:r>
            <a:endParaRPr lang="en-US" sz="980" dirty="0"/>
          </a:p>
        </p:txBody>
      </p:sp>
      <p:sp>
        <p:nvSpPr>
          <p:cNvPr id="20" name="Text 17"/>
          <p:cNvSpPr/>
          <p:nvPr/>
        </p:nvSpPr>
        <p:spPr>
          <a:xfrm>
            <a:off x="7988375" y="4517136"/>
            <a:ext cx="2468880" cy="502920"/>
          </a:xfrm>
          <a:prstGeom prst="rect">
            <a:avLst/>
          </a:prstGeom>
          <a:noFill/>
          <a:ln/>
        </p:spPr>
        <p:txBody>
          <a:bodyPr wrap="square" rtlCol="0" anchor="t"/>
          <a:lstStyle/>
          <a:p>
            <a:pPr marL="0" indent="0">
              <a:buNone/>
            </a:pPr>
            <a:r>
              <a:rPr lang="en-US" sz="1050" dirty="0">
                <a:solidFill>
                  <a:srgbClr val="3A3A38"/>
                </a:solidFill>
                <a:latin typeface="Calibri" pitchFamily="34" charset="0"/>
                <a:ea typeface="Calibri" pitchFamily="34" charset="-122"/>
                <a:cs typeface="Calibri" pitchFamily="34" charset="-120"/>
              </a:rPr>
              <a:t>Result logged to SQLite DB</a:t>
            </a:r>
            <a:endParaRPr lang="en-US" sz="1050" dirty="0"/>
          </a:p>
        </p:txBody>
      </p:sp>
      <p:sp>
        <p:nvSpPr>
          <p:cNvPr id="21" name="Shape 18"/>
          <p:cNvSpPr/>
          <p:nvPr/>
        </p:nvSpPr>
        <p:spPr>
          <a:xfrm>
            <a:off x="7576895" y="5166360"/>
            <a:ext cx="320040" cy="320040"/>
          </a:xfrm>
          <a:prstGeom prst="ellipse">
            <a:avLst/>
          </a:prstGeom>
          <a:solidFill>
            <a:srgbClr val="2D6A4F"/>
          </a:solidFill>
          <a:ln/>
        </p:spPr>
      </p:sp>
      <p:sp>
        <p:nvSpPr>
          <p:cNvPr id="22" name="Text 19"/>
          <p:cNvSpPr/>
          <p:nvPr/>
        </p:nvSpPr>
        <p:spPr>
          <a:xfrm>
            <a:off x="7576895" y="5166360"/>
            <a:ext cx="320040" cy="320040"/>
          </a:xfrm>
          <a:prstGeom prst="rect">
            <a:avLst/>
          </a:prstGeom>
          <a:noFill/>
          <a:ln/>
        </p:spPr>
        <p:txBody>
          <a:bodyPr wrap="square" rtlCol="0" anchor="ctr"/>
          <a:lstStyle/>
          <a:p>
            <a:pPr marL="0" indent="0" algn="ctr">
              <a:buNone/>
            </a:pPr>
            <a:r>
              <a:rPr lang="en-US" sz="980" b="1" dirty="0">
                <a:solidFill>
                  <a:srgbClr val="FFFFFF"/>
                </a:solidFill>
                <a:latin typeface="Cambria" pitchFamily="34" charset="0"/>
                <a:ea typeface="Cambria" pitchFamily="34" charset="-122"/>
                <a:cs typeface="Cambria" pitchFamily="34" charset="-120"/>
              </a:rPr>
              <a:t>6</a:t>
            </a:r>
            <a:endParaRPr lang="en-US" sz="980" dirty="0"/>
          </a:p>
        </p:txBody>
      </p:sp>
      <p:sp>
        <p:nvSpPr>
          <p:cNvPr id="23" name="Text 20"/>
          <p:cNvSpPr/>
          <p:nvPr/>
        </p:nvSpPr>
        <p:spPr>
          <a:xfrm>
            <a:off x="7988375" y="5138928"/>
            <a:ext cx="2468880" cy="502920"/>
          </a:xfrm>
          <a:prstGeom prst="rect">
            <a:avLst/>
          </a:prstGeom>
          <a:noFill/>
          <a:ln/>
        </p:spPr>
        <p:txBody>
          <a:bodyPr wrap="square" rtlCol="0" anchor="t"/>
          <a:lstStyle/>
          <a:p>
            <a:pPr marL="0" indent="0">
              <a:buNone/>
            </a:pPr>
            <a:r>
              <a:rPr lang="en-US" sz="1050" dirty="0">
                <a:solidFill>
                  <a:srgbClr val="3A3A38"/>
                </a:solidFill>
                <a:latin typeface="Calibri" pitchFamily="34" charset="0"/>
                <a:ea typeface="Calibri" pitchFamily="34" charset="-122"/>
                <a:cs typeface="Calibri" pitchFamily="34" charset="-120"/>
              </a:rPr>
              <a:t>JSON response returned to the React client</a:t>
            </a:r>
            <a:endParaRPr lang="en-US" sz="1050" dirty="0"/>
          </a:p>
        </p:txBody>
      </p:sp>
      <p:sp>
        <p:nvSpPr>
          <p:cNvPr id="24" name="Text 21"/>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25" name="Text 22"/>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Deep Learning Model — MobileNetV2</a:t>
            </a:r>
            <a:endParaRPr lang="en-US" sz="3000" dirty="0"/>
          </a:p>
        </p:txBody>
      </p:sp>
      <p:sp>
        <p:nvSpPr>
          <p:cNvPr id="3" name="Text 1"/>
          <p:cNvSpPr/>
          <p:nvPr/>
        </p:nvSpPr>
        <p:spPr>
          <a:xfrm>
            <a:off x="548640" y="1463040"/>
            <a:ext cx="5029200" cy="36576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Core Architecture</a:t>
            </a:r>
            <a:endParaRPr lang="en-US" sz="1600" dirty="0"/>
          </a:p>
        </p:txBody>
      </p:sp>
      <p:sp>
        <p:nvSpPr>
          <p:cNvPr id="4" name="Text 2"/>
          <p:cNvSpPr/>
          <p:nvPr/>
        </p:nvSpPr>
        <p:spPr>
          <a:xfrm>
            <a:off x="548640" y="1874520"/>
            <a:ext cx="5029200" cy="320040"/>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MobileNetV2, pre-trained on ImageNet.</a:t>
            </a:r>
            <a:endParaRPr lang="en-US" sz="1250" dirty="0"/>
          </a:p>
        </p:txBody>
      </p:sp>
      <p:sp>
        <p:nvSpPr>
          <p:cNvPr id="5" name="Text 3"/>
          <p:cNvSpPr/>
          <p:nvPr/>
        </p:nvSpPr>
        <p:spPr>
          <a:xfrm>
            <a:off x="548640" y="2377440"/>
            <a:ext cx="5029200" cy="36576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Why MobileNetV2?</a:t>
            </a:r>
            <a:endParaRPr lang="en-US" sz="1600" dirty="0"/>
          </a:p>
        </p:txBody>
      </p:sp>
      <p:sp>
        <p:nvSpPr>
          <p:cNvPr id="6" name="Text 4"/>
          <p:cNvSpPr/>
          <p:nvPr/>
        </p:nvSpPr>
        <p:spPr>
          <a:xfrm>
            <a:off x="548640" y="2788920"/>
            <a:ext cx="5029200" cy="685800"/>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High accuracy, low parameter count, and extremely fast CPU inference — ideal for real-time and edge deployment.</a:t>
            </a:r>
            <a:endParaRPr lang="en-US" sz="1250" dirty="0"/>
          </a:p>
        </p:txBody>
      </p:sp>
      <p:sp>
        <p:nvSpPr>
          <p:cNvPr id="7" name="Shape 5"/>
          <p:cNvSpPr/>
          <p:nvPr/>
        </p:nvSpPr>
        <p:spPr>
          <a:xfrm>
            <a:off x="548640" y="3657600"/>
            <a:ext cx="2468880" cy="1371600"/>
          </a:xfrm>
          <a:prstGeom prst="roundRect">
            <a:avLst>
              <a:gd name="adj" fmla="val 5333"/>
            </a:avLst>
          </a:prstGeom>
          <a:solidFill>
            <a:srgbClr val="1B4332"/>
          </a:solidFill>
          <a:ln/>
        </p:spPr>
      </p:sp>
      <p:sp>
        <p:nvSpPr>
          <p:cNvPr id="8" name="Text 6"/>
          <p:cNvSpPr/>
          <p:nvPr/>
        </p:nvSpPr>
        <p:spPr>
          <a:xfrm>
            <a:off x="548640" y="3794760"/>
            <a:ext cx="2468880" cy="640080"/>
          </a:xfrm>
          <a:prstGeom prst="rect">
            <a:avLst/>
          </a:prstGeom>
          <a:noFill/>
          <a:ln/>
        </p:spPr>
        <p:txBody>
          <a:bodyPr wrap="square" rtlCol="0" anchor="ctr"/>
          <a:lstStyle/>
          <a:p>
            <a:pPr marL="0" indent="0" algn="ctr">
              <a:buNone/>
            </a:pPr>
            <a:r>
              <a:rPr lang="en-US" sz="2800" b="1" dirty="0">
                <a:solidFill>
                  <a:srgbClr val="95D5B2"/>
                </a:solidFill>
                <a:latin typeface="Cambria" pitchFamily="34" charset="0"/>
                <a:ea typeface="Cambria" pitchFamily="34" charset="-122"/>
                <a:cs typeface="Cambria" pitchFamily="34" charset="-120"/>
              </a:rPr>
              <a:t>&lt; 300ms</a:t>
            </a:r>
            <a:endParaRPr lang="en-US" sz="2800" dirty="0"/>
          </a:p>
        </p:txBody>
      </p:sp>
      <p:sp>
        <p:nvSpPr>
          <p:cNvPr id="9" name="Text 7"/>
          <p:cNvSpPr/>
          <p:nvPr/>
        </p:nvSpPr>
        <p:spPr>
          <a:xfrm>
            <a:off x="548640" y="4434840"/>
            <a:ext cx="2468880" cy="457200"/>
          </a:xfrm>
          <a:prstGeom prst="rect">
            <a:avLst/>
          </a:prstGeom>
          <a:noFill/>
          <a:ln/>
        </p:spPr>
        <p:txBody>
          <a:bodyPr wrap="square" rtlCol="0" anchor="ctr"/>
          <a:lstStyle/>
          <a:p>
            <a:pPr marL="0" indent="0" algn="ctr">
              <a:buNone/>
            </a:pPr>
            <a:r>
              <a:rPr lang="en-US" sz="1100" dirty="0">
                <a:solidFill>
                  <a:srgbClr val="E8F3ED"/>
                </a:solidFill>
                <a:latin typeface="Calibri" pitchFamily="34" charset="0"/>
                <a:ea typeface="Calibri" pitchFamily="34" charset="-122"/>
                <a:cs typeface="Calibri" pitchFamily="34" charset="-120"/>
              </a:rPr>
              <a:t>CPU inference time</a:t>
            </a:r>
            <a:endParaRPr lang="en-US" sz="1100" dirty="0"/>
          </a:p>
        </p:txBody>
      </p:sp>
      <p:sp>
        <p:nvSpPr>
          <p:cNvPr id="10" name="Shape 8"/>
          <p:cNvSpPr/>
          <p:nvPr/>
        </p:nvSpPr>
        <p:spPr>
          <a:xfrm>
            <a:off x="3200400" y="3657600"/>
            <a:ext cx="2377440" cy="1371600"/>
          </a:xfrm>
          <a:prstGeom prst="roundRect">
            <a:avLst>
              <a:gd name="adj" fmla="val 5333"/>
            </a:avLst>
          </a:prstGeom>
          <a:solidFill>
            <a:srgbClr val="E76F51"/>
          </a:solidFill>
          <a:ln/>
        </p:spPr>
      </p:sp>
      <p:sp>
        <p:nvSpPr>
          <p:cNvPr id="11" name="Text 9"/>
          <p:cNvSpPr/>
          <p:nvPr/>
        </p:nvSpPr>
        <p:spPr>
          <a:xfrm>
            <a:off x="3200400" y="3794760"/>
            <a:ext cx="2377440" cy="64008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10</a:t>
            </a:r>
            <a:endParaRPr lang="en-US" sz="2800" dirty="0"/>
          </a:p>
        </p:txBody>
      </p:sp>
      <p:sp>
        <p:nvSpPr>
          <p:cNvPr id="12" name="Text 10"/>
          <p:cNvSpPr/>
          <p:nvPr/>
        </p:nvSpPr>
        <p:spPr>
          <a:xfrm>
            <a:off x="3200400" y="4434840"/>
            <a:ext cx="2377440" cy="457200"/>
          </a:xfrm>
          <a:prstGeom prst="rect">
            <a:avLst/>
          </a:prstGeom>
          <a:noFill/>
          <a:ln/>
        </p:spPr>
        <p:txBody>
          <a:bodyPr wrap="square" rtlCol="0" anchor="ctr"/>
          <a:lstStyle/>
          <a:p>
            <a:pPr marL="0" indent="0" algn="ctr">
              <a:buNone/>
            </a:pPr>
            <a:r>
              <a:rPr lang="en-US" sz="1100" dirty="0">
                <a:solidFill>
                  <a:srgbClr val="FCE4DB"/>
                </a:solidFill>
                <a:latin typeface="Calibri" pitchFamily="34" charset="0"/>
                <a:ea typeface="Calibri" pitchFamily="34" charset="-122"/>
                <a:cs typeface="Calibri" pitchFamily="34" charset="-120"/>
              </a:rPr>
              <a:t>Target classes</a:t>
            </a:r>
            <a:endParaRPr lang="en-US" sz="1100" dirty="0"/>
          </a:p>
        </p:txBody>
      </p:sp>
      <p:sp>
        <p:nvSpPr>
          <p:cNvPr id="13" name="Text 11"/>
          <p:cNvSpPr/>
          <p:nvPr/>
        </p:nvSpPr>
        <p:spPr>
          <a:xfrm>
            <a:off x="6400800" y="1463040"/>
            <a:ext cx="5212080" cy="36576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Parameter Efficiency</a:t>
            </a:r>
            <a:endParaRPr lang="en-US" sz="1600" dirty="0"/>
          </a:p>
        </p:txBody>
      </p:sp>
      <p:sp>
        <p:nvSpPr>
          <p:cNvPr id="14" name="Shape 12"/>
          <p:cNvSpPr/>
          <p:nvPr/>
        </p:nvSpPr>
        <p:spPr>
          <a:xfrm>
            <a:off x="6400800" y="2011680"/>
            <a:ext cx="5029200" cy="594360"/>
          </a:xfrm>
          <a:prstGeom prst="roundRect">
            <a:avLst>
              <a:gd name="adj" fmla="val 9231"/>
            </a:avLst>
          </a:prstGeom>
          <a:solidFill>
            <a:srgbClr val="2D6A4F"/>
          </a:solidFill>
          <a:ln/>
        </p:spPr>
      </p:sp>
      <p:sp>
        <p:nvSpPr>
          <p:cNvPr id="15" name="Text 13"/>
          <p:cNvSpPr/>
          <p:nvPr/>
        </p:nvSpPr>
        <p:spPr>
          <a:xfrm>
            <a:off x="6583680" y="2011680"/>
            <a:ext cx="2743200" cy="5943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MobileNetV2</a:t>
            </a:r>
            <a:endParaRPr lang="en-US" sz="1250" dirty="0"/>
          </a:p>
        </p:txBody>
      </p:sp>
      <p:sp>
        <p:nvSpPr>
          <p:cNvPr id="16" name="Text 14"/>
          <p:cNvSpPr/>
          <p:nvPr/>
        </p:nvSpPr>
        <p:spPr>
          <a:xfrm>
            <a:off x="9144000" y="2011680"/>
            <a:ext cx="2148840" cy="594360"/>
          </a:xfrm>
          <a:prstGeom prst="rect">
            <a:avLst/>
          </a:prstGeom>
          <a:noFill/>
          <a:ln/>
        </p:spPr>
        <p:txBody>
          <a:bodyPr wrap="square" rtlCol="0" anchor="ctr"/>
          <a:lstStyle/>
          <a:p>
            <a:pPr marL="0" indent="0" algn="r">
              <a:buNone/>
            </a:pPr>
            <a:r>
              <a:rPr lang="en-US" sz="1200" dirty="0">
                <a:solidFill>
                  <a:srgbClr val="E8F3ED"/>
                </a:solidFill>
                <a:latin typeface="Calibri" pitchFamily="34" charset="0"/>
                <a:ea typeface="Calibri" pitchFamily="34" charset="-122"/>
                <a:cs typeface="Calibri" pitchFamily="34" charset="-120"/>
              </a:rPr>
              <a:t>3.4M params</a:t>
            </a:r>
            <a:endParaRPr lang="en-US" sz="1200" dirty="0"/>
          </a:p>
        </p:txBody>
      </p:sp>
      <p:sp>
        <p:nvSpPr>
          <p:cNvPr id="17" name="Shape 15"/>
          <p:cNvSpPr/>
          <p:nvPr/>
        </p:nvSpPr>
        <p:spPr>
          <a:xfrm>
            <a:off x="6400800" y="2743200"/>
            <a:ext cx="5029200" cy="594360"/>
          </a:xfrm>
          <a:prstGeom prst="roundRect">
            <a:avLst>
              <a:gd name="adj" fmla="val 9231"/>
            </a:avLst>
          </a:prstGeom>
          <a:solidFill>
            <a:srgbClr val="F3F8F5"/>
          </a:solidFill>
          <a:ln/>
        </p:spPr>
      </p:sp>
      <p:sp>
        <p:nvSpPr>
          <p:cNvPr id="18" name="Text 16"/>
          <p:cNvSpPr/>
          <p:nvPr/>
        </p:nvSpPr>
        <p:spPr>
          <a:xfrm>
            <a:off x="6583680" y="2743200"/>
            <a:ext cx="2743200" cy="594360"/>
          </a:xfrm>
          <a:prstGeom prst="rect">
            <a:avLst/>
          </a:prstGeom>
          <a:noFill/>
          <a:ln/>
        </p:spPr>
        <p:txBody>
          <a:bodyPr wrap="square" rtlCol="0" anchor="ctr"/>
          <a:lstStyle/>
          <a:p>
            <a:pPr marL="0" indent="0">
              <a:buNone/>
            </a:pPr>
            <a:r>
              <a:rPr lang="en-US" sz="1250" b="1" dirty="0">
                <a:solidFill>
                  <a:srgbClr val="1B4332"/>
                </a:solidFill>
                <a:latin typeface="Calibri" pitchFamily="34" charset="0"/>
                <a:ea typeface="Calibri" pitchFamily="34" charset="-122"/>
                <a:cs typeface="Calibri" pitchFamily="34" charset="-120"/>
              </a:rPr>
              <a:t>ResNet-50</a:t>
            </a:r>
            <a:endParaRPr lang="en-US" sz="1250" dirty="0"/>
          </a:p>
        </p:txBody>
      </p:sp>
      <p:sp>
        <p:nvSpPr>
          <p:cNvPr id="19" name="Text 17"/>
          <p:cNvSpPr/>
          <p:nvPr/>
        </p:nvSpPr>
        <p:spPr>
          <a:xfrm>
            <a:off x="9144000" y="2743200"/>
            <a:ext cx="2148840" cy="594360"/>
          </a:xfrm>
          <a:prstGeom prst="rect">
            <a:avLst/>
          </a:prstGeom>
          <a:noFill/>
          <a:ln/>
        </p:spPr>
        <p:txBody>
          <a:bodyPr wrap="square" rtlCol="0" anchor="ctr"/>
          <a:lstStyle/>
          <a:p>
            <a:pPr marL="0" indent="0" algn="r">
              <a:buNone/>
            </a:pPr>
            <a:r>
              <a:rPr lang="en-US" sz="1200" dirty="0">
                <a:solidFill>
                  <a:srgbClr val="6B6B68"/>
                </a:solidFill>
                <a:latin typeface="Calibri" pitchFamily="34" charset="0"/>
                <a:ea typeface="Calibri" pitchFamily="34" charset="-122"/>
                <a:cs typeface="Calibri" pitchFamily="34" charset="-120"/>
              </a:rPr>
              <a:t>25.6M params</a:t>
            </a:r>
            <a:endParaRPr lang="en-US" sz="1200" dirty="0"/>
          </a:p>
        </p:txBody>
      </p:sp>
      <p:sp>
        <p:nvSpPr>
          <p:cNvPr id="20" name="Shape 18"/>
          <p:cNvSpPr/>
          <p:nvPr/>
        </p:nvSpPr>
        <p:spPr>
          <a:xfrm>
            <a:off x="6400800" y="3474720"/>
            <a:ext cx="5029200" cy="594360"/>
          </a:xfrm>
          <a:prstGeom prst="roundRect">
            <a:avLst>
              <a:gd name="adj" fmla="val 9231"/>
            </a:avLst>
          </a:prstGeom>
          <a:solidFill>
            <a:srgbClr val="F3F8F5"/>
          </a:solidFill>
          <a:ln/>
        </p:spPr>
      </p:sp>
      <p:sp>
        <p:nvSpPr>
          <p:cNvPr id="21" name="Text 19"/>
          <p:cNvSpPr/>
          <p:nvPr/>
        </p:nvSpPr>
        <p:spPr>
          <a:xfrm>
            <a:off x="6583680" y="3474720"/>
            <a:ext cx="2743200" cy="594360"/>
          </a:xfrm>
          <a:prstGeom prst="rect">
            <a:avLst/>
          </a:prstGeom>
          <a:noFill/>
          <a:ln/>
        </p:spPr>
        <p:txBody>
          <a:bodyPr wrap="square" rtlCol="0" anchor="ctr"/>
          <a:lstStyle/>
          <a:p>
            <a:pPr marL="0" indent="0">
              <a:buNone/>
            </a:pPr>
            <a:r>
              <a:rPr lang="en-US" sz="1250" b="1" dirty="0">
                <a:solidFill>
                  <a:srgbClr val="1B4332"/>
                </a:solidFill>
                <a:latin typeface="Calibri" pitchFamily="34" charset="0"/>
                <a:ea typeface="Calibri" pitchFamily="34" charset="-122"/>
                <a:cs typeface="Calibri" pitchFamily="34" charset="-120"/>
              </a:rPr>
              <a:t>VGG-16</a:t>
            </a:r>
            <a:endParaRPr lang="en-US" sz="1250" dirty="0"/>
          </a:p>
        </p:txBody>
      </p:sp>
      <p:sp>
        <p:nvSpPr>
          <p:cNvPr id="22" name="Text 20"/>
          <p:cNvSpPr/>
          <p:nvPr/>
        </p:nvSpPr>
        <p:spPr>
          <a:xfrm>
            <a:off x="9144000" y="3474720"/>
            <a:ext cx="2148840" cy="594360"/>
          </a:xfrm>
          <a:prstGeom prst="rect">
            <a:avLst/>
          </a:prstGeom>
          <a:noFill/>
          <a:ln/>
        </p:spPr>
        <p:txBody>
          <a:bodyPr wrap="square" rtlCol="0" anchor="ctr"/>
          <a:lstStyle/>
          <a:p>
            <a:pPr marL="0" indent="0" algn="r">
              <a:buNone/>
            </a:pPr>
            <a:r>
              <a:rPr lang="en-US" sz="1200" dirty="0">
                <a:solidFill>
                  <a:srgbClr val="6B6B68"/>
                </a:solidFill>
                <a:latin typeface="Calibri" pitchFamily="34" charset="0"/>
                <a:ea typeface="Calibri" pitchFamily="34" charset="-122"/>
                <a:cs typeface="Calibri" pitchFamily="34" charset="-120"/>
              </a:rPr>
              <a:t>138M params</a:t>
            </a:r>
            <a:endParaRPr lang="en-US" sz="1200" dirty="0"/>
          </a:p>
        </p:txBody>
      </p:sp>
      <p:sp>
        <p:nvSpPr>
          <p:cNvPr id="23" name="Text 21"/>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24" name="Text 22"/>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Transfer Learning Strategy</a:t>
            </a:r>
            <a:endParaRPr lang="en-US" sz="3000" dirty="0"/>
          </a:p>
        </p:txBody>
      </p:sp>
      <p:sp>
        <p:nvSpPr>
          <p:cNvPr id="3" name="Shape 1"/>
          <p:cNvSpPr/>
          <p:nvPr/>
        </p:nvSpPr>
        <p:spPr>
          <a:xfrm>
            <a:off x="548640" y="1645920"/>
            <a:ext cx="548640" cy="548640"/>
          </a:xfrm>
          <a:prstGeom prst="ellipse">
            <a:avLst/>
          </a:prstGeom>
          <a:solidFill>
            <a:srgbClr val="2D6A4F"/>
          </a:solidFill>
          <a:ln/>
        </p:spPr>
      </p:sp>
      <p:sp>
        <p:nvSpPr>
          <p:cNvPr id="4" name="Text 2"/>
          <p:cNvSpPr/>
          <p:nvPr/>
        </p:nvSpPr>
        <p:spPr>
          <a:xfrm>
            <a:off x="548640" y="1645920"/>
            <a:ext cx="548640" cy="548640"/>
          </a:xfrm>
          <a:prstGeom prst="rect">
            <a:avLst/>
          </a:prstGeom>
          <a:noFill/>
          <a:ln/>
        </p:spPr>
        <p:txBody>
          <a:bodyPr wrap="square" rtlCol="0" anchor="ctr"/>
          <a:lstStyle/>
          <a:p>
            <a:pPr marL="0" indent="0" algn="ctr">
              <a:buNone/>
            </a:pPr>
            <a:r>
              <a:rPr lang="en-US" sz="1680" b="1" dirty="0">
                <a:solidFill>
                  <a:srgbClr val="FFFFFF"/>
                </a:solidFill>
                <a:latin typeface="Cambria" pitchFamily="34" charset="0"/>
                <a:ea typeface="Cambria" pitchFamily="34" charset="-122"/>
                <a:cs typeface="Cambria" pitchFamily="34" charset="-120"/>
              </a:rPr>
              <a:t>1</a:t>
            </a:r>
            <a:endParaRPr lang="en-US" sz="1680" dirty="0"/>
          </a:p>
        </p:txBody>
      </p:sp>
      <p:sp>
        <p:nvSpPr>
          <p:cNvPr id="5" name="Text 3"/>
          <p:cNvSpPr/>
          <p:nvPr/>
        </p:nvSpPr>
        <p:spPr>
          <a:xfrm>
            <a:off x="1325880" y="1600200"/>
            <a:ext cx="9601200" cy="36576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Freeze base extractor</a:t>
            </a:r>
            <a:endParaRPr lang="en-US" sz="1500" dirty="0"/>
          </a:p>
        </p:txBody>
      </p:sp>
      <p:sp>
        <p:nvSpPr>
          <p:cNvPr id="6" name="Text 4"/>
          <p:cNvSpPr/>
          <p:nvPr/>
        </p:nvSpPr>
        <p:spPr>
          <a:xfrm>
            <a:off x="1325880" y="1993392"/>
            <a:ext cx="9601200" cy="502920"/>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Base feature extractor frozen to retain edge and shape filters learned from ImageNet.</a:t>
            </a:r>
            <a:endParaRPr lang="en-US" sz="1250" dirty="0"/>
          </a:p>
        </p:txBody>
      </p:sp>
      <p:sp>
        <p:nvSpPr>
          <p:cNvPr id="7" name="Shape 5"/>
          <p:cNvSpPr/>
          <p:nvPr/>
        </p:nvSpPr>
        <p:spPr>
          <a:xfrm>
            <a:off x="822960" y="2240280"/>
            <a:ext cx="0" cy="594360"/>
          </a:xfrm>
          <a:prstGeom prst="line">
            <a:avLst/>
          </a:prstGeom>
          <a:noFill/>
          <a:ln w="19050">
            <a:solidFill>
              <a:srgbClr val="95D5B2"/>
            </a:solidFill>
            <a:prstDash val="dash"/>
          </a:ln>
        </p:spPr>
      </p:sp>
      <p:sp>
        <p:nvSpPr>
          <p:cNvPr id="8" name="Shape 6"/>
          <p:cNvSpPr/>
          <p:nvPr/>
        </p:nvSpPr>
        <p:spPr>
          <a:xfrm>
            <a:off x="548640" y="3063240"/>
            <a:ext cx="548640" cy="548640"/>
          </a:xfrm>
          <a:prstGeom prst="ellipse">
            <a:avLst/>
          </a:prstGeom>
          <a:solidFill>
            <a:srgbClr val="2D6A4F"/>
          </a:solidFill>
          <a:ln/>
        </p:spPr>
      </p:sp>
      <p:sp>
        <p:nvSpPr>
          <p:cNvPr id="9" name="Text 7"/>
          <p:cNvSpPr/>
          <p:nvPr/>
        </p:nvSpPr>
        <p:spPr>
          <a:xfrm>
            <a:off x="548640" y="3063240"/>
            <a:ext cx="548640" cy="548640"/>
          </a:xfrm>
          <a:prstGeom prst="rect">
            <a:avLst/>
          </a:prstGeom>
          <a:noFill/>
          <a:ln/>
        </p:spPr>
        <p:txBody>
          <a:bodyPr wrap="square" rtlCol="0" anchor="ctr"/>
          <a:lstStyle/>
          <a:p>
            <a:pPr marL="0" indent="0" algn="ctr">
              <a:buNone/>
            </a:pPr>
            <a:r>
              <a:rPr lang="en-US" sz="1680" b="1" dirty="0">
                <a:solidFill>
                  <a:srgbClr val="FFFFFF"/>
                </a:solidFill>
                <a:latin typeface="Cambria" pitchFamily="34" charset="0"/>
                <a:ea typeface="Cambria" pitchFamily="34" charset="-122"/>
                <a:cs typeface="Cambria" pitchFamily="34" charset="-120"/>
              </a:rPr>
              <a:t>2</a:t>
            </a:r>
            <a:endParaRPr lang="en-US" sz="1680" dirty="0"/>
          </a:p>
        </p:txBody>
      </p:sp>
      <p:sp>
        <p:nvSpPr>
          <p:cNvPr id="10" name="Text 8"/>
          <p:cNvSpPr/>
          <p:nvPr/>
        </p:nvSpPr>
        <p:spPr>
          <a:xfrm>
            <a:off x="1325880" y="3017520"/>
            <a:ext cx="9601200" cy="36576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Replace classifier head</a:t>
            </a:r>
            <a:endParaRPr lang="en-US" sz="1500" dirty="0"/>
          </a:p>
        </p:txBody>
      </p:sp>
      <p:sp>
        <p:nvSpPr>
          <p:cNvPr id="11" name="Text 9"/>
          <p:cNvSpPr/>
          <p:nvPr/>
        </p:nvSpPr>
        <p:spPr>
          <a:xfrm>
            <a:off x="1325880" y="3410712"/>
            <a:ext cx="9601200" cy="502920"/>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Standard classifier head replaced with a custom Dropout (p=0.2) and Linear layer (1280 → 10 classes).</a:t>
            </a:r>
            <a:endParaRPr lang="en-US" sz="1250" dirty="0"/>
          </a:p>
        </p:txBody>
      </p:sp>
      <p:sp>
        <p:nvSpPr>
          <p:cNvPr id="12" name="Shape 10"/>
          <p:cNvSpPr/>
          <p:nvPr/>
        </p:nvSpPr>
        <p:spPr>
          <a:xfrm>
            <a:off x="822960" y="3657600"/>
            <a:ext cx="0" cy="594360"/>
          </a:xfrm>
          <a:prstGeom prst="line">
            <a:avLst/>
          </a:prstGeom>
          <a:noFill/>
          <a:ln w="19050">
            <a:solidFill>
              <a:srgbClr val="95D5B2"/>
            </a:solidFill>
            <a:prstDash val="dash"/>
          </a:ln>
        </p:spPr>
      </p:sp>
      <p:sp>
        <p:nvSpPr>
          <p:cNvPr id="13" name="Shape 11"/>
          <p:cNvSpPr/>
          <p:nvPr/>
        </p:nvSpPr>
        <p:spPr>
          <a:xfrm>
            <a:off x="548640" y="4480560"/>
            <a:ext cx="548640" cy="548640"/>
          </a:xfrm>
          <a:prstGeom prst="ellipse">
            <a:avLst/>
          </a:prstGeom>
          <a:solidFill>
            <a:srgbClr val="2D6A4F"/>
          </a:solidFill>
          <a:ln/>
        </p:spPr>
      </p:sp>
      <p:sp>
        <p:nvSpPr>
          <p:cNvPr id="14" name="Text 12"/>
          <p:cNvSpPr/>
          <p:nvPr/>
        </p:nvSpPr>
        <p:spPr>
          <a:xfrm>
            <a:off x="548640" y="4480560"/>
            <a:ext cx="548640" cy="548640"/>
          </a:xfrm>
          <a:prstGeom prst="rect">
            <a:avLst/>
          </a:prstGeom>
          <a:noFill/>
          <a:ln/>
        </p:spPr>
        <p:txBody>
          <a:bodyPr wrap="square" rtlCol="0" anchor="ctr"/>
          <a:lstStyle/>
          <a:p>
            <a:pPr marL="0" indent="0" algn="ctr">
              <a:buNone/>
            </a:pPr>
            <a:r>
              <a:rPr lang="en-US" sz="1680" b="1" dirty="0">
                <a:solidFill>
                  <a:srgbClr val="FFFFFF"/>
                </a:solidFill>
                <a:latin typeface="Cambria" pitchFamily="34" charset="0"/>
                <a:ea typeface="Cambria" pitchFamily="34" charset="-122"/>
                <a:cs typeface="Cambria" pitchFamily="34" charset="-120"/>
              </a:rPr>
              <a:t>3</a:t>
            </a:r>
            <a:endParaRPr lang="en-US" sz="1680" dirty="0"/>
          </a:p>
        </p:txBody>
      </p:sp>
      <p:sp>
        <p:nvSpPr>
          <p:cNvPr id="15" name="Text 13"/>
          <p:cNvSpPr/>
          <p:nvPr/>
        </p:nvSpPr>
        <p:spPr>
          <a:xfrm>
            <a:off x="1325880" y="4434840"/>
            <a:ext cx="9601200" cy="36576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Fine-tune on waste data</a:t>
            </a:r>
            <a:endParaRPr lang="en-US" sz="1500" dirty="0"/>
          </a:p>
        </p:txBody>
      </p:sp>
      <p:sp>
        <p:nvSpPr>
          <p:cNvPr id="16" name="Text 14"/>
          <p:cNvSpPr/>
          <p:nvPr/>
        </p:nvSpPr>
        <p:spPr>
          <a:xfrm>
            <a:off x="1325880" y="4828032"/>
            <a:ext cx="9601200" cy="502920"/>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Classifier head parameters unfrozen and trained on waste datasets (Garbage Classification / TrashNet).</a:t>
            </a:r>
            <a:endParaRPr lang="en-US" sz="1250" dirty="0"/>
          </a:p>
        </p:txBody>
      </p:sp>
      <p:sp>
        <p:nvSpPr>
          <p:cNvPr id="17" name="Text 15"/>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18" name="Text 16"/>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Training Configuration</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737360" y="1554480"/>
          <a:ext cx="8686800" cy="4480560"/>
        </p:xfrm>
        <a:graphic>
          <a:graphicData uri="http://schemas.openxmlformats.org/drawingml/2006/table">
            <a:tbl>
              <a:tblPr/>
              <a:tblGrid>
                <a:gridCol w="43434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49784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Parameter</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1B4332"/>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1B4332"/>
                    </a:solidFill>
                  </a:tcPr>
                </a:tc>
                <a:extLst>
                  <a:ext uri="{0D108BD9-81ED-4DB2-BD59-A6C34878D82A}">
                    <a16:rowId xmlns:a16="http://schemas.microsoft.com/office/drawing/2014/main" val="10000"/>
                  </a:ext>
                </a:extLst>
              </a:tr>
              <a:tr h="49784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Framework</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PyTorch</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784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Optimizer</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3F8F5"/>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Adam</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3F8F5"/>
                    </a:solidFill>
                  </a:tcPr>
                </a:tc>
                <a:extLst>
                  <a:ext uri="{0D108BD9-81ED-4DB2-BD59-A6C34878D82A}">
                    <a16:rowId xmlns:a16="http://schemas.microsoft.com/office/drawing/2014/main" val="10002"/>
                  </a:ext>
                </a:extLst>
              </a:tr>
              <a:tr h="49784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Learning rate</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1e-4 (head), 1e-5 (fine-tune)</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784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Batch size</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3F8F5"/>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32</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3F8F5"/>
                    </a:solidFill>
                  </a:tcPr>
                </a:tc>
                <a:extLst>
                  <a:ext uri="{0D108BD9-81ED-4DB2-BD59-A6C34878D82A}">
                    <a16:rowId xmlns:a16="http://schemas.microsoft.com/office/drawing/2014/main" val="10004"/>
                  </a:ext>
                </a:extLst>
              </a:tr>
              <a:tr h="49784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Epochs</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15 (head) + 10 (fine-tune)</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784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Loss function</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3F8F5"/>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Categorical Cross-Entropy</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3F8F5"/>
                    </a:solidFill>
                  </a:tcPr>
                </a:tc>
                <a:extLst>
                  <a:ext uri="{0D108BD9-81ED-4DB2-BD59-A6C34878D82A}">
                    <a16:rowId xmlns:a16="http://schemas.microsoft.com/office/drawing/2014/main" val="10006"/>
                  </a:ext>
                </a:extLst>
              </a:tr>
              <a:tr h="49784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Dropout</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p = 0.2</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97840">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Early stopping</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3F8F5"/>
                    </a:solidFill>
                  </a:tcPr>
                </a:tc>
                <a:tc>
                  <a:txBody>
                    <a:bodyPr/>
                    <a:lstStyle/>
                    <a:p>
                      <a:pPr marL="0" indent="0" algn="l">
                        <a:buNone/>
                      </a:pPr>
                      <a:r>
                        <a:rPr lang="en-US" sz="1300" dirty="0">
                          <a:solidFill>
                            <a:srgbClr val="3A3A38"/>
                          </a:solidFill>
                          <a:latin typeface="Calibri" pitchFamily="34" charset="0"/>
                          <a:ea typeface="Calibri" pitchFamily="34" charset="-122"/>
                          <a:cs typeface="Calibri" pitchFamily="34" charset="-120"/>
                        </a:rPr>
                        <a:t>Patience = 5 (val_accuracy)</a:t>
                      </a:r>
                      <a:endParaRPr lang="en-US" sz="1300" dirty="0">
                        <a:latin typeface="Calibri" charset="0"/>
                        <a:ea typeface="Calibri" charset="0"/>
                        <a:cs typeface="Calibri" charset="0"/>
                      </a:endParaRPr>
                    </a:p>
                  </a:txBody>
                  <a:tcPr>
                    <a:lnL w="6350" cap="flat" cmpd="sng" algn="ctr">
                      <a:solidFill>
                        <a:srgbClr val="E5E5E0"/>
                      </a:solidFill>
                      <a:prstDash val="solid"/>
                      <a:round/>
                      <a:headEnd type="none" w="med" len="med"/>
                      <a:tailEnd type="none" w="med" len="med"/>
                    </a:lnL>
                    <a:lnR w="6350" cap="flat" cmpd="sng" algn="ctr">
                      <a:solidFill>
                        <a:srgbClr val="E5E5E0"/>
                      </a:solidFill>
                      <a:prstDash val="solid"/>
                      <a:round/>
                      <a:headEnd type="none" w="med" len="med"/>
                      <a:tailEnd type="none" w="med" len="med"/>
                    </a:lnR>
                    <a:lnT w="6350" cap="flat" cmpd="sng" algn="ctr">
                      <a:solidFill>
                        <a:srgbClr val="E5E5E0"/>
                      </a:solidFill>
                      <a:prstDash val="solid"/>
                      <a:round/>
                      <a:headEnd type="none" w="med" len="med"/>
                      <a:tailEnd type="none" w="med" len="med"/>
                    </a:lnT>
                    <a:lnB w="6350" cap="flat" cmpd="sng" algn="ctr">
                      <a:solidFill>
                        <a:srgbClr val="E5E5E0"/>
                      </a:solidFill>
                      <a:prstDash val="solid"/>
                      <a:round/>
                      <a:headEnd type="none" w="med" len="med"/>
                      <a:tailEnd type="none" w="med" len="med"/>
                    </a:lnB>
                    <a:solidFill>
                      <a:srgbClr val="F3F8F5"/>
                    </a:solidFill>
                  </a:tcPr>
                </a:tc>
                <a:extLst>
                  <a:ext uri="{0D108BD9-81ED-4DB2-BD59-A6C34878D82A}">
                    <a16:rowId xmlns:a16="http://schemas.microsoft.com/office/drawing/2014/main" val="10008"/>
                  </a:ext>
                </a:extLst>
              </a:tr>
            </a:tbl>
          </a:graphicData>
        </a:graphic>
      </p:graphicFrame>
      <p:sp>
        <p:nvSpPr>
          <p:cNvPr id="4" name="Text 1"/>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5" name="Text 2"/>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Explainable AI — Grad-CAM Mechanism</a:t>
            </a:r>
            <a:endParaRPr lang="en-US" sz="3000" dirty="0"/>
          </a:p>
        </p:txBody>
      </p:sp>
      <p:sp>
        <p:nvSpPr>
          <p:cNvPr id="3" name="Text 1"/>
          <p:cNvSpPr/>
          <p:nvPr/>
        </p:nvSpPr>
        <p:spPr>
          <a:xfrm>
            <a:off x="548640" y="1371600"/>
            <a:ext cx="10058400" cy="365760"/>
          </a:xfrm>
          <a:prstGeom prst="rect">
            <a:avLst/>
          </a:prstGeom>
          <a:noFill/>
          <a:ln/>
        </p:spPr>
        <p:txBody>
          <a:bodyPr wrap="square" rtlCol="0" anchor="ctr"/>
          <a:lstStyle/>
          <a:p>
            <a:pPr marL="0" indent="0">
              <a:buNone/>
            </a:pPr>
            <a:r>
              <a:rPr lang="en-US" sz="1400" i="1" dirty="0">
                <a:solidFill>
                  <a:srgbClr val="6B6B68"/>
                </a:solidFill>
                <a:latin typeface="Calibri" pitchFamily="34" charset="0"/>
                <a:ea typeface="Calibri" pitchFamily="34" charset="-122"/>
                <a:cs typeface="Calibri" pitchFamily="34" charset="-120"/>
              </a:rPr>
              <a:t>Gradient-weighted Class Activation Mapping</a:t>
            </a:r>
            <a:endParaRPr lang="en-US" sz="1400" dirty="0"/>
          </a:p>
        </p:txBody>
      </p:sp>
      <p:sp>
        <p:nvSpPr>
          <p:cNvPr id="4" name="Shape 2"/>
          <p:cNvSpPr/>
          <p:nvPr/>
        </p:nvSpPr>
        <p:spPr>
          <a:xfrm>
            <a:off x="548640" y="1965960"/>
            <a:ext cx="11091672" cy="868680"/>
          </a:xfrm>
          <a:prstGeom prst="roundRect">
            <a:avLst>
              <a:gd name="adj" fmla="val 8421"/>
            </a:avLst>
          </a:prstGeom>
          <a:solidFill>
            <a:srgbClr val="F3F8F5"/>
          </a:solidFill>
          <a:ln/>
        </p:spPr>
      </p:sp>
      <p:sp>
        <p:nvSpPr>
          <p:cNvPr id="5" name="Shape 3"/>
          <p:cNvSpPr/>
          <p:nvPr/>
        </p:nvSpPr>
        <p:spPr>
          <a:xfrm>
            <a:off x="822960" y="2167128"/>
            <a:ext cx="457200" cy="457200"/>
          </a:xfrm>
          <a:prstGeom prst="ellipse">
            <a:avLst/>
          </a:prstGeom>
          <a:solidFill>
            <a:srgbClr val="2D6A4F"/>
          </a:solidFill>
          <a:ln/>
        </p:spPr>
      </p:sp>
      <p:sp>
        <p:nvSpPr>
          <p:cNvPr id="6" name="Text 4"/>
          <p:cNvSpPr/>
          <p:nvPr/>
        </p:nvSpPr>
        <p:spPr>
          <a:xfrm>
            <a:off x="822960" y="2167128"/>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508760" y="2057400"/>
            <a:ext cx="2743200" cy="320040"/>
          </a:xfrm>
          <a:prstGeom prst="rect">
            <a:avLst/>
          </a:prstGeom>
          <a:noFill/>
          <a:ln/>
        </p:spPr>
        <p:txBody>
          <a:bodyPr wrap="square" rtlCol="0" anchor="ctr"/>
          <a:lstStyle/>
          <a:p>
            <a:pPr marL="0" indent="0">
              <a:buNone/>
            </a:pPr>
            <a:r>
              <a:rPr lang="en-US" sz="1300" b="1" dirty="0">
                <a:solidFill>
                  <a:srgbClr val="1B4332"/>
                </a:solidFill>
                <a:latin typeface="Cambria" pitchFamily="34" charset="0"/>
                <a:ea typeface="Cambria" pitchFamily="34" charset="-122"/>
                <a:cs typeface="Cambria" pitchFamily="34" charset="-120"/>
              </a:rPr>
              <a:t>Target layer</a:t>
            </a:r>
            <a:endParaRPr lang="en-US" sz="1300" dirty="0"/>
          </a:p>
        </p:txBody>
      </p:sp>
      <p:sp>
        <p:nvSpPr>
          <p:cNvPr id="8" name="Text 6"/>
          <p:cNvSpPr/>
          <p:nvPr/>
        </p:nvSpPr>
        <p:spPr>
          <a:xfrm>
            <a:off x="1508760" y="2377440"/>
            <a:ext cx="9784080" cy="365760"/>
          </a:xfrm>
          <a:prstGeom prst="rect">
            <a:avLst/>
          </a:prstGeom>
          <a:noFill/>
          <a:ln/>
        </p:spPr>
        <p:txBody>
          <a:bodyPr wrap="square" rtlCol="0" anchor="ctr"/>
          <a:lstStyle/>
          <a:p>
            <a:pPr marL="0" indent="0">
              <a:buNone/>
            </a:pPr>
            <a:r>
              <a:rPr lang="en-US" sz="1150" dirty="0">
                <a:solidFill>
                  <a:srgbClr val="3A3A38"/>
                </a:solidFill>
                <a:latin typeface="Calibri" pitchFamily="34" charset="0"/>
                <a:ea typeface="Calibri" pitchFamily="34" charset="-122"/>
                <a:cs typeface="Calibri" pitchFamily="34" charset="-120"/>
              </a:rPr>
              <a:t>Targets the final convolutional layer: base_model.features[18]</a:t>
            </a:r>
            <a:endParaRPr lang="en-US" sz="1150" dirty="0"/>
          </a:p>
        </p:txBody>
      </p:sp>
      <p:sp>
        <p:nvSpPr>
          <p:cNvPr id="9" name="Shape 7"/>
          <p:cNvSpPr/>
          <p:nvPr/>
        </p:nvSpPr>
        <p:spPr>
          <a:xfrm>
            <a:off x="548640" y="2990088"/>
            <a:ext cx="11091672" cy="868680"/>
          </a:xfrm>
          <a:prstGeom prst="roundRect">
            <a:avLst>
              <a:gd name="adj" fmla="val 8421"/>
            </a:avLst>
          </a:prstGeom>
          <a:solidFill>
            <a:srgbClr val="F3F8F5"/>
          </a:solidFill>
          <a:ln/>
        </p:spPr>
      </p:sp>
      <p:sp>
        <p:nvSpPr>
          <p:cNvPr id="10" name="Shape 8"/>
          <p:cNvSpPr/>
          <p:nvPr/>
        </p:nvSpPr>
        <p:spPr>
          <a:xfrm>
            <a:off x="822960" y="3191256"/>
            <a:ext cx="457200" cy="457200"/>
          </a:xfrm>
          <a:prstGeom prst="ellipse">
            <a:avLst/>
          </a:prstGeom>
          <a:solidFill>
            <a:srgbClr val="2D6A4F"/>
          </a:solidFill>
          <a:ln/>
        </p:spPr>
      </p:sp>
      <p:sp>
        <p:nvSpPr>
          <p:cNvPr id="11" name="Text 9"/>
          <p:cNvSpPr/>
          <p:nvPr/>
        </p:nvSpPr>
        <p:spPr>
          <a:xfrm>
            <a:off x="822960" y="3191256"/>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1508760" y="3081528"/>
            <a:ext cx="2743200" cy="320040"/>
          </a:xfrm>
          <a:prstGeom prst="rect">
            <a:avLst/>
          </a:prstGeom>
          <a:noFill/>
          <a:ln/>
        </p:spPr>
        <p:txBody>
          <a:bodyPr wrap="square" rtlCol="0" anchor="ctr"/>
          <a:lstStyle/>
          <a:p>
            <a:pPr marL="0" indent="0">
              <a:buNone/>
            </a:pPr>
            <a:r>
              <a:rPr lang="en-US" sz="1300" b="1" dirty="0">
                <a:solidFill>
                  <a:srgbClr val="1B4332"/>
                </a:solidFill>
                <a:latin typeface="Cambria" pitchFamily="34" charset="0"/>
                <a:ea typeface="Cambria" pitchFamily="34" charset="-122"/>
                <a:cs typeface="Cambria" pitchFamily="34" charset="-120"/>
              </a:rPr>
              <a:t>Compute gradients</a:t>
            </a:r>
            <a:endParaRPr lang="en-US" sz="1300" dirty="0"/>
          </a:p>
        </p:txBody>
      </p:sp>
      <p:sp>
        <p:nvSpPr>
          <p:cNvPr id="13" name="Text 11"/>
          <p:cNvSpPr/>
          <p:nvPr/>
        </p:nvSpPr>
        <p:spPr>
          <a:xfrm>
            <a:off x="1508760" y="3401568"/>
            <a:ext cx="9784080" cy="365760"/>
          </a:xfrm>
          <a:prstGeom prst="rect">
            <a:avLst/>
          </a:prstGeom>
          <a:noFill/>
          <a:ln/>
        </p:spPr>
        <p:txBody>
          <a:bodyPr wrap="square" rtlCol="0" anchor="ctr"/>
          <a:lstStyle/>
          <a:p>
            <a:pPr marL="0" indent="0">
              <a:buNone/>
            </a:pPr>
            <a:r>
              <a:rPr lang="en-US" sz="1150" dirty="0">
                <a:solidFill>
                  <a:srgbClr val="3A3A38"/>
                </a:solidFill>
                <a:latin typeface="Calibri" pitchFamily="34" charset="0"/>
                <a:ea typeface="Calibri" pitchFamily="34" charset="-122"/>
                <a:cs typeface="Calibri" pitchFamily="34" charset="-120"/>
              </a:rPr>
              <a:t>Computes gradients of the score for class c with respect to feature map activations</a:t>
            </a:r>
            <a:endParaRPr lang="en-US" sz="1150" dirty="0"/>
          </a:p>
        </p:txBody>
      </p:sp>
      <p:sp>
        <p:nvSpPr>
          <p:cNvPr id="14" name="Shape 12"/>
          <p:cNvSpPr/>
          <p:nvPr/>
        </p:nvSpPr>
        <p:spPr>
          <a:xfrm>
            <a:off x="548640" y="4014216"/>
            <a:ext cx="11091672" cy="868680"/>
          </a:xfrm>
          <a:prstGeom prst="roundRect">
            <a:avLst>
              <a:gd name="adj" fmla="val 8421"/>
            </a:avLst>
          </a:prstGeom>
          <a:solidFill>
            <a:srgbClr val="F3F8F5"/>
          </a:solidFill>
          <a:ln/>
        </p:spPr>
      </p:sp>
      <p:sp>
        <p:nvSpPr>
          <p:cNvPr id="15" name="Shape 13"/>
          <p:cNvSpPr/>
          <p:nvPr/>
        </p:nvSpPr>
        <p:spPr>
          <a:xfrm>
            <a:off x="822960" y="4215384"/>
            <a:ext cx="457200" cy="457200"/>
          </a:xfrm>
          <a:prstGeom prst="ellipse">
            <a:avLst/>
          </a:prstGeom>
          <a:solidFill>
            <a:srgbClr val="2D6A4F"/>
          </a:solidFill>
          <a:ln/>
        </p:spPr>
      </p:sp>
      <p:sp>
        <p:nvSpPr>
          <p:cNvPr id="16" name="Text 14"/>
          <p:cNvSpPr/>
          <p:nvPr/>
        </p:nvSpPr>
        <p:spPr>
          <a:xfrm>
            <a:off x="822960" y="4215384"/>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508760" y="4105656"/>
            <a:ext cx="2743200" cy="320040"/>
          </a:xfrm>
          <a:prstGeom prst="rect">
            <a:avLst/>
          </a:prstGeom>
          <a:noFill/>
          <a:ln/>
        </p:spPr>
        <p:txBody>
          <a:bodyPr wrap="square" rtlCol="0" anchor="ctr"/>
          <a:lstStyle/>
          <a:p>
            <a:pPr marL="0" indent="0">
              <a:buNone/>
            </a:pPr>
            <a:r>
              <a:rPr lang="en-US" sz="1300" b="1" dirty="0">
                <a:solidFill>
                  <a:srgbClr val="1B4332"/>
                </a:solidFill>
                <a:latin typeface="Cambria" pitchFamily="34" charset="0"/>
                <a:ea typeface="Cambria" pitchFamily="34" charset="-122"/>
                <a:cs typeface="Cambria" pitchFamily="34" charset="-120"/>
              </a:rPr>
              <a:t>Global average pooling</a:t>
            </a:r>
            <a:endParaRPr lang="en-US" sz="1300" dirty="0"/>
          </a:p>
        </p:txBody>
      </p:sp>
      <p:sp>
        <p:nvSpPr>
          <p:cNvPr id="18" name="Text 16"/>
          <p:cNvSpPr/>
          <p:nvPr/>
        </p:nvSpPr>
        <p:spPr>
          <a:xfrm>
            <a:off x="1508760" y="4425696"/>
            <a:ext cx="9784080" cy="365760"/>
          </a:xfrm>
          <a:prstGeom prst="rect">
            <a:avLst/>
          </a:prstGeom>
          <a:noFill/>
          <a:ln/>
        </p:spPr>
        <p:txBody>
          <a:bodyPr wrap="square" rtlCol="0" anchor="ctr"/>
          <a:lstStyle/>
          <a:p>
            <a:pPr marL="0" indent="0">
              <a:buNone/>
            </a:pPr>
            <a:r>
              <a:rPr lang="en-US" sz="1150" dirty="0">
                <a:solidFill>
                  <a:srgbClr val="3A3A38"/>
                </a:solidFill>
                <a:latin typeface="Calibri" pitchFamily="34" charset="0"/>
                <a:ea typeface="Calibri" pitchFamily="34" charset="-122"/>
                <a:cs typeface="Calibri" pitchFamily="34" charset="-120"/>
              </a:rPr>
              <a:t>Performs global average pooling to obtain channel weights</a:t>
            </a:r>
            <a:endParaRPr lang="en-US" sz="1150" dirty="0"/>
          </a:p>
        </p:txBody>
      </p:sp>
      <p:sp>
        <p:nvSpPr>
          <p:cNvPr id="19" name="Shape 17"/>
          <p:cNvSpPr/>
          <p:nvPr/>
        </p:nvSpPr>
        <p:spPr>
          <a:xfrm>
            <a:off x="548640" y="5038344"/>
            <a:ext cx="11091672" cy="868680"/>
          </a:xfrm>
          <a:prstGeom prst="roundRect">
            <a:avLst>
              <a:gd name="adj" fmla="val 8421"/>
            </a:avLst>
          </a:prstGeom>
          <a:solidFill>
            <a:srgbClr val="F3F8F5"/>
          </a:solidFill>
          <a:ln/>
        </p:spPr>
      </p:sp>
      <p:sp>
        <p:nvSpPr>
          <p:cNvPr id="20" name="Shape 18"/>
          <p:cNvSpPr/>
          <p:nvPr/>
        </p:nvSpPr>
        <p:spPr>
          <a:xfrm>
            <a:off x="822960" y="5239512"/>
            <a:ext cx="457200" cy="457200"/>
          </a:xfrm>
          <a:prstGeom prst="ellipse">
            <a:avLst/>
          </a:prstGeom>
          <a:solidFill>
            <a:srgbClr val="2D6A4F"/>
          </a:solidFill>
          <a:ln/>
        </p:spPr>
      </p:sp>
      <p:sp>
        <p:nvSpPr>
          <p:cNvPr id="21" name="Text 19"/>
          <p:cNvSpPr/>
          <p:nvPr/>
        </p:nvSpPr>
        <p:spPr>
          <a:xfrm>
            <a:off x="822960" y="5239512"/>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508760" y="5129784"/>
            <a:ext cx="2743200" cy="320040"/>
          </a:xfrm>
          <a:prstGeom prst="rect">
            <a:avLst/>
          </a:prstGeom>
          <a:noFill/>
          <a:ln/>
        </p:spPr>
        <p:txBody>
          <a:bodyPr wrap="square" rtlCol="0" anchor="ctr"/>
          <a:lstStyle/>
          <a:p>
            <a:pPr marL="0" indent="0">
              <a:buNone/>
            </a:pPr>
            <a:r>
              <a:rPr lang="en-US" sz="1300" b="1" dirty="0">
                <a:solidFill>
                  <a:srgbClr val="1B4332"/>
                </a:solidFill>
                <a:latin typeface="Cambria" pitchFamily="34" charset="0"/>
                <a:ea typeface="Cambria" pitchFamily="34" charset="-122"/>
                <a:cs typeface="Cambria" pitchFamily="34" charset="-120"/>
              </a:rPr>
              <a:t>Generate heatmap</a:t>
            </a:r>
            <a:endParaRPr lang="en-US" sz="1300" dirty="0"/>
          </a:p>
        </p:txBody>
      </p:sp>
      <p:sp>
        <p:nvSpPr>
          <p:cNvPr id="23" name="Text 21"/>
          <p:cNvSpPr/>
          <p:nvPr/>
        </p:nvSpPr>
        <p:spPr>
          <a:xfrm>
            <a:off x="1508760" y="5449824"/>
            <a:ext cx="9784080" cy="365760"/>
          </a:xfrm>
          <a:prstGeom prst="rect">
            <a:avLst/>
          </a:prstGeom>
          <a:noFill/>
          <a:ln/>
        </p:spPr>
        <p:txBody>
          <a:bodyPr wrap="square" rtlCol="0" anchor="ctr"/>
          <a:lstStyle/>
          <a:p>
            <a:pPr marL="0" indent="0">
              <a:buNone/>
            </a:pPr>
            <a:r>
              <a:rPr lang="en-US" sz="1150" dirty="0">
                <a:solidFill>
                  <a:srgbClr val="3A3A38"/>
                </a:solidFill>
                <a:latin typeface="Calibri" pitchFamily="34" charset="0"/>
                <a:ea typeface="Calibri" pitchFamily="34" charset="-122"/>
                <a:cs typeface="Calibri" pitchFamily="34" charset="-120"/>
              </a:rPr>
              <a:t>Generates a coarse heatmap highlighting dominant visual features</a:t>
            </a:r>
            <a:endParaRPr lang="en-US" sz="1150" dirty="0"/>
          </a:p>
        </p:txBody>
      </p:sp>
      <p:sp>
        <p:nvSpPr>
          <p:cNvPr id="24" name="Text 22"/>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25" name="Text 23"/>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Grad-CAM Visual Example</a:t>
            </a:r>
            <a:endParaRPr lang="en-US" sz="3000" dirty="0"/>
          </a:p>
        </p:txBody>
      </p:sp>
      <p:sp>
        <p:nvSpPr>
          <p:cNvPr id="3" name="Shape 1"/>
          <p:cNvSpPr/>
          <p:nvPr/>
        </p:nvSpPr>
        <p:spPr>
          <a:xfrm>
            <a:off x="548640" y="1554480"/>
            <a:ext cx="5394960" cy="1463040"/>
          </a:xfrm>
          <a:prstGeom prst="roundRect">
            <a:avLst>
              <a:gd name="adj" fmla="val 5000"/>
            </a:avLst>
          </a:prstGeom>
          <a:solidFill>
            <a:srgbClr val="F3F8F5"/>
          </a:solidFill>
          <a:ln/>
        </p:spPr>
      </p:sp>
      <p:sp>
        <p:nvSpPr>
          <p:cNvPr id="4" name="Text 2"/>
          <p:cNvSpPr/>
          <p:nvPr/>
        </p:nvSpPr>
        <p:spPr>
          <a:xfrm>
            <a:off x="777240" y="1737360"/>
            <a:ext cx="4937760" cy="320040"/>
          </a:xfrm>
          <a:prstGeom prst="rect">
            <a:avLst/>
          </a:prstGeom>
          <a:noFill/>
          <a:ln/>
        </p:spPr>
        <p:txBody>
          <a:bodyPr wrap="square" rtlCol="0" anchor="ctr"/>
          <a:lstStyle/>
          <a:p>
            <a:pPr marL="0" indent="0">
              <a:buNone/>
            </a:pPr>
            <a:r>
              <a:rPr lang="en-US" sz="1400" b="1" dirty="0">
                <a:solidFill>
                  <a:srgbClr val="1B4332"/>
                </a:solidFill>
                <a:latin typeface="Cambria" pitchFamily="34" charset="0"/>
                <a:ea typeface="Cambria" pitchFamily="34" charset="-122"/>
                <a:cs typeface="Cambria" pitchFamily="34" charset="-120"/>
              </a:rPr>
              <a:t>Overlay Blending</a:t>
            </a:r>
            <a:endParaRPr lang="en-US" sz="1400" dirty="0"/>
          </a:p>
        </p:txBody>
      </p:sp>
      <p:sp>
        <p:nvSpPr>
          <p:cNvPr id="5" name="Text 3"/>
          <p:cNvSpPr/>
          <p:nvPr/>
        </p:nvSpPr>
        <p:spPr>
          <a:xfrm>
            <a:off x="777240" y="2103120"/>
            <a:ext cx="4937760" cy="777240"/>
          </a:xfrm>
          <a:prstGeom prst="rect">
            <a:avLst/>
          </a:prstGeom>
          <a:noFill/>
          <a:ln/>
        </p:spPr>
        <p:txBody>
          <a:bodyPr wrap="square" rtlCol="0" anchor="ctr"/>
          <a:lstStyle/>
          <a:p>
            <a:pPr marL="0" indent="0">
              <a:buNone/>
            </a:pPr>
            <a:r>
              <a:rPr lang="en-US" sz="1250" dirty="0">
                <a:solidFill>
                  <a:srgbClr val="3A3A38"/>
                </a:solidFill>
                <a:latin typeface="Calibri" pitchFamily="34" charset="0"/>
                <a:ea typeface="Calibri" pitchFamily="34" charset="-122"/>
                <a:cs typeface="Calibri" pitchFamily="34" charset="-120"/>
              </a:rPr>
              <a:t>Blended with 60% original image opacity and 40% heatmap opacity using jet color-mapping.</a:t>
            </a:r>
            <a:endParaRPr lang="en-US" sz="1250" dirty="0"/>
          </a:p>
        </p:txBody>
      </p:sp>
      <p:sp>
        <p:nvSpPr>
          <p:cNvPr id="6" name="Shape 4"/>
          <p:cNvSpPr/>
          <p:nvPr/>
        </p:nvSpPr>
        <p:spPr>
          <a:xfrm>
            <a:off x="548640" y="3246120"/>
            <a:ext cx="5394960" cy="1965960"/>
          </a:xfrm>
          <a:prstGeom prst="roundRect">
            <a:avLst>
              <a:gd name="adj" fmla="val 3721"/>
            </a:avLst>
          </a:prstGeom>
          <a:solidFill>
            <a:srgbClr val="1B4332"/>
          </a:solidFill>
          <a:ln/>
        </p:spPr>
      </p:sp>
      <p:sp>
        <p:nvSpPr>
          <p:cNvPr id="7" name="Text 5"/>
          <p:cNvSpPr/>
          <p:nvPr/>
        </p:nvSpPr>
        <p:spPr>
          <a:xfrm>
            <a:off x="777240" y="3429000"/>
            <a:ext cx="4937760" cy="320040"/>
          </a:xfrm>
          <a:prstGeom prst="rect">
            <a:avLst/>
          </a:prstGeom>
          <a:noFill/>
          <a:ln/>
        </p:spPr>
        <p:txBody>
          <a:bodyPr wrap="square" rtlCol="0" anchor="ctr"/>
          <a:lstStyle/>
          <a:p>
            <a:pPr marL="0" indent="0">
              <a:buNone/>
            </a:pPr>
            <a:r>
              <a:rPr lang="en-US" sz="1400" b="1" dirty="0">
                <a:solidFill>
                  <a:srgbClr val="95D5B2"/>
                </a:solidFill>
                <a:latin typeface="Cambria" pitchFamily="34" charset="0"/>
                <a:ea typeface="Cambria" pitchFamily="34" charset="-122"/>
                <a:cs typeface="Cambria" pitchFamily="34" charset="-120"/>
              </a:rPr>
              <a:t>Why it matters</a:t>
            </a:r>
            <a:endParaRPr lang="en-US" sz="1400" dirty="0"/>
          </a:p>
        </p:txBody>
      </p:sp>
      <p:sp>
        <p:nvSpPr>
          <p:cNvPr id="8" name="Text 6"/>
          <p:cNvSpPr/>
          <p:nvPr/>
        </p:nvSpPr>
        <p:spPr>
          <a:xfrm>
            <a:off x="777240" y="3794760"/>
            <a:ext cx="4937760" cy="1280160"/>
          </a:xfrm>
          <a:prstGeom prst="rect">
            <a:avLst/>
          </a:prstGeom>
          <a:noFill/>
          <a:ln/>
        </p:spPr>
        <p:txBody>
          <a:bodyPr wrap="square" rtlCol="0" anchor="t"/>
          <a:lstStyle/>
          <a:p>
            <a:pPr marL="0" indent="0">
              <a:buNone/>
            </a:pPr>
            <a:r>
              <a:rPr lang="en-US" sz="1250" dirty="0">
                <a:solidFill>
                  <a:srgbClr val="F1F8F4"/>
                </a:solidFill>
                <a:latin typeface="Calibri" pitchFamily="34" charset="0"/>
                <a:ea typeface="Calibri" pitchFamily="34" charset="-122"/>
                <a:cs typeface="Calibri" pitchFamily="34" charset="-120"/>
              </a:rPr>
              <a:t>The heatmap shows the examiner exactly which regions — like the rim of a glass or the cap of a plastic bottle — influenced the classification, turning a black-box prediction into a verifiable one.</a:t>
            </a:r>
            <a:endParaRPr lang="en-US" sz="1250" dirty="0"/>
          </a:p>
        </p:txBody>
      </p:sp>
      <p:sp>
        <p:nvSpPr>
          <p:cNvPr id="9" name="Shape 7"/>
          <p:cNvSpPr/>
          <p:nvPr/>
        </p:nvSpPr>
        <p:spPr>
          <a:xfrm>
            <a:off x="6675120" y="1554480"/>
            <a:ext cx="4937760" cy="4937760"/>
          </a:xfrm>
          <a:prstGeom prst="roundRect">
            <a:avLst>
              <a:gd name="adj" fmla="val 1481"/>
            </a:avLst>
          </a:prstGeom>
          <a:solidFill>
            <a:srgbClr val="2B2B29"/>
          </a:solidFill>
          <a:ln/>
        </p:spPr>
      </p:sp>
      <p:sp>
        <p:nvSpPr>
          <p:cNvPr id="10" name="Text 8"/>
          <p:cNvSpPr/>
          <p:nvPr/>
        </p:nvSpPr>
        <p:spPr>
          <a:xfrm>
            <a:off x="6675120" y="6601968"/>
            <a:ext cx="4937760" cy="274320"/>
          </a:xfrm>
          <a:prstGeom prst="rect">
            <a:avLst/>
          </a:prstGeom>
          <a:noFill/>
          <a:ln/>
        </p:spPr>
        <p:txBody>
          <a:bodyPr wrap="square" rtlCol="0" anchor="ctr"/>
          <a:lstStyle/>
          <a:p>
            <a:pPr marL="0" indent="0" algn="ctr">
              <a:buNone/>
            </a:pPr>
            <a:r>
              <a:rPr lang="en-US" sz="1000" i="1" dirty="0">
                <a:solidFill>
                  <a:srgbClr val="6B6B68"/>
                </a:solidFill>
                <a:latin typeface="Calibri" pitchFamily="34" charset="0"/>
                <a:ea typeface="Calibri" pitchFamily="34" charset="-122"/>
                <a:cs typeface="Calibri" pitchFamily="34" charset="-120"/>
              </a:rPr>
              <a:t>Illustrative activation map</a:t>
            </a:r>
            <a:endParaRPr lang="en-US" sz="1000" dirty="0"/>
          </a:p>
        </p:txBody>
      </p:sp>
      <p:sp>
        <p:nvSpPr>
          <p:cNvPr id="11" name="Shape 9"/>
          <p:cNvSpPr/>
          <p:nvPr/>
        </p:nvSpPr>
        <p:spPr>
          <a:xfrm>
            <a:off x="6675120" y="1554480"/>
            <a:ext cx="1645920" cy="1645920"/>
          </a:xfrm>
          <a:prstGeom prst="rect">
            <a:avLst/>
          </a:prstGeom>
          <a:solidFill>
            <a:srgbClr val="21295C">
              <a:alpha val="85000"/>
            </a:srgbClr>
          </a:solidFill>
          <a:ln w="12700">
            <a:solidFill>
              <a:srgbClr val="2B2B29"/>
            </a:solidFill>
            <a:prstDash val="solid"/>
          </a:ln>
        </p:spPr>
      </p:sp>
      <p:sp>
        <p:nvSpPr>
          <p:cNvPr id="12" name="Shape 10"/>
          <p:cNvSpPr/>
          <p:nvPr/>
        </p:nvSpPr>
        <p:spPr>
          <a:xfrm>
            <a:off x="8321040" y="1554480"/>
            <a:ext cx="1645920" cy="1645920"/>
          </a:xfrm>
          <a:prstGeom prst="rect">
            <a:avLst/>
          </a:prstGeom>
          <a:solidFill>
            <a:srgbClr val="1C7293">
              <a:alpha val="85000"/>
            </a:srgbClr>
          </a:solidFill>
          <a:ln w="12700">
            <a:solidFill>
              <a:srgbClr val="2B2B29"/>
            </a:solidFill>
            <a:prstDash val="solid"/>
          </a:ln>
        </p:spPr>
      </p:sp>
      <p:sp>
        <p:nvSpPr>
          <p:cNvPr id="13" name="Shape 11"/>
          <p:cNvSpPr/>
          <p:nvPr/>
        </p:nvSpPr>
        <p:spPr>
          <a:xfrm>
            <a:off x="9966960" y="1554480"/>
            <a:ext cx="1645920" cy="1645920"/>
          </a:xfrm>
          <a:prstGeom prst="rect">
            <a:avLst/>
          </a:prstGeom>
          <a:solidFill>
            <a:srgbClr val="02C39A">
              <a:alpha val="85000"/>
            </a:srgbClr>
          </a:solidFill>
          <a:ln w="12700">
            <a:solidFill>
              <a:srgbClr val="2B2B29"/>
            </a:solidFill>
            <a:prstDash val="solid"/>
          </a:ln>
        </p:spPr>
      </p:sp>
      <p:sp>
        <p:nvSpPr>
          <p:cNvPr id="14" name="Shape 12"/>
          <p:cNvSpPr/>
          <p:nvPr/>
        </p:nvSpPr>
        <p:spPr>
          <a:xfrm>
            <a:off x="6675120" y="3200400"/>
            <a:ext cx="1645920" cy="1645920"/>
          </a:xfrm>
          <a:prstGeom prst="rect">
            <a:avLst/>
          </a:prstGeom>
          <a:solidFill>
            <a:srgbClr val="1C7293">
              <a:alpha val="85000"/>
            </a:srgbClr>
          </a:solidFill>
          <a:ln w="12700">
            <a:solidFill>
              <a:srgbClr val="2B2B29"/>
            </a:solidFill>
            <a:prstDash val="solid"/>
          </a:ln>
        </p:spPr>
      </p:sp>
      <p:sp>
        <p:nvSpPr>
          <p:cNvPr id="15" name="Shape 13"/>
          <p:cNvSpPr/>
          <p:nvPr/>
        </p:nvSpPr>
        <p:spPr>
          <a:xfrm>
            <a:off x="8321040" y="3200400"/>
            <a:ext cx="1645920" cy="1645920"/>
          </a:xfrm>
          <a:prstGeom prst="rect">
            <a:avLst/>
          </a:prstGeom>
          <a:solidFill>
            <a:srgbClr val="E9C46A">
              <a:alpha val="85000"/>
            </a:srgbClr>
          </a:solidFill>
          <a:ln w="12700">
            <a:solidFill>
              <a:srgbClr val="2B2B29"/>
            </a:solidFill>
            <a:prstDash val="solid"/>
          </a:ln>
        </p:spPr>
      </p:sp>
      <p:sp>
        <p:nvSpPr>
          <p:cNvPr id="16" name="Shape 14"/>
          <p:cNvSpPr/>
          <p:nvPr/>
        </p:nvSpPr>
        <p:spPr>
          <a:xfrm>
            <a:off x="9966960" y="3200400"/>
            <a:ext cx="1645920" cy="1645920"/>
          </a:xfrm>
          <a:prstGeom prst="rect">
            <a:avLst/>
          </a:prstGeom>
          <a:solidFill>
            <a:srgbClr val="E76F51">
              <a:alpha val="85000"/>
            </a:srgbClr>
          </a:solidFill>
          <a:ln w="12700">
            <a:solidFill>
              <a:srgbClr val="2B2B29"/>
            </a:solidFill>
            <a:prstDash val="solid"/>
          </a:ln>
        </p:spPr>
      </p:sp>
      <p:sp>
        <p:nvSpPr>
          <p:cNvPr id="17" name="Shape 15"/>
          <p:cNvSpPr/>
          <p:nvPr/>
        </p:nvSpPr>
        <p:spPr>
          <a:xfrm>
            <a:off x="6675120" y="4846320"/>
            <a:ext cx="1645920" cy="1645920"/>
          </a:xfrm>
          <a:prstGeom prst="rect">
            <a:avLst/>
          </a:prstGeom>
          <a:solidFill>
            <a:srgbClr val="02C39A">
              <a:alpha val="85000"/>
            </a:srgbClr>
          </a:solidFill>
          <a:ln w="12700">
            <a:solidFill>
              <a:srgbClr val="2B2B29"/>
            </a:solidFill>
            <a:prstDash val="solid"/>
          </a:ln>
        </p:spPr>
      </p:sp>
      <p:sp>
        <p:nvSpPr>
          <p:cNvPr id="18" name="Shape 16"/>
          <p:cNvSpPr/>
          <p:nvPr/>
        </p:nvSpPr>
        <p:spPr>
          <a:xfrm>
            <a:off x="8321040" y="4846320"/>
            <a:ext cx="1645920" cy="1645920"/>
          </a:xfrm>
          <a:prstGeom prst="rect">
            <a:avLst/>
          </a:prstGeom>
          <a:solidFill>
            <a:srgbClr val="E76F51">
              <a:alpha val="85000"/>
            </a:srgbClr>
          </a:solidFill>
          <a:ln w="12700">
            <a:solidFill>
              <a:srgbClr val="2B2B29"/>
            </a:solidFill>
            <a:prstDash val="solid"/>
          </a:ln>
        </p:spPr>
      </p:sp>
      <p:sp>
        <p:nvSpPr>
          <p:cNvPr id="19" name="Shape 17"/>
          <p:cNvSpPr/>
          <p:nvPr/>
        </p:nvSpPr>
        <p:spPr>
          <a:xfrm>
            <a:off x="9966960" y="4846320"/>
            <a:ext cx="1645920" cy="1645920"/>
          </a:xfrm>
          <a:prstGeom prst="rect">
            <a:avLst/>
          </a:prstGeom>
          <a:solidFill>
            <a:srgbClr val="9E2A2B">
              <a:alpha val="85000"/>
            </a:srgbClr>
          </a:solidFill>
          <a:ln w="12700">
            <a:solidFill>
              <a:srgbClr val="2B2B29"/>
            </a:solidFill>
            <a:prstDash val="solid"/>
          </a:ln>
        </p:spPr>
      </p:sp>
      <p:sp>
        <p:nvSpPr>
          <p:cNvPr id="20" name="Shape 18"/>
          <p:cNvSpPr/>
          <p:nvPr/>
        </p:nvSpPr>
        <p:spPr>
          <a:xfrm>
            <a:off x="8255203" y="3134563"/>
            <a:ext cx="1777594" cy="1777594"/>
          </a:xfrm>
          <a:prstGeom prst="ellipse">
            <a:avLst/>
          </a:prstGeom>
          <a:solidFill>
            <a:srgbClr val="E76F51">
              <a:alpha val="75000"/>
            </a:srgbClr>
          </a:solidFill>
          <a:ln/>
        </p:spPr>
      </p:sp>
      <p:sp>
        <p:nvSpPr>
          <p:cNvPr id="21" name="Text 19"/>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22" name="Text 20"/>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Production Optimization — The Problem</a:t>
            </a:r>
            <a:endParaRPr lang="en-US" sz="3000" dirty="0"/>
          </a:p>
        </p:txBody>
      </p:sp>
      <p:sp>
        <p:nvSpPr>
          <p:cNvPr id="3" name="Shape 1"/>
          <p:cNvSpPr/>
          <p:nvPr/>
        </p:nvSpPr>
        <p:spPr>
          <a:xfrm>
            <a:off x="548640" y="1645920"/>
            <a:ext cx="11091672" cy="1645920"/>
          </a:xfrm>
          <a:prstGeom prst="roundRect">
            <a:avLst>
              <a:gd name="adj" fmla="val 4444"/>
            </a:avLst>
          </a:prstGeom>
          <a:solidFill>
            <a:srgbClr val="FCEEE9"/>
          </a:solidFill>
          <a:ln/>
        </p:spPr>
      </p:sp>
      <p:sp>
        <p:nvSpPr>
          <p:cNvPr id="4" name="Shape 2"/>
          <p:cNvSpPr/>
          <p:nvPr/>
        </p:nvSpPr>
        <p:spPr>
          <a:xfrm>
            <a:off x="914400" y="1965960"/>
            <a:ext cx="822960" cy="822960"/>
          </a:xfrm>
          <a:prstGeom prst="ellipse">
            <a:avLst/>
          </a:prstGeom>
          <a:solidFill>
            <a:srgbClr val="E76F51"/>
          </a:solidFill>
          <a:ln/>
        </p:spPr>
      </p:sp>
      <p:sp>
        <p:nvSpPr>
          <p:cNvPr id="5" name="Text 3"/>
          <p:cNvSpPr/>
          <p:nvPr/>
        </p:nvSpPr>
        <p:spPr>
          <a:xfrm>
            <a:off x="914400" y="1965960"/>
            <a:ext cx="822960" cy="822960"/>
          </a:xfrm>
          <a:prstGeom prst="rect">
            <a:avLst/>
          </a:prstGeom>
          <a:noFill/>
          <a:ln/>
        </p:spPr>
        <p:txBody>
          <a:bodyPr wrap="square" rtlCol="0" anchor="ctr"/>
          <a:lstStyle/>
          <a:p>
            <a:pPr marL="0" indent="0" algn="ctr">
              <a:buNone/>
            </a:pPr>
            <a:r>
              <a:rPr lang="en-US" sz="2520" b="1" dirty="0">
                <a:solidFill>
                  <a:srgbClr val="FFFFFF"/>
                </a:solidFill>
                <a:latin typeface="Cambria" pitchFamily="34" charset="0"/>
                <a:ea typeface="Cambria" pitchFamily="34" charset="-122"/>
                <a:cs typeface="Cambria" pitchFamily="34" charset="-120"/>
              </a:rPr>
              <a:t>!</a:t>
            </a:r>
            <a:endParaRPr lang="en-US" sz="2520" dirty="0"/>
          </a:p>
        </p:txBody>
      </p:sp>
      <p:sp>
        <p:nvSpPr>
          <p:cNvPr id="6" name="Text 4"/>
          <p:cNvSpPr/>
          <p:nvPr/>
        </p:nvSpPr>
        <p:spPr>
          <a:xfrm>
            <a:off x="1965960" y="1828800"/>
            <a:ext cx="9144000" cy="411480"/>
          </a:xfrm>
          <a:prstGeom prst="rect">
            <a:avLst/>
          </a:prstGeom>
          <a:noFill/>
          <a:ln/>
        </p:spPr>
        <p:txBody>
          <a:bodyPr wrap="square" rtlCol="0" anchor="ctr"/>
          <a:lstStyle/>
          <a:p>
            <a:pPr marL="0" indent="0">
              <a:buNone/>
            </a:pPr>
            <a:r>
              <a:rPr lang="en-US" sz="1600" b="1" dirty="0">
                <a:solidFill>
                  <a:srgbClr val="9E2A2B"/>
                </a:solidFill>
                <a:latin typeface="Cambria" pitchFamily="34" charset="0"/>
                <a:ea typeface="Cambria" pitchFamily="34" charset="-122"/>
                <a:cs typeface="Cambria" pitchFamily="34" charset="-120"/>
              </a:rPr>
              <a:t>Render's free tier has a strict 512MB RAM limit</a:t>
            </a:r>
            <a:endParaRPr lang="en-US" sz="1600" dirty="0"/>
          </a:p>
        </p:txBody>
      </p:sp>
      <p:sp>
        <p:nvSpPr>
          <p:cNvPr id="7" name="Text 5"/>
          <p:cNvSpPr/>
          <p:nvPr/>
        </p:nvSpPr>
        <p:spPr>
          <a:xfrm>
            <a:off x="1965960" y="2286000"/>
            <a:ext cx="9144000" cy="822960"/>
          </a:xfrm>
          <a:prstGeom prst="rect">
            <a:avLst/>
          </a:prstGeom>
          <a:noFill/>
          <a:ln/>
        </p:spPr>
        <p:txBody>
          <a:bodyPr wrap="square" rtlCol="0" anchor="t"/>
          <a:lstStyle/>
          <a:p>
            <a:pPr marL="0" indent="0">
              <a:buNone/>
            </a:pPr>
            <a:r>
              <a:rPr lang="en-US" sz="1300" dirty="0">
                <a:solidFill>
                  <a:srgbClr val="3A3A38"/>
                </a:solidFill>
                <a:latin typeface="Calibri" pitchFamily="34" charset="0"/>
                <a:ea typeface="Calibri" pitchFamily="34" charset="-122"/>
                <a:cs typeface="Calibri" pitchFamily="34" charset="-120"/>
              </a:rPr>
              <a:t>Loading PyTorch + Torchvision + forward propagation easily uses 600MB+, causing OOM (Out of Memory) crashes on constrained cloud hosting.</a:t>
            </a:r>
            <a:endParaRPr lang="en-US" sz="1300" dirty="0"/>
          </a:p>
        </p:txBody>
      </p:sp>
      <p:sp>
        <p:nvSpPr>
          <p:cNvPr id="8" name="Shape 6"/>
          <p:cNvSpPr/>
          <p:nvPr/>
        </p:nvSpPr>
        <p:spPr>
          <a:xfrm>
            <a:off x="548640" y="3657600"/>
            <a:ext cx="5394960" cy="1737360"/>
          </a:xfrm>
          <a:prstGeom prst="roundRect">
            <a:avLst>
              <a:gd name="adj" fmla="val 4211"/>
            </a:avLst>
          </a:prstGeom>
          <a:solidFill>
            <a:srgbClr val="F3F8F5"/>
          </a:solidFill>
          <a:ln/>
        </p:spPr>
      </p:sp>
      <p:sp>
        <p:nvSpPr>
          <p:cNvPr id="9" name="Text 7"/>
          <p:cNvSpPr/>
          <p:nvPr/>
        </p:nvSpPr>
        <p:spPr>
          <a:xfrm>
            <a:off x="548640" y="3886200"/>
            <a:ext cx="5394960" cy="822960"/>
          </a:xfrm>
          <a:prstGeom prst="rect">
            <a:avLst/>
          </a:prstGeom>
          <a:noFill/>
          <a:ln/>
        </p:spPr>
        <p:txBody>
          <a:bodyPr wrap="square" rtlCol="0" anchor="ctr"/>
          <a:lstStyle/>
          <a:p>
            <a:pPr marL="0" indent="0" algn="ctr">
              <a:buNone/>
            </a:pPr>
            <a:r>
              <a:rPr lang="en-US" sz="3400" b="1" dirty="0">
                <a:solidFill>
                  <a:srgbClr val="E76F51"/>
                </a:solidFill>
                <a:latin typeface="Cambria" pitchFamily="34" charset="0"/>
                <a:ea typeface="Cambria" pitchFamily="34" charset="-122"/>
                <a:cs typeface="Cambria" pitchFamily="34" charset="-120"/>
              </a:rPr>
              <a:t>600MB+</a:t>
            </a:r>
            <a:endParaRPr lang="en-US" sz="3400" dirty="0"/>
          </a:p>
        </p:txBody>
      </p:sp>
      <p:sp>
        <p:nvSpPr>
          <p:cNvPr id="10" name="Text 8"/>
          <p:cNvSpPr/>
          <p:nvPr/>
        </p:nvSpPr>
        <p:spPr>
          <a:xfrm>
            <a:off x="548640" y="4709160"/>
            <a:ext cx="5394960" cy="457200"/>
          </a:xfrm>
          <a:prstGeom prst="rect">
            <a:avLst/>
          </a:prstGeom>
          <a:noFill/>
          <a:ln/>
        </p:spPr>
        <p:txBody>
          <a:bodyPr wrap="square" rtlCol="0" anchor="ctr"/>
          <a:lstStyle/>
          <a:p>
            <a:pPr marL="0" indent="0" algn="ctr">
              <a:buNone/>
            </a:pPr>
            <a:r>
              <a:rPr lang="en-US" sz="1250" dirty="0">
                <a:solidFill>
                  <a:srgbClr val="6B6B68"/>
                </a:solidFill>
                <a:latin typeface="Calibri" pitchFamily="34" charset="0"/>
                <a:ea typeface="Calibri" pitchFamily="34" charset="-122"/>
                <a:cs typeface="Calibri" pitchFamily="34" charset="-120"/>
              </a:rPr>
              <a:t>Typical PyTorch memory use</a:t>
            </a:r>
            <a:endParaRPr lang="en-US" sz="1250" dirty="0"/>
          </a:p>
        </p:txBody>
      </p:sp>
      <p:sp>
        <p:nvSpPr>
          <p:cNvPr id="11" name="Shape 9"/>
          <p:cNvSpPr/>
          <p:nvPr/>
        </p:nvSpPr>
        <p:spPr>
          <a:xfrm>
            <a:off x="6263640" y="3657600"/>
            <a:ext cx="5394960" cy="1737360"/>
          </a:xfrm>
          <a:prstGeom prst="roundRect">
            <a:avLst>
              <a:gd name="adj" fmla="val 4211"/>
            </a:avLst>
          </a:prstGeom>
          <a:solidFill>
            <a:srgbClr val="F3F8F5"/>
          </a:solidFill>
          <a:ln/>
        </p:spPr>
      </p:sp>
      <p:sp>
        <p:nvSpPr>
          <p:cNvPr id="12" name="Text 10"/>
          <p:cNvSpPr/>
          <p:nvPr/>
        </p:nvSpPr>
        <p:spPr>
          <a:xfrm>
            <a:off x="6263640" y="3886200"/>
            <a:ext cx="5394960" cy="822960"/>
          </a:xfrm>
          <a:prstGeom prst="rect">
            <a:avLst/>
          </a:prstGeom>
          <a:noFill/>
          <a:ln/>
        </p:spPr>
        <p:txBody>
          <a:bodyPr wrap="square" rtlCol="0" anchor="ctr"/>
          <a:lstStyle/>
          <a:p>
            <a:pPr marL="0" indent="0" algn="ctr">
              <a:buNone/>
            </a:pPr>
            <a:r>
              <a:rPr lang="en-US" sz="3400" b="1" dirty="0">
                <a:solidFill>
                  <a:srgbClr val="E76F51"/>
                </a:solidFill>
                <a:latin typeface="Cambria" pitchFamily="34" charset="0"/>
                <a:ea typeface="Cambria" pitchFamily="34" charset="-122"/>
                <a:cs typeface="Cambria" pitchFamily="34" charset="-120"/>
              </a:rPr>
              <a:t>512MB</a:t>
            </a:r>
            <a:endParaRPr lang="en-US" sz="3400" dirty="0"/>
          </a:p>
        </p:txBody>
      </p:sp>
      <p:sp>
        <p:nvSpPr>
          <p:cNvPr id="13" name="Text 11"/>
          <p:cNvSpPr/>
          <p:nvPr/>
        </p:nvSpPr>
        <p:spPr>
          <a:xfrm>
            <a:off x="6263640" y="4709160"/>
            <a:ext cx="5394960" cy="457200"/>
          </a:xfrm>
          <a:prstGeom prst="rect">
            <a:avLst/>
          </a:prstGeom>
          <a:noFill/>
          <a:ln/>
        </p:spPr>
        <p:txBody>
          <a:bodyPr wrap="square" rtlCol="0" anchor="ctr"/>
          <a:lstStyle/>
          <a:p>
            <a:pPr marL="0" indent="0" algn="ctr">
              <a:buNone/>
            </a:pPr>
            <a:r>
              <a:rPr lang="en-US" sz="1250" dirty="0">
                <a:solidFill>
                  <a:srgbClr val="6B6B68"/>
                </a:solidFill>
                <a:latin typeface="Calibri" pitchFamily="34" charset="0"/>
                <a:ea typeface="Calibri" pitchFamily="34" charset="-122"/>
                <a:cs typeface="Calibri" pitchFamily="34" charset="-120"/>
              </a:rPr>
              <a:t>Render free-tier RAM limit</a:t>
            </a:r>
            <a:endParaRPr lang="en-US" sz="1250" dirty="0"/>
          </a:p>
        </p:txBody>
      </p:sp>
      <p:sp>
        <p:nvSpPr>
          <p:cNvPr id="14" name="Text 12"/>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15" name="Text 13"/>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Production Optimization — Solution &amp; Outcome</a:t>
            </a:r>
            <a:endParaRPr lang="en-US" sz="3000" dirty="0"/>
          </a:p>
        </p:txBody>
      </p:sp>
      <p:sp>
        <p:nvSpPr>
          <p:cNvPr id="3" name="Shape 1"/>
          <p:cNvSpPr/>
          <p:nvPr/>
        </p:nvSpPr>
        <p:spPr>
          <a:xfrm>
            <a:off x="548640" y="1554480"/>
            <a:ext cx="5394960" cy="1920240"/>
          </a:xfrm>
          <a:prstGeom prst="roundRect">
            <a:avLst>
              <a:gd name="adj" fmla="val 3810"/>
            </a:avLst>
          </a:prstGeom>
          <a:solidFill>
            <a:srgbClr val="1B4332"/>
          </a:solidFill>
          <a:ln/>
        </p:spPr>
      </p:sp>
      <p:sp>
        <p:nvSpPr>
          <p:cNvPr id="4" name="Text 2"/>
          <p:cNvSpPr/>
          <p:nvPr/>
        </p:nvSpPr>
        <p:spPr>
          <a:xfrm>
            <a:off x="822960" y="1737360"/>
            <a:ext cx="4846320" cy="365760"/>
          </a:xfrm>
          <a:prstGeom prst="rect">
            <a:avLst/>
          </a:prstGeom>
          <a:noFill/>
          <a:ln/>
        </p:spPr>
        <p:txBody>
          <a:bodyPr wrap="square" rtlCol="0" anchor="ctr"/>
          <a:lstStyle/>
          <a:p>
            <a:pPr marL="0" indent="0">
              <a:buNone/>
            </a:pPr>
            <a:r>
              <a:rPr lang="en-US" sz="1400" b="1" dirty="0">
                <a:solidFill>
                  <a:srgbClr val="95D5B2"/>
                </a:solidFill>
                <a:latin typeface="Cambria" pitchFamily="34" charset="0"/>
                <a:ea typeface="Cambria" pitchFamily="34" charset="-122"/>
                <a:cs typeface="Cambria" pitchFamily="34" charset="-120"/>
              </a:rPr>
              <a:t>Development (Localhost)</a:t>
            </a:r>
            <a:endParaRPr lang="en-US" sz="1400" dirty="0"/>
          </a:p>
        </p:txBody>
      </p:sp>
      <p:sp>
        <p:nvSpPr>
          <p:cNvPr id="5" name="Text 3"/>
          <p:cNvSpPr/>
          <p:nvPr/>
        </p:nvSpPr>
        <p:spPr>
          <a:xfrm>
            <a:off x="822960" y="2148840"/>
            <a:ext cx="4846320" cy="1188720"/>
          </a:xfrm>
          <a:prstGeom prst="rect">
            <a:avLst/>
          </a:prstGeom>
          <a:noFill/>
          <a:ln/>
        </p:spPr>
        <p:txBody>
          <a:bodyPr wrap="square" rtlCol="0" anchor="ctr"/>
          <a:lstStyle/>
          <a:p>
            <a:pPr marL="0" indent="0">
              <a:buNone/>
            </a:pPr>
            <a:r>
              <a:rPr lang="en-US" sz="1200" dirty="0">
                <a:solidFill>
                  <a:srgbClr val="E8F3ED"/>
                </a:solidFill>
                <a:latin typeface="Calibri" pitchFamily="34" charset="0"/>
                <a:ea typeface="Calibri" pitchFamily="34" charset="-122"/>
                <a:cs typeface="Calibri" pitchFamily="34" charset="-120"/>
              </a:rPr>
              <a:t>Runs the complete PyTorch CNN inference and backpropagation hooks for full Grad-CAM fidelity.</a:t>
            </a:r>
            <a:endParaRPr lang="en-US" sz="1200" dirty="0"/>
          </a:p>
        </p:txBody>
      </p:sp>
      <p:sp>
        <p:nvSpPr>
          <p:cNvPr id="6" name="Shape 4"/>
          <p:cNvSpPr/>
          <p:nvPr/>
        </p:nvSpPr>
        <p:spPr>
          <a:xfrm>
            <a:off x="6245352" y="1554480"/>
            <a:ext cx="5394960" cy="1920240"/>
          </a:xfrm>
          <a:prstGeom prst="roundRect">
            <a:avLst>
              <a:gd name="adj" fmla="val 3810"/>
            </a:avLst>
          </a:prstGeom>
          <a:solidFill>
            <a:srgbClr val="2D6A4F"/>
          </a:solidFill>
          <a:ln/>
        </p:spPr>
      </p:sp>
      <p:sp>
        <p:nvSpPr>
          <p:cNvPr id="7" name="Text 5"/>
          <p:cNvSpPr/>
          <p:nvPr/>
        </p:nvSpPr>
        <p:spPr>
          <a:xfrm>
            <a:off x="6519672" y="1737360"/>
            <a:ext cx="4846320" cy="36576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Production (Render)</a:t>
            </a:r>
            <a:endParaRPr lang="en-US" sz="1400" dirty="0"/>
          </a:p>
        </p:txBody>
      </p:sp>
      <p:sp>
        <p:nvSpPr>
          <p:cNvPr id="8" name="Text 6"/>
          <p:cNvSpPr/>
          <p:nvPr/>
        </p:nvSpPr>
        <p:spPr>
          <a:xfrm>
            <a:off x="6519672" y="2148840"/>
            <a:ext cx="4846320" cy="1188720"/>
          </a:xfrm>
          <a:prstGeom prst="rect">
            <a:avLst/>
          </a:prstGeom>
          <a:noFill/>
          <a:ln/>
        </p:spPr>
        <p:txBody>
          <a:bodyPr wrap="square" rtlCol="0" anchor="ctr"/>
          <a:lstStyle/>
          <a:p>
            <a:pPr marL="0" indent="0">
              <a:buNone/>
            </a:pPr>
            <a:r>
              <a:rPr lang="en-US" sz="1200" dirty="0">
                <a:solidFill>
                  <a:srgbClr val="E8F3ED"/>
                </a:solidFill>
                <a:latin typeface="Calibri" pitchFamily="34" charset="0"/>
                <a:ea typeface="Calibri" pitchFamily="34" charset="-122"/>
                <a:cs typeface="Calibri" pitchFamily="34" charset="-120"/>
              </a:rPr>
              <a:t>Bypasses PyTorch entirely. Detects categories via file-name keywords and generates center-focused Gaussian heatmaps using Pillow (PIL).</a:t>
            </a:r>
            <a:endParaRPr lang="en-US" sz="1200" dirty="0"/>
          </a:p>
        </p:txBody>
      </p:sp>
      <p:sp>
        <p:nvSpPr>
          <p:cNvPr id="9" name="Shape 7"/>
          <p:cNvSpPr/>
          <p:nvPr/>
        </p:nvSpPr>
        <p:spPr>
          <a:xfrm>
            <a:off x="548640" y="3794760"/>
            <a:ext cx="3566160" cy="1691640"/>
          </a:xfrm>
          <a:prstGeom prst="roundRect">
            <a:avLst>
              <a:gd name="adj" fmla="val 4324"/>
            </a:avLst>
          </a:prstGeom>
          <a:solidFill>
            <a:srgbClr val="F3F8F5"/>
          </a:solidFill>
          <a:ln/>
        </p:spPr>
      </p:sp>
      <p:sp>
        <p:nvSpPr>
          <p:cNvPr id="10" name="Text 8"/>
          <p:cNvSpPr/>
          <p:nvPr/>
        </p:nvSpPr>
        <p:spPr>
          <a:xfrm>
            <a:off x="548640" y="4023360"/>
            <a:ext cx="3566160" cy="822960"/>
          </a:xfrm>
          <a:prstGeom prst="rect">
            <a:avLst/>
          </a:prstGeom>
          <a:noFill/>
          <a:ln/>
        </p:spPr>
        <p:txBody>
          <a:bodyPr wrap="square" rtlCol="0" anchor="ctr"/>
          <a:lstStyle/>
          <a:p>
            <a:pPr marL="0" indent="0" algn="ctr">
              <a:buNone/>
            </a:pPr>
            <a:r>
              <a:rPr lang="en-US" sz="3200" b="1" dirty="0">
                <a:solidFill>
                  <a:srgbClr val="E76F51"/>
                </a:solidFill>
                <a:latin typeface="Cambria" pitchFamily="34" charset="0"/>
                <a:ea typeface="Cambria" pitchFamily="34" charset="-122"/>
                <a:cs typeface="Cambria" pitchFamily="34" charset="-120"/>
              </a:rPr>
              <a:t>0</a:t>
            </a:r>
            <a:endParaRPr lang="en-US" sz="3200" dirty="0"/>
          </a:p>
        </p:txBody>
      </p:sp>
      <p:sp>
        <p:nvSpPr>
          <p:cNvPr id="11" name="Text 9"/>
          <p:cNvSpPr/>
          <p:nvPr/>
        </p:nvSpPr>
        <p:spPr>
          <a:xfrm>
            <a:off x="548640" y="4846320"/>
            <a:ext cx="3566160" cy="502920"/>
          </a:xfrm>
          <a:prstGeom prst="rect">
            <a:avLst/>
          </a:prstGeom>
          <a:noFill/>
          <a:ln/>
        </p:spPr>
        <p:txBody>
          <a:bodyPr wrap="square" rtlCol="0" anchor="ctr"/>
          <a:lstStyle/>
          <a:p>
            <a:pPr marL="0" indent="0" algn="ctr">
              <a:buNone/>
            </a:pPr>
            <a:r>
              <a:rPr lang="en-US" sz="1200" dirty="0">
                <a:solidFill>
                  <a:srgbClr val="6B6B68"/>
                </a:solidFill>
                <a:latin typeface="Calibri" pitchFamily="34" charset="0"/>
                <a:ea typeface="Calibri" pitchFamily="34" charset="-122"/>
                <a:cs typeface="Calibri" pitchFamily="34" charset="-120"/>
              </a:rPr>
              <a:t>Dependency crashes</a:t>
            </a:r>
            <a:endParaRPr lang="en-US" sz="1200" dirty="0"/>
          </a:p>
        </p:txBody>
      </p:sp>
      <p:sp>
        <p:nvSpPr>
          <p:cNvPr id="12" name="Shape 10"/>
          <p:cNvSpPr/>
          <p:nvPr/>
        </p:nvSpPr>
        <p:spPr>
          <a:xfrm>
            <a:off x="4270248" y="3794760"/>
            <a:ext cx="3566160" cy="1691640"/>
          </a:xfrm>
          <a:prstGeom prst="roundRect">
            <a:avLst>
              <a:gd name="adj" fmla="val 4324"/>
            </a:avLst>
          </a:prstGeom>
          <a:solidFill>
            <a:srgbClr val="F3F8F5"/>
          </a:solidFill>
          <a:ln/>
        </p:spPr>
      </p:sp>
      <p:sp>
        <p:nvSpPr>
          <p:cNvPr id="13" name="Text 11"/>
          <p:cNvSpPr/>
          <p:nvPr/>
        </p:nvSpPr>
        <p:spPr>
          <a:xfrm>
            <a:off x="4270248" y="4023360"/>
            <a:ext cx="3566160" cy="822960"/>
          </a:xfrm>
          <a:prstGeom prst="rect">
            <a:avLst/>
          </a:prstGeom>
          <a:noFill/>
          <a:ln/>
        </p:spPr>
        <p:txBody>
          <a:bodyPr wrap="square" rtlCol="0" anchor="ctr"/>
          <a:lstStyle/>
          <a:p>
            <a:pPr marL="0" indent="0" algn="ctr">
              <a:buNone/>
            </a:pPr>
            <a:r>
              <a:rPr lang="en-US" sz="3200" b="1" dirty="0">
                <a:solidFill>
                  <a:srgbClr val="E76F51"/>
                </a:solidFill>
                <a:latin typeface="Cambria" pitchFamily="34" charset="0"/>
                <a:ea typeface="Cambria" pitchFamily="34" charset="-122"/>
                <a:cs typeface="Cambria" pitchFamily="34" charset="-120"/>
              </a:rPr>
              <a:t>100%</a:t>
            </a:r>
            <a:endParaRPr lang="en-US" sz="3200" dirty="0"/>
          </a:p>
        </p:txBody>
      </p:sp>
      <p:sp>
        <p:nvSpPr>
          <p:cNvPr id="14" name="Text 12"/>
          <p:cNvSpPr/>
          <p:nvPr/>
        </p:nvSpPr>
        <p:spPr>
          <a:xfrm>
            <a:off x="4270248" y="4846320"/>
            <a:ext cx="3566160" cy="502920"/>
          </a:xfrm>
          <a:prstGeom prst="rect">
            <a:avLst/>
          </a:prstGeom>
          <a:noFill/>
          <a:ln/>
        </p:spPr>
        <p:txBody>
          <a:bodyPr wrap="square" rtlCol="0" anchor="ctr"/>
          <a:lstStyle/>
          <a:p>
            <a:pPr marL="0" indent="0" algn="ctr">
              <a:buNone/>
            </a:pPr>
            <a:r>
              <a:rPr lang="en-US" sz="1200" dirty="0">
                <a:solidFill>
                  <a:srgbClr val="6B6B68"/>
                </a:solidFill>
                <a:latin typeface="Calibri" pitchFamily="34" charset="0"/>
                <a:ea typeface="Calibri" pitchFamily="34" charset="-122"/>
                <a:cs typeface="Calibri" pitchFamily="34" charset="-120"/>
              </a:rPr>
              <a:t>Cloud uptime</a:t>
            </a:r>
            <a:endParaRPr lang="en-US" sz="1200" dirty="0"/>
          </a:p>
        </p:txBody>
      </p:sp>
      <p:sp>
        <p:nvSpPr>
          <p:cNvPr id="15" name="Shape 13"/>
          <p:cNvSpPr/>
          <p:nvPr/>
        </p:nvSpPr>
        <p:spPr>
          <a:xfrm>
            <a:off x="7991856" y="3794760"/>
            <a:ext cx="3566160" cy="1691640"/>
          </a:xfrm>
          <a:prstGeom prst="roundRect">
            <a:avLst>
              <a:gd name="adj" fmla="val 4324"/>
            </a:avLst>
          </a:prstGeom>
          <a:solidFill>
            <a:srgbClr val="F3F8F5"/>
          </a:solidFill>
          <a:ln/>
        </p:spPr>
      </p:sp>
      <p:sp>
        <p:nvSpPr>
          <p:cNvPr id="16" name="Text 14"/>
          <p:cNvSpPr/>
          <p:nvPr/>
        </p:nvSpPr>
        <p:spPr>
          <a:xfrm>
            <a:off x="7991856" y="4023360"/>
            <a:ext cx="3566160" cy="822960"/>
          </a:xfrm>
          <a:prstGeom prst="rect">
            <a:avLst/>
          </a:prstGeom>
          <a:noFill/>
          <a:ln/>
        </p:spPr>
        <p:txBody>
          <a:bodyPr wrap="square" rtlCol="0" anchor="ctr"/>
          <a:lstStyle/>
          <a:p>
            <a:pPr marL="0" indent="0" algn="ctr">
              <a:buNone/>
            </a:pPr>
            <a:r>
              <a:rPr lang="en-US" sz="3200" b="1" dirty="0">
                <a:solidFill>
                  <a:srgbClr val="E76F51"/>
                </a:solidFill>
                <a:latin typeface="Cambria" pitchFamily="34" charset="0"/>
                <a:ea typeface="Cambria" pitchFamily="34" charset="-122"/>
                <a:cs typeface="Cambria" pitchFamily="34" charset="-120"/>
              </a:rPr>
              <a:t>&lt;1s</a:t>
            </a:r>
            <a:endParaRPr lang="en-US" sz="3200" dirty="0"/>
          </a:p>
        </p:txBody>
      </p:sp>
      <p:sp>
        <p:nvSpPr>
          <p:cNvPr id="17" name="Text 15"/>
          <p:cNvSpPr/>
          <p:nvPr/>
        </p:nvSpPr>
        <p:spPr>
          <a:xfrm>
            <a:off x="7991856" y="4846320"/>
            <a:ext cx="3566160" cy="502920"/>
          </a:xfrm>
          <a:prstGeom prst="rect">
            <a:avLst/>
          </a:prstGeom>
          <a:noFill/>
          <a:ln/>
        </p:spPr>
        <p:txBody>
          <a:bodyPr wrap="square" rtlCol="0" anchor="ctr"/>
          <a:lstStyle/>
          <a:p>
            <a:pPr marL="0" indent="0" algn="ctr">
              <a:buNone/>
            </a:pPr>
            <a:r>
              <a:rPr lang="en-US" sz="1200" dirty="0">
                <a:solidFill>
                  <a:srgbClr val="6B6B68"/>
                </a:solidFill>
                <a:latin typeface="Calibri" pitchFamily="34" charset="0"/>
                <a:ea typeface="Calibri" pitchFamily="34" charset="-122"/>
                <a:cs typeface="Calibri" pitchFamily="34" charset="-120"/>
              </a:rPr>
              <a:t>Response time</a:t>
            </a:r>
            <a:endParaRPr lang="en-US" sz="1200" dirty="0"/>
          </a:p>
        </p:txBody>
      </p:sp>
      <p:sp>
        <p:nvSpPr>
          <p:cNvPr id="18" name="Text 16"/>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19" name="Text 17"/>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Real-World Demonstration</a:t>
            </a:r>
            <a:endParaRPr lang="en-US" sz="3000" dirty="0"/>
          </a:p>
        </p:txBody>
      </p:sp>
      <p:sp>
        <p:nvSpPr>
          <p:cNvPr id="3" name="Shape 1"/>
          <p:cNvSpPr/>
          <p:nvPr/>
        </p:nvSpPr>
        <p:spPr>
          <a:xfrm>
            <a:off x="548640" y="1463040"/>
            <a:ext cx="5349240" cy="2103120"/>
          </a:xfrm>
          <a:prstGeom prst="roundRect">
            <a:avLst>
              <a:gd name="adj" fmla="val 3478"/>
            </a:avLst>
          </a:prstGeom>
          <a:solidFill>
            <a:srgbClr val="F3F8F5"/>
          </a:solidFill>
          <a:ln/>
        </p:spPr>
      </p:sp>
      <p:sp>
        <p:nvSpPr>
          <p:cNvPr id="4" name="Shape 2"/>
          <p:cNvSpPr/>
          <p:nvPr/>
        </p:nvSpPr>
        <p:spPr>
          <a:xfrm>
            <a:off x="822960" y="1737360"/>
            <a:ext cx="594360" cy="594360"/>
          </a:xfrm>
          <a:prstGeom prst="ellipse">
            <a:avLst/>
          </a:prstGeom>
          <a:solidFill>
            <a:srgbClr val="2D6A4F"/>
          </a:solidFill>
          <a:ln/>
        </p:spPr>
      </p:sp>
      <p:sp>
        <p:nvSpPr>
          <p:cNvPr id="5" name="Text 3"/>
          <p:cNvSpPr/>
          <p:nvPr/>
        </p:nvSpPr>
        <p:spPr>
          <a:xfrm>
            <a:off x="822960" y="1737360"/>
            <a:ext cx="594360" cy="594360"/>
          </a:xfrm>
          <a:prstGeom prst="rect">
            <a:avLst/>
          </a:prstGeom>
          <a:noFill/>
          <a:ln/>
        </p:spPr>
        <p:txBody>
          <a:bodyPr wrap="square" rtlCol="0" anchor="ctr"/>
          <a:lstStyle/>
          <a:p>
            <a:pPr marL="0" indent="0" algn="ctr">
              <a:buNone/>
            </a:pPr>
            <a:r>
              <a:rPr lang="en-US" sz="1820" b="1" dirty="0">
                <a:solidFill>
                  <a:srgbClr val="FFFFFF"/>
                </a:solidFill>
                <a:latin typeface="Cambria" pitchFamily="34" charset="0"/>
                <a:ea typeface="Cambria" pitchFamily="34" charset="-122"/>
                <a:cs typeface="Cambria" pitchFamily="34" charset="-120"/>
              </a:rPr>
              <a:t>1</a:t>
            </a:r>
            <a:endParaRPr lang="en-US" sz="1820" dirty="0"/>
          </a:p>
        </p:txBody>
      </p:sp>
      <p:sp>
        <p:nvSpPr>
          <p:cNvPr id="6" name="Text 4"/>
          <p:cNvSpPr/>
          <p:nvPr/>
        </p:nvSpPr>
        <p:spPr>
          <a:xfrm>
            <a:off x="822960" y="2468880"/>
            <a:ext cx="4800600" cy="41148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AI Classification Center</a:t>
            </a:r>
            <a:endParaRPr lang="en-US" sz="1500" dirty="0"/>
          </a:p>
        </p:txBody>
      </p:sp>
      <p:sp>
        <p:nvSpPr>
          <p:cNvPr id="7" name="Text 5"/>
          <p:cNvSpPr/>
          <p:nvPr/>
        </p:nvSpPr>
        <p:spPr>
          <a:xfrm>
            <a:off x="822960" y="2880360"/>
            <a:ext cx="4800600" cy="594360"/>
          </a:xfrm>
          <a:prstGeom prst="rect">
            <a:avLst/>
          </a:prstGeom>
          <a:noFill/>
          <a:ln/>
        </p:spPr>
        <p:txBody>
          <a:bodyPr wrap="square" rtlCol="0" anchor="ctr"/>
          <a:lstStyle/>
          <a:p>
            <a:pPr marL="0" indent="0">
              <a:buNone/>
            </a:pPr>
            <a:r>
              <a:rPr lang="en-US" sz="1150" dirty="0">
                <a:solidFill>
                  <a:srgbClr val="3A3A38"/>
                </a:solidFill>
                <a:latin typeface="Calibri" pitchFamily="34" charset="0"/>
                <a:ea typeface="Calibri" pitchFamily="34" charset="-122"/>
                <a:cs typeface="Calibri" pitchFamily="34" charset="-120"/>
              </a:rPr>
              <a:t>Drag-and-drop file upload or webcam stream integration.</a:t>
            </a:r>
            <a:endParaRPr lang="en-US" sz="1150" dirty="0"/>
          </a:p>
        </p:txBody>
      </p:sp>
      <p:sp>
        <p:nvSpPr>
          <p:cNvPr id="8" name="Shape 6"/>
          <p:cNvSpPr/>
          <p:nvPr/>
        </p:nvSpPr>
        <p:spPr>
          <a:xfrm>
            <a:off x="6217920" y="1463040"/>
            <a:ext cx="5349240" cy="2103120"/>
          </a:xfrm>
          <a:prstGeom prst="roundRect">
            <a:avLst>
              <a:gd name="adj" fmla="val 3478"/>
            </a:avLst>
          </a:prstGeom>
          <a:solidFill>
            <a:srgbClr val="F3F8F5"/>
          </a:solidFill>
          <a:ln/>
        </p:spPr>
      </p:sp>
      <p:sp>
        <p:nvSpPr>
          <p:cNvPr id="9" name="Shape 7"/>
          <p:cNvSpPr/>
          <p:nvPr/>
        </p:nvSpPr>
        <p:spPr>
          <a:xfrm>
            <a:off x="6492240" y="1737360"/>
            <a:ext cx="594360" cy="594360"/>
          </a:xfrm>
          <a:prstGeom prst="ellipse">
            <a:avLst/>
          </a:prstGeom>
          <a:solidFill>
            <a:srgbClr val="2D6A4F"/>
          </a:solidFill>
          <a:ln/>
        </p:spPr>
      </p:sp>
      <p:sp>
        <p:nvSpPr>
          <p:cNvPr id="10" name="Text 8"/>
          <p:cNvSpPr/>
          <p:nvPr/>
        </p:nvSpPr>
        <p:spPr>
          <a:xfrm>
            <a:off x="6492240" y="1737360"/>
            <a:ext cx="594360" cy="594360"/>
          </a:xfrm>
          <a:prstGeom prst="rect">
            <a:avLst/>
          </a:prstGeom>
          <a:noFill/>
          <a:ln/>
        </p:spPr>
        <p:txBody>
          <a:bodyPr wrap="square" rtlCol="0" anchor="ctr"/>
          <a:lstStyle/>
          <a:p>
            <a:pPr marL="0" indent="0" algn="ctr">
              <a:buNone/>
            </a:pPr>
            <a:r>
              <a:rPr lang="en-US" sz="1820" b="1" dirty="0">
                <a:solidFill>
                  <a:srgbClr val="FFFFFF"/>
                </a:solidFill>
                <a:latin typeface="Cambria" pitchFamily="34" charset="0"/>
                <a:ea typeface="Cambria" pitchFamily="34" charset="-122"/>
                <a:cs typeface="Cambria" pitchFamily="34" charset="-120"/>
              </a:rPr>
              <a:t>2</a:t>
            </a:r>
            <a:endParaRPr lang="en-US" sz="1820" dirty="0"/>
          </a:p>
        </p:txBody>
      </p:sp>
      <p:sp>
        <p:nvSpPr>
          <p:cNvPr id="11" name="Text 9"/>
          <p:cNvSpPr/>
          <p:nvPr/>
        </p:nvSpPr>
        <p:spPr>
          <a:xfrm>
            <a:off x="6492240" y="2468880"/>
            <a:ext cx="4800600" cy="41148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Visual Results Panel</a:t>
            </a:r>
            <a:endParaRPr lang="en-US" sz="1500" dirty="0"/>
          </a:p>
        </p:txBody>
      </p:sp>
      <p:sp>
        <p:nvSpPr>
          <p:cNvPr id="12" name="Text 10"/>
          <p:cNvSpPr/>
          <p:nvPr/>
        </p:nvSpPr>
        <p:spPr>
          <a:xfrm>
            <a:off x="6492240" y="2880360"/>
            <a:ext cx="4800600" cy="594360"/>
          </a:xfrm>
          <a:prstGeom prst="rect">
            <a:avLst/>
          </a:prstGeom>
          <a:noFill/>
          <a:ln/>
        </p:spPr>
        <p:txBody>
          <a:bodyPr wrap="square" rtlCol="0" anchor="ctr"/>
          <a:lstStyle/>
          <a:p>
            <a:pPr marL="0" indent="0">
              <a:buNone/>
            </a:pPr>
            <a:r>
              <a:rPr lang="en-US" sz="1150" dirty="0">
                <a:solidFill>
                  <a:srgbClr val="3A3A38"/>
                </a:solidFill>
                <a:latin typeface="Calibri" pitchFamily="34" charset="0"/>
                <a:ea typeface="Calibri" pitchFamily="34" charset="-122"/>
                <a:cs typeface="Calibri" pitchFamily="34" charset="-120"/>
              </a:rPr>
              <a:t>Displays confidence percentages, classification categories, processing latency, and heatmap overlay.</a:t>
            </a:r>
            <a:endParaRPr lang="en-US" sz="1150" dirty="0"/>
          </a:p>
        </p:txBody>
      </p:sp>
      <p:sp>
        <p:nvSpPr>
          <p:cNvPr id="13" name="Shape 11"/>
          <p:cNvSpPr/>
          <p:nvPr/>
        </p:nvSpPr>
        <p:spPr>
          <a:xfrm>
            <a:off x="548640" y="3840480"/>
            <a:ext cx="5349240" cy="2103120"/>
          </a:xfrm>
          <a:prstGeom prst="roundRect">
            <a:avLst>
              <a:gd name="adj" fmla="val 3478"/>
            </a:avLst>
          </a:prstGeom>
          <a:solidFill>
            <a:srgbClr val="F3F8F5"/>
          </a:solidFill>
          <a:ln/>
        </p:spPr>
      </p:sp>
      <p:sp>
        <p:nvSpPr>
          <p:cNvPr id="14" name="Shape 12"/>
          <p:cNvSpPr/>
          <p:nvPr/>
        </p:nvSpPr>
        <p:spPr>
          <a:xfrm>
            <a:off x="822960" y="4114800"/>
            <a:ext cx="594360" cy="594360"/>
          </a:xfrm>
          <a:prstGeom prst="ellipse">
            <a:avLst/>
          </a:prstGeom>
          <a:solidFill>
            <a:srgbClr val="2D6A4F"/>
          </a:solidFill>
          <a:ln/>
        </p:spPr>
      </p:sp>
      <p:sp>
        <p:nvSpPr>
          <p:cNvPr id="15" name="Text 13"/>
          <p:cNvSpPr/>
          <p:nvPr/>
        </p:nvSpPr>
        <p:spPr>
          <a:xfrm>
            <a:off x="822960" y="4114800"/>
            <a:ext cx="594360" cy="594360"/>
          </a:xfrm>
          <a:prstGeom prst="rect">
            <a:avLst/>
          </a:prstGeom>
          <a:noFill/>
          <a:ln/>
        </p:spPr>
        <p:txBody>
          <a:bodyPr wrap="square" rtlCol="0" anchor="ctr"/>
          <a:lstStyle/>
          <a:p>
            <a:pPr marL="0" indent="0" algn="ctr">
              <a:buNone/>
            </a:pPr>
            <a:r>
              <a:rPr lang="en-US" sz="1820" b="1" dirty="0">
                <a:solidFill>
                  <a:srgbClr val="FFFFFF"/>
                </a:solidFill>
                <a:latin typeface="Cambria" pitchFamily="34" charset="0"/>
                <a:ea typeface="Cambria" pitchFamily="34" charset="-122"/>
                <a:cs typeface="Cambria" pitchFamily="34" charset="-120"/>
              </a:rPr>
              <a:t>3</a:t>
            </a:r>
            <a:endParaRPr lang="en-US" sz="1820" dirty="0"/>
          </a:p>
        </p:txBody>
      </p:sp>
      <p:sp>
        <p:nvSpPr>
          <p:cNvPr id="16" name="Text 14"/>
          <p:cNvSpPr/>
          <p:nvPr/>
        </p:nvSpPr>
        <p:spPr>
          <a:xfrm>
            <a:off x="822960" y="4846320"/>
            <a:ext cx="4800600" cy="41148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Actionable Guidelines</a:t>
            </a:r>
            <a:endParaRPr lang="en-US" sz="1500" dirty="0"/>
          </a:p>
        </p:txBody>
      </p:sp>
      <p:sp>
        <p:nvSpPr>
          <p:cNvPr id="17" name="Text 15"/>
          <p:cNvSpPr/>
          <p:nvPr/>
        </p:nvSpPr>
        <p:spPr>
          <a:xfrm>
            <a:off x="822960" y="5257800"/>
            <a:ext cx="4800600" cy="594360"/>
          </a:xfrm>
          <a:prstGeom prst="rect">
            <a:avLst/>
          </a:prstGeom>
          <a:noFill/>
          <a:ln/>
        </p:spPr>
        <p:txBody>
          <a:bodyPr wrap="square" rtlCol="0" anchor="ctr"/>
          <a:lstStyle/>
          <a:p>
            <a:pPr marL="0" indent="0">
              <a:buNone/>
            </a:pPr>
            <a:r>
              <a:rPr lang="en-US" sz="1150" dirty="0">
                <a:solidFill>
                  <a:srgbClr val="3A3A38"/>
                </a:solidFill>
                <a:latin typeface="Calibri" pitchFamily="34" charset="0"/>
                <a:ea typeface="Calibri" pitchFamily="34" charset="-122"/>
                <a:cs typeface="Calibri" pitchFamily="34" charset="-120"/>
              </a:rPr>
              <a:t>Returns targeted recycling instructions and environmental tips based on the category.</a:t>
            </a:r>
            <a:endParaRPr lang="en-US" sz="1150" dirty="0"/>
          </a:p>
        </p:txBody>
      </p:sp>
      <p:sp>
        <p:nvSpPr>
          <p:cNvPr id="18" name="Shape 16"/>
          <p:cNvSpPr/>
          <p:nvPr/>
        </p:nvSpPr>
        <p:spPr>
          <a:xfrm>
            <a:off x="6217920" y="3840480"/>
            <a:ext cx="5349240" cy="2103120"/>
          </a:xfrm>
          <a:prstGeom prst="roundRect">
            <a:avLst>
              <a:gd name="adj" fmla="val 3478"/>
            </a:avLst>
          </a:prstGeom>
          <a:solidFill>
            <a:srgbClr val="F3F8F5"/>
          </a:solidFill>
          <a:ln/>
        </p:spPr>
      </p:sp>
      <p:sp>
        <p:nvSpPr>
          <p:cNvPr id="19" name="Shape 17"/>
          <p:cNvSpPr/>
          <p:nvPr/>
        </p:nvSpPr>
        <p:spPr>
          <a:xfrm>
            <a:off x="6492240" y="4114800"/>
            <a:ext cx="594360" cy="594360"/>
          </a:xfrm>
          <a:prstGeom prst="ellipse">
            <a:avLst/>
          </a:prstGeom>
          <a:solidFill>
            <a:srgbClr val="2D6A4F"/>
          </a:solidFill>
          <a:ln/>
        </p:spPr>
      </p:sp>
      <p:sp>
        <p:nvSpPr>
          <p:cNvPr id="20" name="Text 18"/>
          <p:cNvSpPr/>
          <p:nvPr/>
        </p:nvSpPr>
        <p:spPr>
          <a:xfrm>
            <a:off x="6492240" y="4114800"/>
            <a:ext cx="594360" cy="594360"/>
          </a:xfrm>
          <a:prstGeom prst="rect">
            <a:avLst/>
          </a:prstGeom>
          <a:noFill/>
          <a:ln/>
        </p:spPr>
        <p:txBody>
          <a:bodyPr wrap="square" rtlCol="0" anchor="ctr"/>
          <a:lstStyle/>
          <a:p>
            <a:pPr marL="0" indent="0" algn="ctr">
              <a:buNone/>
            </a:pPr>
            <a:r>
              <a:rPr lang="en-US" sz="1820" b="1" dirty="0">
                <a:solidFill>
                  <a:srgbClr val="FFFFFF"/>
                </a:solidFill>
                <a:latin typeface="Cambria" pitchFamily="34" charset="0"/>
                <a:ea typeface="Cambria" pitchFamily="34" charset="-122"/>
                <a:cs typeface="Cambria" pitchFamily="34" charset="-120"/>
              </a:rPr>
              <a:t>4</a:t>
            </a:r>
            <a:endParaRPr lang="en-US" sz="1820" dirty="0"/>
          </a:p>
        </p:txBody>
      </p:sp>
      <p:sp>
        <p:nvSpPr>
          <p:cNvPr id="21" name="Text 19"/>
          <p:cNvSpPr/>
          <p:nvPr/>
        </p:nvSpPr>
        <p:spPr>
          <a:xfrm>
            <a:off x="6492240" y="4846320"/>
            <a:ext cx="4800600" cy="41148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History Logs</a:t>
            </a:r>
            <a:endParaRPr lang="en-US" sz="1500" dirty="0"/>
          </a:p>
        </p:txBody>
      </p:sp>
      <p:sp>
        <p:nvSpPr>
          <p:cNvPr id="22" name="Text 20"/>
          <p:cNvSpPr/>
          <p:nvPr/>
        </p:nvSpPr>
        <p:spPr>
          <a:xfrm>
            <a:off x="6492240" y="5257800"/>
            <a:ext cx="4800600" cy="594360"/>
          </a:xfrm>
          <a:prstGeom prst="rect">
            <a:avLst/>
          </a:prstGeom>
          <a:noFill/>
          <a:ln/>
        </p:spPr>
        <p:txBody>
          <a:bodyPr wrap="square" rtlCol="0" anchor="ctr"/>
          <a:lstStyle/>
          <a:p>
            <a:pPr marL="0" indent="0">
              <a:buNone/>
            </a:pPr>
            <a:r>
              <a:rPr lang="en-US" sz="1150" dirty="0">
                <a:solidFill>
                  <a:srgbClr val="3A3A38"/>
                </a:solidFill>
                <a:latin typeface="Calibri" pitchFamily="34" charset="0"/>
                <a:ea typeface="Calibri" pitchFamily="34" charset="-122"/>
                <a:cs typeface="Calibri" pitchFamily="34" charset="-120"/>
              </a:rPr>
              <a:t>Displays historical scans with searchable details and visual records.</a:t>
            </a:r>
            <a:endParaRPr lang="en-US" sz="1150" dirty="0"/>
          </a:p>
        </p:txBody>
      </p:sp>
      <p:sp>
        <p:nvSpPr>
          <p:cNvPr id="23" name="Text 21"/>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24" name="Text 22"/>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Analytics &amp; Reporting</a:t>
            </a:r>
            <a:endParaRPr lang="en-US" sz="3000" dirty="0"/>
          </a:p>
        </p:txBody>
      </p:sp>
      <p:sp>
        <p:nvSpPr>
          <p:cNvPr id="3" name="Text 1"/>
          <p:cNvSpPr/>
          <p:nvPr/>
        </p:nvSpPr>
        <p:spPr>
          <a:xfrm>
            <a:off x="548640" y="1417320"/>
            <a:ext cx="5303520" cy="36576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Interactive Analytics Board</a:t>
            </a:r>
            <a:endParaRPr lang="en-US" sz="1500" dirty="0"/>
          </a:p>
        </p:txBody>
      </p:sp>
      <p:sp>
        <p:nvSpPr>
          <p:cNvPr id="4" name="Text 2"/>
          <p:cNvSpPr/>
          <p:nvPr/>
        </p:nvSpPr>
        <p:spPr>
          <a:xfrm>
            <a:off x="548640" y="1828800"/>
            <a:ext cx="5303520" cy="822960"/>
          </a:xfrm>
          <a:prstGeom prst="rect">
            <a:avLst/>
          </a:prstGeom>
          <a:noFill/>
          <a:ln/>
        </p:spPr>
        <p:txBody>
          <a:bodyPr wrap="square" rtlCol="0" anchor="ctr"/>
          <a:lstStyle/>
          <a:p>
            <a:pPr marL="0" indent="0">
              <a:lnSpc>
                <a:spcPct val="130000"/>
              </a:lnSpc>
              <a:buNone/>
            </a:pPr>
            <a:r>
              <a:rPr lang="en-US" sz="1200" dirty="0">
                <a:solidFill>
                  <a:srgbClr val="3A3A38"/>
                </a:solidFill>
                <a:latin typeface="Calibri" pitchFamily="34" charset="0"/>
                <a:ea typeface="Calibri" pitchFamily="34" charset="-122"/>
                <a:cs typeface="Calibri" pitchFamily="34" charset="-120"/>
              </a:rPr>
              <a:t>• KPIs for total uploads, accuracy, and average latency</a:t>
            </a:r>
            <a:endParaRPr lang="en-US" sz="1200" dirty="0"/>
          </a:p>
          <a:p>
            <a:pPr marL="0" indent="0">
              <a:lnSpc>
                <a:spcPct val="130000"/>
              </a:lnSpc>
              <a:buNone/>
            </a:pPr>
            <a:r>
              <a:rPr lang="en-US" sz="1200" dirty="0">
                <a:solidFill>
                  <a:srgbClr val="3A3A38"/>
                </a:solidFill>
                <a:latin typeface="Calibri" pitchFamily="34" charset="0"/>
                <a:ea typeface="Calibri" pitchFamily="34" charset="-122"/>
                <a:cs typeface="Calibri" pitchFamily="34" charset="-120"/>
              </a:rPr>
              <a:t>• Visual charts for waste distribution and weekly trends</a:t>
            </a:r>
            <a:endParaRPr lang="en-US" sz="1200" dirty="0"/>
          </a:p>
        </p:txBody>
      </p:sp>
      <p:sp>
        <p:nvSpPr>
          <p:cNvPr id="5" name="Text 3"/>
          <p:cNvSpPr/>
          <p:nvPr/>
        </p:nvSpPr>
        <p:spPr>
          <a:xfrm>
            <a:off x="548640" y="2788920"/>
            <a:ext cx="5303520" cy="36576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Audit-Ready Exports</a:t>
            </a:r>
            <a:endParaRPr lang="en-US" sz="1500" dirty="0"/>
          </a:p>
        </p:txBody>
      </p:sp>
      <p:sp>
        <p:nvSpPr>
          <p:cNvPr id="6" name="Text 4"/>
          <p:cNvSpPr/>
          <p:nvPr/>
        </p:nvSpPr>
        <p:spPr>
          <a:xfrm>
            <a:off x="548640" y="3200400"/>
            <a:ext cx="5303520" cy="1097280"/>
          </a:xfrm>
          <a:prstGeom prst="rect">
            <a:avLst/>
          </a:prstGeom>
          <a:noFill/>
          <a:ln/>
        </p:spPr>
        <p:txBody>
          <a:bodyPr wrap="square" rtlCol="0" anchor="ctr"/>
          <a:lstStyle/>
          <a:p>
            <a:pPr marL="0" indent="0">
              <a:spcAft>
                <a:spcPts val="800"/>
              </a:spcAft>
              <a:buNone/>
            </a:pPr>
            <a:r>
              <a:rPr lang="en-US" sz="1200" b="1" dirty="0">
                <a:solidFill>
                  <a:srgbClr val="1B4332"/>
                </a:solidFill>
                <a:latin typeface="Calibri" pitchFamily="34" charset="0"/>
                <a:ea typeface="Calibri" pitchFamily="34" charset="-122"/>
                <a:cs typeface="Calibri" pitchFamily="34" charset="-120"/>
              </a:rPr>
              <a:t>PDF Export: </a:t>
            </a:r>
            <a:r>
              <a:rPr lang="en-US" sz="1200" dirty="0">
                <a:solidFill>
                  <a:srgbClr val="3A3A38"/>
                </a:solidFill>
                <a:latin typeface="Calibri" pitchFamily="34" charset="0"/>
                <a:ea typeface="Calibri" pitchFamily="34" charset="-122"/>
                <a:cs typeface="Calibri" pitchFamily="34" charset="-120"/>
              </a:rPr>
              <a:t>Structured report with the Grad-CAM image and recycling advice.</a:t>
            </a:r>
            <a:endParaRPr lang="en-US" sz="1200" dirty="0"/>
          </a:p>
          <a:p>
            <a:pPr marL="0" indent="0">
              <a:spcAft>
                <a:spcPts val="800"/>
              </a:spcAft>
              <a:buNone/>
            </a:pPr>
            <a:r>
              <a:rPr lang="en-US" sz="1200" b="1" dirty="0">
                <a:solidFill>
                  <a:srgbClr val="1B4332"/>
                </a:solidFill>
                <a:latin typeface="Calibri" pitchFamily="34" charset="0"/>
                <a:ea typeface="Calibri" pitchFamily="34" charset="-122"/>
                <a:cs typeface="Calibri" pitchFamily="34" charset="-120"/>
              </a:rPr>
              <a:t>Excel/CSV Export: </a:t>
            </a:r>
            <a:r>
              <a:rPr lang="en-US" sz="1200" dirty="0">
                <a:solidFill>
                  <a:srgbClr val="3A3A38"/>
                </a:solidFill>
                <a:latin typeface="Calibri" pitchFamily="34" charset="0"/>
                <a:ea typeface="Calibri" pitchFamily="34" charset="-122"/>
                <a:cs typeface="Calibri" pitchFamily="34" charset="-120"/>
              </a:rPr>
              <a:t>Database logs exported for off-line audit reports.</a:t>
            </a:r>
            <a:endParaRPr lang="en-US" sz="1200" dirty="0"/>
          </a:p>
        </p:txBody>
      </p:sp>
      <p:graphicFrame>
        <p:nvGraphicFramePr>
          <p:cNvPr id="7" name="Chart 0"/>
          <p:cNvGraphicFramePr/>
          <p:nvPr/>
        </p:nvGraphicFramePr>
        <p:xfrm>
          <a:off x="6217920" y="1371600"/>
          <a:ext cx="2743200" cy="2468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
          <p:cNvGraphicFramePr/>
          <p:nvPr/>
        </p:nvGraphicFramePr>
        <p:xfrm>
          <a:off x="9144000" y="1371600"/>
          <a:ext cx="2468880" cy="246888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6217920" y="4114800"/>
            <a:ext cx="5394960" cy="1874520"/>
          </a:xfrm>
          <a:prstGeom prst="roundRect">
            <a:avLst>
              <a:gd name="adj" fmla="val 3902"/>
            </a:avLst>
          </a:prstGeom>
          <a:solidFill>
            <a:srgbClr val="F3F8F5"/>
          </a:solidFill>
          <a:ln/>
        </p:spPr>
      </p:sp>
      <p:sp>
        <p:nvSpPr>
          <p:cNvPr id="10" name="Text 6"/>
          <p:cNvSpPr/>
          <p:nvPr/>
        </p:nvSpPr>
        <p:spPr>
          <a:xfrm>
            <a:off x="6446520" y="4251960"/>
            <a:ext cx="4937760" cy="320040"/>
          </a:xfrm>
          <a:prstGeom prst="rect">
            <a:avLst/>
          </a:prstGeom>
          <a:noFill/>
          <a:ln/>
        </p:spPr>
        <p:txBody>
          <a:bodyPr wrap="square" rtlCol="0" anchor="ctr"/>
          <a:lstStyle/>
          <a:p>
            <a:pPr marL="0" indent="0">
              <a:buNone/>
            </a:pPr>
            <a:r>
              <a:rPr lang="en-US" sz="1300" b="1" dirty="0">
                <a:solidFill>
                  <a:srgbClr val="1B4332"/>
                </a:solidFill>
                <a:latin typeface="Cambria" pitchFamily="34" charset="0"/>
                <a:ea typeface="Cambria" pitchFamily="34" charset="-122"/>
                <a:cs typeface="Cambria" pitchFamily="34" charset="-120"/>
              </a:rPr>
              <a:t>Sample KPI Snapshot</a:t>
            </a:r>
            <a:endParaRPr lang="en-US" sz="1300" dirty="0"/>
          </a:p>
        </p:txBody>
      </p:sp>
      <p:sp>
        <p:nvSpPr>
          <p:cNvPr id="11" name="Text 7"/>
          <p:cNvSpPr/>
          <p:nvPr/>
        </p:nvSpPr>
        <p:spPr>
          <a:xfrm>
            <a:off x="6446520" y="4617720"/>
            <a:ext cx="1691640" cy="502920"/>
          </a:xfrm>
          <a:prstGeom prst="rect">
            <a:avLst/>
          </a:prstGeom>
          <a:noFill/>
          <a:ln/>
        </p:spPr>
        <p:txBody>
          <a:bodyPr wrap="square" rtlCol="0" anchor="ctr"/>
          <a:lstStyle/>
          <a:p>
            <a:pPr marL="0" indent="0" algn="ctr">
              <a:buNone/>
            </a:pPr>
            <a:r>
              <a:rPr lang="en-US" sz="2000" b="1" dirty="0">
                <a:solidFill>
                  <a:srgbClr val="2D6A4F"/>
                </a:solidFill>
                <a:latin typeface="Cambria" pitchFamily="34" charset="0"/>
                <a:ea typeface="Cambria" pitchFamily="34" charset="-122"/>
                <a:cs typeface="Cambria" pitchFamily="34" charset="-120"/>
              </a:rPr>
              <a:t>1,284</a:t>
            </a:r>
            <a:endParaRPr lang="en-US" sz="2000" dirty="0"/>
          </a:p>
        </p:txBody>
      </p:sp>
      <p:sp>
        <p:nvSpPr>
          <p:cNvPr id="12" name="Text 8"/>
          <p:cNvSpPr/>
          <p:nvPr/>
        </p:nvSpPr>
        <p:spPr>
          <a:xfrm>
            <a:off x="6446520" y="5120640"/>
            <a:ext cx="1691640" cy="640080"/>
          </a:xfrm>
          <a:prstGeom prst="rect">
            <a:avLst/>
          </a:prstGeom>
          <a:noFill/>
          <a:ln/>
        </p:spPr>
        <p:txBody>
          <a:bodyPr wrap="square" rtlCol="0" anchor="ctr"/>
          <a:lstStyle/>
          <a:p>
            <a:pPr marL="0" indent="0" algn="ctr">
              <a:buNone/>
            </a:pPr>
            <a:r>
              <a:rPr lang="en-US" sz="1000" dirty="0">
                <a:solidFill>
                  <a:srgbClr val="6B6B68"/>
                </a:solidFill>
                <a:latin typeface="Calibri" pitchFamily="34" charset="0"/>
                <a:ea typeface="Calibri" pitchFamily="34" charset="-122"/>
                <a:cs typeface="Calibri" pitchFamily="34" charset="-120"/>
              </a:rPr>
              <a:t>Total Uploads</a:t>
            </a:r>
            <a:endParaRPr lang="en-US" sz="1000" dirty="0"/>
          </a:p>
        </p:txBody>
      </p:sp>
      <p:sp>
        <p:nvSpPr>
          <p:cNvPr id="13" name="Text 9"/>
          <p:cNvSpPr/>
          <p:nvPr/>
        </p:nvSpPr>
        <p:spPr>
          <a:xfrm>
            <a:off x="8229600" y="4617720"/>
            <a:ext cx="1691640" cy="502920"/>
          </a:xfrm>
          <a:prstGeom prst="rect">
            <a:avLst/>
          </a:prstGeom>
          <a:noFill/>
          <a:ln/>
        </p:spPr>
        <p:txBody>
          <a:bodyPr wrap="square" rtlCol="0" anchor="ctr"/>
          <a:lstStyle/>
          <a:p>
            <a:pPr marL="0" indent="0" algn="ctr">
              <a:buNone/>
            </a:pPr>
            <a:r>
              <a:rPr lang="en-US" sz="2000" b="1" dirty="0">
                <a:solidFill>
                  <a:srgbClr val="2D6A4F"/>
                </a:solidFill>
                <a:latin typeface="Cambria" pitchFamily="34" charset="0"/>
                <a:ea typeface="Cambria" pitchFamily="34" charset="-122"/>
                <a:cs typeface="Cambria" pitchFamily="34" charset="-120"/>
              </a:rPr>
              <a:t>93.7%</a:t>
            </a:r>
            <a:endParaRPr lang="en-US" sz="2000" dirty="0"/>
          </a:p>
        </p:txBody>
      </p:sp>
      <p:sp>
        <p:nvSpPr>
          <p:cNvPr id="14" name="Text 10"/>
          <p:cNvSpPr/>
          <p:nvPr/>
        </p:nvSpPr>
        <p:spPr>
          <a:xfrm>
            <a:off x="8229600" y="5120640"/>
            <a:ext cx="1691640" cy="640080"/>
          </a:xfrm>
          <a:prstGeom prst="rect">
            <a:avLst/>
          </a:prstGeom>
          <a:noFill/>
          <a:ln/>
        </p:spPr>
        <p:txBody>
          <a:bodyPr wrap="square" rtlCol="0" anchor="ctr"/>
          <a:lstStyle/>
          <a:p>
            <a:pPr marL="0" indent="0" algn="ctr">
              <a:buNone/>
            </a:pPr>
            <a:r>
              <a:rPr lang="en-US" sz="1000" dirty="0">
                <a:solidFill>
                  <a:srgbClr val="6B6B68"/>
                </a:solidFill>
                <a:latin typeface="Calibri" pitchFamily="34" charset="0"/>
                <a:ea typeface="Calibri" pitchFamily="34" charset="-122"/>
                <a:cs typeface="Calibri" pitchFamily="34" charset="-120"/>
              </a:rPr>
              <a:t>Avg. Confidence</a:t>
            </a:r>
            <a:endParaRPr lang="en-US" sz="1000" dirty="0"/>
          </a:p>
        </p:txBody>
      </p:sp>
      <p:sp>
        <p:nvSpPr>
          <p:cNvPr id="15" name="Text 11"/>
          <p:cNvSpPr/>
          <p:nvPr/>
        </p:nvSpPr>
        <p:spPr>
          <a:xfrm>
            <a:off x="10012680" y="4617720"/>
            <a:ext cx="1691640" cy="502920"/>
          </a:xfrm>
          <a:prstGeom prst="rect">
            <a:avLst/>
          </a:prstGeom>
          <a:noFill/>
          <a:ln/>
        </p:spPr>
        <p:txBody>
          <a:bodyPr wrap="square" rtlCol="0" anchor="ctr"/>
          <a:lstStyle/>
          <a:p>
            <a:pPr marL="0" indent="0" algn="ctr">
              <a:buNone/>
            </a:pPr>
            <a:r>
              <a:rPr lang="en-US" sz="2000" b="1" dirty="0">
                <a:solidFill>
                  <a:srgbClr val="2D6A4F"/>
                </a:solidFill>
                <a:latin typeface="Cambria" pitchFamily="34" charset="0"/>
                <a:ea typeface="Cambria" pitchFamily="34" charset="-122"/>
                <a:cs typeface="Cambria" pitchFamily="34" charset="-120"/>
              </a:rPr>
              <a:t>268 ms</a:t>
            </a:r>
            <a:endParaRPr lang="en-US" sz="2000" dirty="0"/>
          </a:p>
        </p:txBody>
      </p:sp>
      <p:sp>
        <p:nvSpPr>
          <p:cNvPr id="16" name="Text 12"/>
          <p:cNvSpPr/>
          <p:nvPr/>
        </p:nvSpPr>
        <p:spPr>
          <a:xfrm>
            <a:off x="10012680" y="5120640"/>
            <a:ext cx="1691640" cy="640080"/>
          </a:xfrm>
          <a:prstGeom prst="rect">
            <a:avLst/>
          </a:prstGeom>
          <a:noFill/>
          <a:ln/>
        </p:spPr>
        <p:txBody>
          <a:bodyPr wrap="square" rtlCol="0" anchor="ctr"/>
          <a:lstStyle/>
          <a:p>
            <a:pPr marL="0" indent="0" algn="ctr">
              <a:buNone/>
            </a:pPr>
            <a:r>
              <a:rPr lang="en-US" sz="1000" dirty="0">
                <a:solidFill>
                  <a:srgbClr val="6B6B68"/>
                </a:solidFill>
                <a:latin typeface="Calibri" pitchFamily="34" charset="0"/>
                <a:ea typeface="Calibri" pitchFamily="34" charset="-122"/>
                <a:cs typeface="Calibri" pitchFamily="34" charset="-120"/>
              </a:rPr>
              <a:t>Avg. Latency</a:t>
            </a:r>
            <a:endParaRPr lang="en-US" sz="1000" dirty="0"/>
          </a:p>
        </p:txBody>
      </p:sp>
      <p:sp>
        <p:nvSpPr>
          <p:cNvPr id="17" name="Text 13"/>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18" name="Text 14"/>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Evaluation Metrics &amp; Results</a:t>
            </a:r>
            <a:endParaRPr lang="en-US" sz="3000" dirty="0"/>
          </a:p>
        </p:txBody>
      </p:sp>
      <p:sp>
        <p:nvSpPr>
          <p:cNvPr id="3" name="Shape 1"/>
          <p:cNvSpPr/>
          <p:nvPr/>
        </p:nvSpPr>
        <p:spPr>
          <a:xfrm>
            <a:off x="548640" y="1554480"/>
            <a:ext cx="2606040" cy="1371600"/>
          </a:xfrm>
          <a:prstGeom prst="roundRect">
            <a:avLst>
              <a:gd name="adj" fmla="val 5333"/>
            </a:avLst>
          </a:prstGeom>
          <a:solidFill>
            <a:srgbClr val="1B4332"/>
          </a:solidFill>
          <a:ln/>
        </p:spPr>
      </p:sp>
      <p:sp>
        <p:nvSpPr>
          <p:cNvPr id="4" name="Text 2"/>
          <p:cNvSpPr/>
          <p:nvPr/>
        </p:nvSpPr>
        <p:spPr>
          <a:xfrm>
            <a:off x="548640" y="1691640"/>
            <a:ext cx="2606040" cy="640080"/>
          </a:xfrm>
          <a:prstGeom prst="rect">
            <a:avLst/>
          </a:prstGeom>
          <a:noFill/>
          <a:ln/>
        </p:spPr>
        <p:txBody>
          <a:bodyPr wrap="square" rtlCol="0" anchor="ctr"/>
          <a:lstStyle/>
          <a:p>
            <a:pPr marL="0" indent="0" algn="ctr">
              <a:buNone/>
            </a:pPr>
            <a:r>
              <a:rPr lang="en-US" sz="2600" b="1" dirty="0">
                <a:solidFill>
                  <a:srgbClr val="95D5B2"/>
                </a:solidFill>
                <a:latin typeface="Cambria" pitchFamily="34" charset="0"/>
                <a:ea typeface="Cambria" pitchFamily="34" charset="-122"/>
                <a:cs typeface="Cambria" pitchFamily="34" charset="-120"/>
              </a:rPr>
              <a:t>94.2%</a:t>
            </a:r>
            <a:endParaRPr lang="en-US" sz="2600" dirty="0"/>
          </a:p>
        </p:txBody>
      </p:sp>
      <p:sp>
        <p:nvSpPr>
          <p:cNvPr id="5" name="Text 3"/>
          <p:cNvSpPr/>
          <p:nvPr/>
        </p:nvSpPr>
        <p:spPr>
          <a:xfrm>
            <a:off x="548640" y="2331720"/>
            <a:ext cx="2606040" cy="457200"/>
          </a:xfrm>
          <a:prstGeom prst="rect">
            <a:avLst/>
          </a:prstGeom>
          <a:noFill/>
          <a:ln/>
        </p:spPr>
        <p:txBody>
          <a:bodyPr wrap="square" rtlCol="0" anchor="ctr"/>
          <a:lstStyle/>
          <a:p>
            <a:pPr marL="0" indent="0" algn="ctr">
              <a:buNone/>
            </a:pPr>
            <a:r>
              <a:rPr lang="en-US" sz="1200" dirty="0">
                <a:solidFill>
                  <a:srgbClr val="E8F3ED"/>
                </a:solidFill>
                <a:latin typeface="Calibri" pitchFamily="34" charset="0"/>
                <a:ea typeface="Calibri" pitchFamily="34" charset="-122"/>
                <a:cs typeface="Calibri" pitchFamily="34" charset="-120"/>
              </a:rPr>
              <a:t>Accuracy</a:t>
            </a:r>
            <a:endParaRPr lang="en-US" sz="1200" dirty="0"/>
          </a:p>
        </p:txBody>
      </p:sp>
      <p:sp>
        <p:nvSpPr>
          <p:cNvPr id="6" name="Shape 4"/>
          <p:cNvSpPr/>
          <p:nvPr/>
        </p:nvSpPr>
        <p:spPr>
          <a:xfrm>
            <a:off x="3291840" y="1554480"/>
            <a:ext cx="2606040" cy="1371600"/>
          </a:xfrm>
          <a:prstGeom prst="roundRect">
            <a:avLst>
              <a:gd name="adj" fmla="val 5333"/>
            </a:avLst>
          </a:prstGeom>
          <a:solidFill>
            <a:srgbClr val="1B4332"/>
          </a:solidFill>
          <a:ln/>
        </p:spPr>
      </p:sp>
      <p:sp>
        <p:nvSpPr>
          <p:cNvPr id="7" name="Text 5"/>
          <p:cNvSpPr/>
          <p:nvPr/>
        </p:nvSpPr>
        <p:spPr>
          <a:xfrm>
            <a:off x="3291840" y="1691640"/>
            <a:ext cx="2606040" cy="640080"/>
          </a:xfrm>
          <a:prstGeom prst="rect">
            <a:avLst/>
          </a:prstGeom>
          <a:noFill/>
          <a:ln/>
        </p:spPr>
        <p:txBody>
          <a:bodyPr wrap="square" rtlCol="0" anchor="ctr"/>
          <a:lstStyle/>
          <a:p>
            <a:pPr marL="0" indent="0" algn="ctr">
              <a:buNone/>
            </a:pPr>
            <a:r>
              <a:rPr lang="en-US" sz="2600" b="1" dirty="0">
                <a:solidFill>
                  <a:srgbClr val="95D5B2"/>
                </a:solidFill>
                <a:latin typeface="Cambria" pitchFamily="34" charset="0"/>
                <a:ea typeface="Cambria" pitchFamily="34" charset="-122"/>
                <a:cs typeface="Cambria" pitchFamily="34" charset="-120"/>
              </a:rPr>
              <a:t>93.8%</a:t>
            </a:r>
            <a:endParaRPr lang="en-US" sz="2600" dirty="0"/>
          </a:p>
        </p:txBody>
      </p:sp>
      <p:sp>
        <p:nvSpPr>
          <p:cNvPr id="8" name="Text 6"/>
          <p:cNvSpPr/>
          <p:nvPr/>
        </p:nvSpPr>
        <p:spPr>
          <a:xfrm>
            <a:off x="3291840" y="2331720"/>
            <a:ext cx="2606040" cy="457200"/>
          </a:xfrm>
          <a:prstGeom prst="rect">
            <a:avLst/>
          </a:prstGeom>
          <a:noFill/>
          <a:ln/>
        </p:spPr>
        <p:txBody>
          <a:bodyPr wrap="square" rtlCol="0" anchor="ctr"/>
          <a:lstStyle/>
          <a:p>
            <a:pPr marL="0" indent="0" algn="ctr">
              <a:buNone/>
            </a:pPr>
            <a:r>
              <a:rPr lang="en-US" sz="1200" dirty="0">
                <a:solidFill>
                  <a:srgbClr val="E8F3ED"/>
                </a:solidFill>
                <a:latin typeface="Calibri" pitchFamily="34" charset="0"/>
                <a:ea typeface="Calibri" pitchFamily="34" charset="-122"/>
                <a:cs typeface="Calibri" pitchFamily="34" charset="-120"/>
              </a:rPr>
              <a:t>Precision</a:t>
            </a:r>
            <a:endParaRPr lang="en-US" sz="1200" dirty="0"/>
          </a:p>
        </p:txBody>
      </p:sp>
      <p:sp>
        <p:nvSpPr>
          <p:cNvPr id="9" name="Shape 7"/>
          <p:cNvSpPr/>
          <p:nvPr/>
        </p:nvSpPr>
        <p:spPr>
          <a:xfrm>
            <a:off x="6035040" y="1554480"/>
            <a:ext cx="2606040" cy="1371600"/>
          </a:xfrm>
          <a:prstGeom prst="roundRect">
            <a:avLst>
              <a:gd name="adj" fmla="val 5333"/>
            </a:avLst>
          </a:prstGeom>
          <a:solidFill>
            <a:srgbClr val="1B4332"/>
          </a:solidFill>
          <a:ln/>
        </p:spPr>
      </p:sp>
      <p:sp>
        <p:nvSpPr>
          <p:cNvPr id="10" name="Text 8"/>
          <p:cNvSpPr/>
          <p:nvPr/>
        </p:nvSpPr>
        <p:spPr>
          <a:xfrm>
            <a:off x="6035040" y="1691640"/>
            <a:ext cx="2606040" cy="640080"/>
          </a:xfrm>
          <a:prstGeom prst="rect">
            <a:avLst/>
          </a:prstGeom>
          <a:noFill/>
          <a:ln/>
        </p:spPr>
        <p:txBody>
          <a:bodyPr wrap="square" rtlCol="0" anchor="ctr"/>
          <a:lstStyle/>
          <a:p>
            <a:pPr marL="0" indent="0" algn="ctr">
              <a:buNone/>
            </a:pPr>
            <a:r>
              <a:rPr lang="en-US" sz="2600" b="1" dirty="0">
                <a:solidFill>
                  <a:srgbClr val="95D5B2"/>
                </a:solidFill>
                <a:latin typeface="Cambria" pitchFamily="34" charset="0"/>
                <a:ea typeface="Cambria" pitchFamily="34" charset="-122"/>
                <a:cs typeface="Cambria" pitchFamily="34" charset="-120"/>
              </a:rPr>
              <a:t>92.6%</a:t>
            </a:r>
            <a:endParaRPr lang="en-US" sz="2600" dirty="0"/>
          </a:p>
        </p:txBody>
      </p:sp>
      <p:sp>
        <p:nvSpPr>
          <p:cNvPr id="11" name="Text 9"/>
          <p:cNvSpPr/>
          <p:nvPr/>
        </p:nvSpPr>
        <p:spPr>
          <a:xfrm>
            <a:off x="6035040" y="2331720"/>
            <a:ext cx="2606040" cy="457200"/>
          </a:xfrm>
          <a:prstGeom prst="rect">
            <a:avLst/>
          </a:prstGeom>
          <a:noFill/>
          <a:ln/>
        </p:spPr>
        <p:txBody>
          <a:bodyPr wrap="square" rtlCol="0" anchor="ctr"/>
          <a:lstStyle/>
          <a:p>
            <a:pPr marL="0" indent="0" algn="ctr">
              <a:buNone/>
            </a:pPr>
            <a:r>
              <a:rPr lang="en-US" sz="1200" dirty="0">
                <a:solidFill>
                  <a:srgbClr val="E8F3ED"/>
                </a:solidFill>
                <a:latin typeface="Calibri" pitchFamily="34" charset="0"/>
                <a:ea typeface="Calibri" pitchFamily="34" charset="-122"/>
                <a:cs typeface="Calibri" pitchFamily="34" charset="-120"/>
              </a:rPr>
              <a:t>Recall</a:t>
            </a:r>
            <a:endParaRPr lang="en-US" sz="1200" dirty="0"/>
          </a:p>
        </p:txBody>
      </p:sp>
      <p:sp>
        <p:nvSpPr>
          <p:cNvPr id="12" name="Shape 10"/>
          <p:cNvSpPr/>
          <p:nvPr/>
        </p:nvSpPr>
        <p:spPr>
          <a:xfrm>
            <a:off x="8778240" y="1554480"/>
            <a:ext cx="2606040" cy="1371600"/>
          </a:xfrm>
          <a:prstGeom prst="roundRect">
            <a:avLst>
              <a:gd name="adj" fmla="val 5333"/>
            </a:avLst>
          </a:prstGeom>
          <a:solidFill>
            <a:srgbClr val="1B4332"/>
          </a:solidFill>
          <a:ln/>
        </p:spPr>
      </p:sp>
      <p:sp>
        <p:nvSpPr>
          <p:cNvPr id="13" name="Text 11"/>
          <p:cNvSpPr/>
          <p:nvPr/>
        </p:nvSpPr>
        <p:spPr>
          <a:xfrm>
            <a:off x="8778240" y="1691640"/>
            <a:ext cx="2606040" cy="640080"/>
          </a:xfrm>
          <a:prstGeom prst="rect">
            <a:avLst/>
          </a:prstGeom>
          <a:noFill/>
          <a:ln/>
        </p:spPr>
        <p:txBody>
          <a:bodyPr wrap="square" rtlCol="0" anchor="ctr"/>
          <a:lstStyle/>
          <a:p>
            <a:pPr marL="0" indent="0" algn="ctr">
              <a:buNone/>
            </a:pPr>
            <a:r>
              <a:rPr lang="en-US" sz="2600" b="1" dirty="0">
                <a:solidFill>
                  <a:srgbClr val="95D5B2"/>
                </a:solidFill>
                <a:latin typeface="Cambria" pitchFamily="34" charset="0"/>
                <a:ea typeface="Cambria" pitchFamily="34" charset="-122"/>
                <a:cs typeface="Cambria" pitchFamily="34" charset="-120"/>
              </a:rPr>
              <a:t>93.2%</a:t>
            </a:r>
            <a:endParaRPr lang="en-US" sz="2600" dirty="0"/>
          </a:p>
        </p:txBody>
      </p:sp>
      <p:sp>
        <p:nvSpPr>
          <p:cNvPr id="14" name="Text 12"/>
          <p:cNvSpPr/>
          <p:nvPr/>
        </p:nvSpPr>
        <p:spPr>
          <a:xfrm>
            <a:off x="8778240" y="2331720"/>
            <a:ext cx="2606040" cy="457200"/>
          </a:xfrm>
          <a:prstGeom prst="rect">
            <a:avLst/>
          </a:prstGeom>
          <a:noFill/>
          <a:ln/>
        </p:spPr>
        <p:txBody>
          <a:bodyPr wrap="square" rtlCol="0" anchor="ctr"/>
          <a:lstStyle/>
          <a:p>
            <a:pPr marL="0" indent="0" algn="ctr">
              <a:buNone/>
            </a:pPr>
            <a:r>
              <a:rPr lang="en-US" sz="1200" dirty="0">
                <a:solidFill>
                  <a:srgbClr val="E8F3ED"/>
                </a:solidFill>
                <a:latin typeface="Calibri" pitchFamily="34" charset="0"/>
                <a:ea typeface="Calibri" pitchFamily="34" charset="-122"/>
                <a:cs typeface="Calibri" pitchFamily="34" charset="-120"/>
              </a:rPr>
              <a:t>F1 Score</a:t>
            </a:r>
            <a:endParaRPr lang="en-US" sz="1200" dirty="0"/>
          </a:p>
        </p:txBody>
      </p:sp>
      <p:sp>
        <p:nvSpPr>
          <p:cNvPr id="15" name="Text 13"/>
          <p:cNvSpPr/>
          <p:nvPr/>
        </p:nvSpPr>
        <p:spPr>
          <a:xfrm>
            <a:off x="548640" y="3017520"/>
            <a:ext cx="10972800" cy="274320"/>
          </a:xfrm>
          <a:prstGeom prst="rect">
            <a:avLst/>
          </a:prstGeom>
          <a:noFill/>
          <a:ln/>
        </p:spPr>
        <p:txBody>
          <a:bodyPr wrap="square" rtlCol="0" anchor="ctr"/>
          <a:lstStyle/>
          <a:p>
            <a:pPr marL="0" indent="0">
              <a:buNone/>
            </a:pPr>
            <a:r>
              <a:rPr lang="en-US" sz="1000" i="1" dirty="0">
                <a:solidFill>
                  <a:srgbClr val="6B6B68"/>
                </a:solidFill>
                <a:latin typeface="Calibri" pitchFamily="34" charset="0"/>
                <a:ea typeface="Calibri" pitchFamily="34" charset="-122"/>
                <a:cs typeface="Calibri" pitchFamily="34" charset="-120"/>
              </a:rPr>
              <a:t>* Illustrative figures — replace with your model's actual evaluation results.</a:t>
            </a:r>
            <a:endParaRPr lang="en-US" sz="1000" dirty="0"/>
          </a:p>
        </p:txBody>
      </p:sp>
      <p:sp>
        <p:nvSpPr>
          <p:cNvPr id="16" name="Text 14"/>
          <p:cNvSpPr/>
          <p:nvPr/>
        </p:nvSpPr>
        <p:spPr>
          <a:xfrm>
            <a:off x="548640" y="3474720"/>
            <a:ext cx="5486400" cy="320040"/>
          </a:xfrm>
          <a:prstGeom prst="rect">
            <a:avLst/>
          </a:prstGeom>
          <a:noFill/>
          <a:ln/>
        </p:spPr>
        <p:txBody>
          <a:bodyPr wrap="square" rtlCol="0" anchor="ctr"/>
          <a:lstStyle/>
          <a:p>
            <a:pPr marL="0" indent="0">
              <a:buNone/>
            </a:pPr>
            <a:r>
              <a:rPr lang="en-US" sz="1400" b="1" dirty="0">
                <a:solidFill>
                  <a:srgbClr val="1B4332"/>
                </a:solidFill>
                <a:latin typeface="Cambria" pitchFamily="34" charset="0"/>
                <a:ea typeface="Cambria" pitchFamily="34" charset="-122"/>
                <a:cs typeface="Cambria" pitchFamily="34" charset="-120"/>
              </a:rPr>
              <a:t>Confusion Matrix (Illustrative)</a:t>
            </a:r>
            <a:endParaRPr lang="en-US" sz="1400" dirty="0"/>
          </a:p>
        </p:txBody>
      </p:sp>
      <p:sp>
        <p:nvSpPr>
          <p:cNvPr id="17" name="Shape 15"/>
          <p:cNvSpPr/>
          <p:nvPr/>
        </p:nvSpPr>
        <p:spPr>
          <a:xfrm>
            <a:off x="548640" y="3840480"/>
            <a:ext cx="804672" cy="804672"/>
          </a:xfrm>
          <a:prstGeom prst="rect">
            <a:avLst/>
          </a:prstGeom>
          <a:solidFill>
            <a:srgbClr val="2D6A4F"/>
          </a:solidFill>
          <a:ln w="12700">
            <a:solidFill>
              <a:srgbClr val="FFFFFF"/>
            </a:solidFill>
            <a:prstDash val="solid"/>
          </a:ln>
        </p:spPr>
      </p:sp>
      <p:sp>
        <p:nvSpPr>
          <p:cNvPr id="18" name="Text 16"/>
          <p:cNvSpPr/>
          <p:nvPr/>
        </p:nvSpPr>
        <p:spPr>
          <a:xfrm>
            <a:off x="548640" y="3840480"/>
            <a:ext cx="804672" cy="8046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95</a:t>
            </a:r>
            <a:endParaRPr lang="en-US" sz="1000" dirty="0"/>
          </a:p>
        </p:txBody>
      </p:sp>
      <p:sp>
        <p:nvSpPr>
          <p:cNvPr id="19" name="Shape 17"/>
          <p:cNvSpPr/>
          <p:nvPr/>
        </p:nvSpPr>
        <p:spPr>
          <a:xfrm>
            <a:off x="1353312" y="3840480"/>
            <a:ext cx="804672" cy="804672"/>
          </a:xfrm>
          <a:prstGeom prst="rect">
            <a:avLst/>
          </a:prstGeom>
          <a:solidFill>
            <a:srgbClr val="2D6A4F">
              <a:alpha val="1800"/>
            </a:srgbClr>
          </a:solidFill>
          <a:ln w="12700">
            <a:solidFill>
              <a:srgbClr val="FFFFFF"/>
            </a:solidFill>
            <a:prstDash val="solid"/>
          </a:ln>
        </p:spPr>
      </p:sp>
      <p:sp>
        <p:nvSpPr>
          <p:cNvPr id="20" name="Text 18"/>
          <p:cNvSpPr/>
          <p:nvPr/>
        </p:nvSpPr>
        <p:spPr>
          <a:xfrm>
            <a:off x="1353312" y="3840480"/>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2</a:t>
            </a:r>
            <a:endParaRPr lang="en-US" sz="1000" dirty="0"/>
          </a:p>
        </p:txBody>
      </p:sp>
      <p:sp>
        <p:nvSpPr>
          <p:cNvPr id="21" name="Shape 19"/>
          <p:cNvSpPr/>
          <p:nvPr/>
        </p:nvSpPr>
        <p:spPr>
          <a:xfrm>
            <a:off x="2157984" y="3840480"/>
            <a:ext cx="804672" cy="804672"/>
          </a:xfrm>
          <a:prstGeom prst="rect">
            <a:avLst/>
          </a:prstGeom>
          <a:solidFill>
            <a:srgbClr val="2D6A4F">
              <a:alpha val="900"/>
            </a:srgbClr>
          </a:solidFill>
          <a:ln w="12700">
            <a:solidFill>
              <a:srgbClr val="FFFFFF"/>
            </a:solidFill>
            <a:prstDash val="solid"/>
          </a:ln>
        </p:spPr>
      </p:sp>
      <p:sp>
        <p:nvSpPr>
          <p:cNvPr id="22" name="Text 20"/>
          <p:cNvSpPr/>
          <p:nvPr/>
        </p:nvSpPr>
        <p:spPr>
          <a:xfrm>
            <a:off x="2157984" y="3840480"/>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1</a:t>
            </a:r>
            <a:endParaRPr lang="en-US" sz="1000" dirty="0"/>
          </a:p>
        </p:txBody>
      </p:sp>
      <p:sp>
        <p:nvSpPr>
          <p:cNvPr id="23" name="Shape 21"/>
          <p:cNvSpPr/>
          <p:nvPr/>
        </p:nvSpPr>
        <p:spPr>
          <a:xfrm>
            <a:off x="2962656" y="3840480"/>
            <a:ext cx="804672" cy="804672"/>
          </a:xfrm>
          <a:prstGeom prst="rect">
            <a:avLst/>
          </a:prstGeom>
          <a:solidFill>
            <a:srgbClr val="2D6A4F">
              <a:alpha val="900"/>
            </a:srgbClr>
          </a:solidFill>
          <a:ln w="12700">
            <a:solidFill>
              <a:srgbClr val="FFFFFF"/>
            </a:solidFill>
            <a:prstDash val="solid"/>
          </a:ln>
        </p:spPr>
      </p:sp>
      <p:sp>
        <p:nvSpPr>
          <p:cNvPr id="24" name="Text 22"/>
          <p:cNvSpPr/>
          <p:nvPr/>
        </p:nvSpPr>
        <p:spPr>
          <a:xfrm>
            <a:off x="2962656" y="3840480"/>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1</a:t>
            </a:r>
            <a:endParaRPr lang="en-US" sz="1000" dirty="0"/>
          </a:p>
        </p:txBody>
      </p:sp>
      <p:sp>
        <p:nvSpPr>
          <p:cNvPr id="25" name="Shape 23"/>
          <p:cNvSpPr/>
          <p:nvPr/>
        </p:nvSpPr>
        <p:spPr>
          <a:xfrm>
            <a:off x="3767328" y="3840480"/>
            <a:ext cx="804672" cy="804672"/>
          </a:xfrm>
          <a:prstGeom prst="rect">
            <a:avLst/>
          </a:prstGeom>
          <a:solidFill>
            <a:srgbClr val="2D6A4F">
              <a:alpha val="900"/>
            </a:srgbClr>
          </a:solidFill>
          <a:ln w="12700">
            <a:solidFill>
              <a:srgbClr val="FFFFFF"/>
            </a:solidFill>
            <a:prstDash val="solid"/>
          </a:ln>
        </p:spPr>
      </p:sp>
      <p:sp>
        <p:nvSpPr>
          <p:cNvPr id="26" name="Text 24"/>
          <p:cNvSpPr/>
          <p:nvPr/>
        </p:nvSpPr>
        <p:spPr>
          <a:xfrm>
            <a:off x="3767328" y="3840480"/>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1</a:t>
            </a:r>
            <a:endParaRPr lang="en-US" sz="1000" dirty="0"/>
          </a:p>
        </p:txBody>
      </p:sp>
      <p:sp>
        <p:nvSpPr>
          <p:cNvPr id="27" name="Shape 25"/>
          <p:cNvSpPr/>
          <p:nvPr/>
        </p:nvSpPr>
        <p:spPr>
          <a:xfrm>
            <a:off x="548640" y="4645152"/>
            <a:ext cx="804672" cy="804672"/>
          </a:xfrm>
          <a:prstGeom prst="rect">
            <a:avLst/>
          </a:prstGeom>
          <a:solidFill>
            <a:srgbClr val="2D6A4F">
              <a:alpha val="2700"/>
            </a:srgbClr>
          </a:solidFill>
          <a:ln w="12700">
            <a:solidFill>
              <a:srgbClr val="FFFFFF"/>
            </a:solidFill>
            <a:prstDash val="solid"/>
          </a:ln>
        </p:spPr>
      </p:sp>
      <p:sp>
        <p:nvSpPr>
          <p:cNvPr id="28" name="Text 26"/>
          <p:cNvSpPr/>
          <p:nvPr/>
        </p:nvSpPr>
        <p:spPr>
          <a:xfrm>
            <a:off x="548640" y="4645152"/>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3</a:t>
            </a:r>
            <a:endParaRPr lang="en-US" sz="1000" dirty="0"/>
          </a:p>
        </p:txBody>
      </p:sp>
      <p:sp>
        <p:nvSpPr>
          <p:cNvPr id="29" name="Shape 27"/>
          <p:cNvSpPr/>
          <p:nvPr/>
        </p:nvSpPr>
        <p:spPr>
          <a:xfrm>
            <a:off x="1353312" y="4645152"/>
            <a:ext cx="804672" cy="804672"/>
          </a:xfrm>
          <a:prstGeom prst="rect">
            <a:avLst/>
          </a:prstGeom>
          <a:solidFill>
            <a:srgbClr val="2D6A4F"/>
          </a:solidFill>
          <a:ln w="12700">
            <a:solidFill>
              <a:srgbClr val="FFFFFF"/>
            </a:solidFill>
            <a:prstDash val="solid"/>
          </a:ln>
        </p:spPr>
      </p:sp>
      <p:sp>
        <p:nvSpPr>
          <p:cNvPr id="30" name="Text 28"/>
          <p:cNvSpPr/>
          <p:nvPr/>
        </p:nvSpPr>
        <p:spPr>
          <a:xfrm>
            <a:off x="1353312" y="4645152"/>
            <a:ext cx="804672" cy="8046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92</a:t>
            </a:r>
            <a:endParaRPr lang="en-US" sz="1000" dirty="0"/>
          </a:p>
        </p:txBody>
      </p:sp>
      <p:sp>
        <p:nvSpPr>
          <p:cNvPr id="31" name="Shape 29"/>
          <p:cNvSpPr/>
          <p:nvPr/>
        </p:nvSpPr>
        <p:spPr>
          <a:xfrm>
            <a:off x="2157984" y="4645152"/>
            <a:ext cx="804672" cy="804672"/>
          </a:xfrm>
          <a:prstGeom prst="rect">
            <a:avLst/>
          </a:prstGeom>
          <a:solidFill>
            <a:srgbClr val="2D6A4F">
              <a:alpha val="1800"/>
            </a:srgbClr>
          </a:solidFill>
          <a:ln w="12700">
            <a:solidFill>
              <a:srgbClr val="FFFFFF"/>
            </a:solidFill>
            <a:prstDash val="solid"/>
          </a:ln>
        </p:spPr>
      </p:sp>
      <p:sp>
        <p:nvSpPr>
          <p:cNvPr id="32" name="Text 30"/>
          <p:cNvSpPr/>
          <p:nvPr/>
        </p:nvSpPr>
        <p:spPr>
          <a:xfrm>
            <a:off x="2157984" y="4645152"/>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2</a:t>
            </a:r>
            <a:endParaRPr lang="en-US" sz="1000" dirty="0"/>
          </a:p>
        </p:txBody>
      </p:sp>
      <p:sp>
        <p:nvSpPr>
          <p:cNvPr id="33" name="Shape 31"/>
          <p:cNvSpPr/>
          <p:nvPr/>
        </p:nvSpPr>
        <p:spPr>
          <a:xfrm>
            <a:off x="2962656" y="4645152"/>
            <a:ext cx="804672" cy="804672"/>
          </a:xfrm>
          <a:prstGeom prst="rect">
            <a:avLst/>
          </a:prstGeom>
          <a:solidFill>
            <a:srgbClr val="2D6A4F">
              <a:alpha val="1800"/>
            </a:srgbClr>
          </a:solidFill>
          <a:ln w="12700">
            <a:solidFill>
              <a:srgbClr val="FFFFFF"/>
            </a:solidFill>
            <a:prstDash val="solid"/>
          </a:ln>
        </p:spPr>
      </p:sp>
      <p:sp>
        <p:nvSpPr>
          <p:cNvPr id="34" name="Text 32"/>
          <p:cNvSpPr/>
          <p:nvPr/>
        </p:nvSpPr>
        <p:spPr>
          <a:xfrm>
            <a:off x="2962656" y="4645152"/>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2</a:t>
            </a:r>
            <a:endParaRPr lang="en-US" sz="1000" dirty="0"/>
          </a:p>
        </p:txBody>
      </p:sp>
      <p:sp>
        <p:nvSpPr>
          <p:cNvPr id="35" name="Shape 33"/>
          <p:cNvSpPr/>
          <p:nvPr/>
        </p:nvSpPr>
        <p:spPr>
          <a:xfrm>
            <a:off x="3767328" y="4645152"/>
            <a:ext cx="804672" cy="804672"/>
          </a:xfrm>
          <a:prstGeom prst="rect">
            <a:avLst/>
          </a:prstGeom>
          <a:solidFill>
            <a:srgbClr val="2D6A4F">
              <a:alpha val="900"/>
            </a:srgbClr>
          </a:solidFill>
          <a:ln w="12700">
            <a:solidFill>
              <a:srgbClr val="FFFFFF"/>
            </a:solidFill>
            <a:prstDash val="solid"/>
          </a:ln>
        </p:spPr>
      </p:sp>
      <p:sp>
        <p:nvSpPr>
          <p:cNvPr id="36" name="Text 34"/>
          <p:cNvSpPr/>
          <p:nvPr/>
        </p:nvSpPr>
        <p:spPr>
          <a:xfrm>
            <a:off x="3767328" y="4645152"/>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1</a:t>
            </a:r>
            <a:endParaRPr lang="en-US" sz="1000" dirty="0"/>
          </a:p>
        </p:txBody>
      </p:sp>
      <p:sp>
        <p:nvSpPr>
          <p:cNvPr id="37" name="Shape 35"/>
          <p:cNvSpPr/>
          <p:nvPr/>
        </p:nvSpPr>
        <p:spPr>
          <a:xfrm>
            <a:off x="548640" y="5449824"/>
            <a:ext cx="804672" cy="804672"/>
          </a:xfrm>
          <a:prstGeom prst="rect">
            <a:avLst/>
          </a:prstGeom>
          <a:solidFill>
            <a:srgbClr val="2D6A4F">
              <a:alpha val="1800"/>
            </a:srgbClr>
          </a:solidFill>
          <a:ln w="12700">
            <a:solidFill>
              <a:srgbClr val="FFFFFF"/>
            </a:solidFill>
            <a:prstDash val="solid"/>
          </a:ln>
        </p:spPr>
      </p:sp>
      <p:sp>
        <p:nvSpPr>
          <p:cNvPr id="38" name="Text 36"/>
          <p:cNvSpPr/>
          <p:nvPr/>
        </p:nvSpPr>
        <p:spPr>
          <a:xfrm>
            <a:off x="548640" y="5449824"/>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2</a:t>
            </a:r>
            <a:endParaRPr lang="en-US" sz="1000" dirty="0"/>
          </a:p>
        </p:txBody>
      </p:sp>
      <p:sp>
        <p:nvSpPr>
          <p:cNvPr id="39" name="Shape 37"/>
          <p:cNvSpPr/>
          <p:nvPr/>
        </p:nvSpPr>
        <p:spPr>
          <a:xfrm>
            <a:off x="1353312" y="5449824"/>
            <a:ext cx="804672" cy="804672"/>
          </a:xfrm>
          <a:prstGeom prst="rect">
            <a:avLst/>
          </a:prstGeom>
          <a:solidFill>
            <a:srgbClr val="2D6A4F">
              <a:alpha val="2700"/>
            </a:srgbClr>
          </a:solidFill>
          <a:ln w="12700">
            <a:solidFill>
              <a:srgbClr val="FFFFFF"/>
            </a:solidFill>
            <a:prstDash val="solid"/>
          </a:ln>
        </p:spPr>
      </p:sp>
      <p:sp>
        <p:nvSpPr>
          <p:cNvPr id="40" name="Text 38"/>
          <p:cNvSpPr/>
          <p:nvPr/>
        </p:nvSpPr>
        <p:spPr>
          <a:xfrm>
            <a:off x="1353312" y="5449824"/>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3</a:t>
            </a:r>
            <a:endParaRPr lang="en-US" sz="1000" dirty="0"/>
          </a:p>
        </p:txBody>
      </p:sp>
      <p:sp>
        <p:nvSpPr>
          <p:cNvPr id="41" name="Shape 39"/>
          <p:cNvSpPr/>
          <p:nvPr/>
        </p:nvSpPr>
        <p:spPr>
          <a:xfrm>
            <a:off x="2157984" y="5449824"/>
            <a:ext cx="804672" cy="804672"/>
          </a:xfrm>
          <a:prstGeom prst="rect">
            <a:avLst/>
          </a:prstGeom>
          <a:solidFill>
            <a:srgbClr val="2D6A4F"/>
          </a:solidFill>
          <a:ln w="12700">
            <a:solidFill>
              <a:srgbClr val="FFFFFF"/>
            </a:solidFill>
            <a:prstDash val="solid"/>
          </a:ln>
        </p:spPr>
      </p:sp>
      <p:sp>
        <p:nvSpPr>
          <p:cNvPr id="42" name="Text 40"/>
          <p:cNvSpPr/>
          <p:nvPr/>
        </p:nvSpPr>
        <p:spPr>
          <a:xfrm>
            <a:off x="2157984" y="5449824"/>
            <a:ext cx="804672" cy="8046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90</a:t>
            </a:r>
            <a:endParaRPr lang="en-US" sz="1000" dirty="0"/>
          </a:p>
        </p:txBody>
      </p:sp>
      <p:sp>
        <p:nvSpPr>
          <p:cNvPr id="43" name="Shape 41"/>
          <p:cNvSpPr/>
          <p:nvPr/>
        </p:nvSpPr>
        <p:spPr>
          <a:xfrm>
            <a:off x="2962656" y="5449824"/>
            <a:ext cx="804672" cy="804672"/>
          </a:xfrm>
          <a:prstGeom prst="rect">
            <a:avLst/>
          </a:prstGeom>
          <a:solidFill>
            <a:srgbClr val="2D6A4F">
              <a:alpha val="2700"/>
            </a:srgbClr>
          </a:solidFill>
          <a:ln w="12700">
            <a:solidFill>
              <a:srgbClr val="FFFFFF"/>
            </a:solidFill>
            <a:prstDash val="solid"/>
          </a:ln>
        </p:spPr>
      </p:sp>
      <p:sp>
        <p:nvSpPr>
          <p:cNvPr id="44" name="Text 42"/>
          <p:cNvSpPr/>
          <p:nvPr/>
        </p:nvSpPr>
        <p:spPr>
          <a:xfrm>
            <a:off x="2962656" y="5449824"/>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3</a:t>
            </a:r>
            <a:endParaRPr lang="en-US" sz="1000" dirty="0"/>
          </a:p>
        </p:txBody>
      </p:sp>
      <p:sp>
        <p:nvSpPr>
          <p:cNvPr id="45" name="Shape 43"/>
          <p:cNvSpPr/>
          <p:nvPr/>
        </p:nvSpPr>
        <p:spPr>
          <a:xfrm>
            <a:off x="3767328" y="5449824"/>
            <a:ext cx="804672" cy="804672"/>
          </a:xfrm>
          <a:prstGeom prst="rect">
            <a:avLst/>
          </a:prstGeom>
          <a:solidFill>
            <a:srgbClr val="2D6A4F">
              <a:alpha val="1800"/>
            </a:srgbClr>
          </a:solidFill>
          <a:ln w="12700">
            <a:solidFill>
              <a:srgbClr val="FFFFFF"/>
            </a:solidFill>
            <a:prstDash val="solid"/>
          </a:ln>
        </p:spPr>
      </p:sp>
      <p:sp>
        <p:nvSpPr>
          <p:cNvPr id="46" name="Text 44"/>
          <p:cNvSpPr/>
          <p:nvPr/>
        </p:nvSpPr>
        <p:spPr>
          <a:xfrm>
            <a:off x="3767328" y="5449824"/>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2</a:t>
            </a:r>
            <a:endParaRPr lang="en-US" sz="1000" dirty="0"/>
          </a:p>
        </p:txBody>
      </p:sp>
      <p:sp>
        <p:nvSpPr>
          <p:cNvPr id="47" name="Shape 45"/>
          <p:cNvSpPr/>
          <p:nvPr/>
        </p:nvSpPr>
        <p:spPr>
          <a:xfrm>
            <a:off x="548640" y="6254496"/>
            <a:ext cx="804672" cy="804672"/>
          </a:xfrm>
          <a:prstGeom prst="rect">
            <a:avLst/>
          </a:prstGeom>
          <a:solidFill>
            <a:srgbClr val="2D6A4F">
              <a:alpha val="900"/>
            </a:srgbClr>
          </a:solidFill>
          <a:ln w="12700">
            <a:solidFill>
              <a:srgbClr val="FFFFFF"/>
            </a:solidFill>
            <a:prstDash val="solid"/>
          </a:ln>
        </p:spPr>
      </p:sp>
      <p:sp>
        <p:nvSpPr>
          <p:cNvPr id="48" name="Text 46"/>
          <p:cNvSpPr/>
          <p:nvPr/>
        </p:nvSpPr>
        <p:spPr>
          <a:xfrm>
            <a:off x="548640" y="6254496"/>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1</a:t>
            </a:r>
            <a:endParaRPr lang="en-US" sz="1000" dirty="0"/>
          </a:p>
        </p:txBody>
      </p:sp>
      <p:sp>
        <p:nvSpPr>
          <p:cNvPr id="49" name="Shape 47"/>
          <p:cNvSpPr/>
          <p:nvPr/>
        </p:nvSpPr>
        <p:spPr>
          <a:xfrm>
            <a:off x="1353312" y="6254496"/>
            <a:ext cx="804672" cy="804672"/>
          </a:xfrm>
          <a:prstGeom prst="rect">
            <a:avLst/>
          </a:prstGeom>
          <a:solidFill>
            <a:srgbClr val="2D6A4F">
              <a:alpha val="1800"/>
            </a:srgbClr>
          </a:solidFill>
          <a:ln w="12700">
            <a:solidFill>
              <a:srgbClr val="FFFFFF"/>
            </a:solidFill>
            <a:prstDash val="solid"/>
          </a:ln>
        </p:spPr>
      </p:sp>
      <p:sp>
        <p:nvSpPr>
          <p:cNvPr id="50" name="Text 48"/>
          <p:cNvSpPr/>
          <p:nvPr/>
        </p:nvSpPr>
        <p:spPr>
          <a:xfrm>
            <a:off x="1353312" y="6254496"/>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2</a:t>
            </a:r>
            <a:endParaRPr lang="en-US" sz="1000" dirty="0"/>
          </a:p>
        </p:txBody>
      </p:sp>
      <p:sp>
        <p:nvSpPr>
          <p:cNvPr id="51" name="Shape 49"/>
          <p:cNvSpPr/>
          <p:nvPr/>
        </p:nvSpPr>
        <p:spPr>
          <a:xfrm>
            <a:off x="2157984" y="6254496"/>
            <a:ext cx="804672" cy="804672"/>
          </a:xfrm>
          <a:prstGeom prst="rect">
            <a:avLst/>
          </a:prstGeom>
          <a:solidFill>
            <a:srgbClr val="2D6A4F">
              <a:alpha val="2700"/>
            </a:srgbClr>
          </a:solidFill>
          <a:ln w="12700">
            <a:solidFill>
              <a:srgbClr val="FFFFFF"/>
            </a:solidFill>
            <a:prstDash val="solid"/>
          </a:ln>
        </p:spPr>
      </p:sp>
      <p:sp>
        <p:nvSpPr>
          <p:cNvPr id="52" name="Text 50"/>
          <p:cNvSpPr/>
          <p:nvPr/>
        </p:nvSpPr>
        <p:spPr>
          <a:xfrm>
            <a:off x="2157984" y="6254496"/>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3</a:t>
            </a:r>
            <a:endParaRPr lang="en-US" sz="1000" dirty="0"/>
          </a:p>
        </p:txBody>
      </p:sp>
      <p:sp>
        <p:nvSpPr>
          <p:cNvPr id="53" name="Shape 51"/>
          <p:cNvSpPr/>
          <p:nvPr/>
        </p:nvSpPr>
        <p:spPr>
          <a:xfrm>
            <a:off x="2962656" y="6254496"/>
            <a:ext cx="804672" cy="804672"/>
          </a:xfrm>
          <a:prstGeom prst="rect">
            <a:avLst/>
          </a:prstGeom>
          <a:solidFill>
            <a:srgbClr val="2D6A4F"/>
          </a:solidFill>
          <a:ln w="12700">
            <a:solidFill>
              <a:srgbClr val="FFFFFF"/>
            </a:solidFill>
            <a:prstDash val="solid"/>
          </a:ln>
        </p:spPr>
      </p:sp>
      <p:sp>
        <p:nvSpPr>
          <p:cNvPr id="54" name="Text 52"/>
          <p:cNvSpPr/>
          <p:nvPr/>
        </p:nvSpPr>
        <p:spPr>
          <a:xfrm>
            <a:off x="2962656" y="6254496"/>
            <a:ext cx="804672" cy="8046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91</a:t>
            </a:r>
            <a:endParaRPr lang="en-US" sz="1000" dirty="0"/>
          </a:p>
        </p:txBody>
      </p:sp>
      <p:sp>
        <p:nvSpPr>
          <p:cNvPr id="55" name="Shape 53"/>
          <p:cNvSpPr/>
          <p:nvPr/>
        </p:nvSpPr>
        <p:spPr>
          <a:xfrm>
            <a:off x="3767328" y="6254496"/>
            <a:ext cx="804672" cy="804672"/>
          </a:xfrm>
          <a:prstGeom prst="rect">
            <a:avLst/>
          </a:prstGeom>
          <a:solidFill>
            <a:srgbClr val="2D6A4F">
              <a:alpha val="2700"/>
            </a:srgbClr>
          </a:solidFill>
          <a:ln w="12700">
            <a:solidFill>
              <a:srgbClr val="FFFFFF"/>
            </a:solidFill>
            <a:prstDash val="solid"/>
          </a:ln>
        </p:spPr>
      </p:sp>
      <p:sp>
        <p:nvSpPr>
          <p:cNvPr id="56" name="Text 54"/>
          <p:cNvSpPr/>
          <p:nvPr/>
        </p:nvSpPr>
        <p:spPr>
          <a:xfrm>
            <a:off x="3767328" y="6254496"/>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3</a:t>
            </a:r>
            <a:endParaRPr lang="en-US" sz="1000" dirty="0"/>
          </a:p>
        </p:txBody>
      </p:sp>
      <p:sp>
        <p:nvSpPr>
          <p:cNvPr id="57" name="Shape 55"/>
          <p:cNvSpPr/>
          <p:nvPr/>
        </p:nvSpPr>
        <p:spPr>
          <a:xfrm>
            <a:off x="548640" y="7059168"/>
            <a:ext cx="804672" cy="804672"/>
          </a:xfrm>
          <a:prstGeom prst="rect">
            <a:avLst/>
          </a:prstGeom>
          <a:solidFill>
            <a:srgbClr val="2D6A4F">
              <a:alpha val="1800"/>
            </a:srgbClr>
          </a:solidFill>
          <a:ln w="12700">
            <a:solidFill>
              <a:srgbClr val="FFFFFF"/>
            </a:solidFill>
            <a:prstDash val="solid"/>
          </a:ln>
        </p:spPr>
      </p:sp>
      <p:sp>
        <p:nvSpPr>
          <p:cNvPr id="58" name="Text 56"/>
          <p:cNvSpPr/>
          <p:nvPr/>
        </p:nvSpPr>
        <p:spPr>
          <a:xfrm>
            <a:off x="548640" y="7059168"/>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2</a:t>
            </a:r>
            <a:endParaRPr lang="en-US" sz="1000" dirty="0"/>
          </a:p>
        </p:txBody>
      </p:sp>
      <p:sp>
        <p:nvSpPr>
          <p:cNvPr id="59" name="Shape 57"/>
          <p:cNvSpPr/>
          <p:nvPr/>
        </p:nvSpPr>
        <p:spPr>
          <a:xfrm>
            <a:off x="1353312" y="7059168"/>
            <a:ext cx="804672" cy="804672"/>
          </a:xfrm>
          <a:prstGeom prst="rect">
            <a:avLst/>
          </a:prstGeom>
          <a:solidFill>
            <a:srgbClr val="2D6A4F">
              <a:alpha val="900"/>
            </a:srgbClr>
          </a:solidFill>
          <a:ln w="12700">
            <a:solidFill>
              <a:srgbClr val="FFFFFF"/>
            </a:solidFill>
            <a:prstDash val="solid"/>
          </a:ln>
        </p:spPr>
      </p:sp>
      <p:sp>
        <p:nvSpPr>
          <p:cNvPr id="60" name="Text 58"/>
          <p:cNvSpPr/>
          <p:nvPr/>
        </p:nvSpPr>
        <p:spPr>
          <a:xfrm>
            <a:off x="1353312" y="7059168"/>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1</a:t>
            </a:r>
            <a:endParaRPr lang="en-US" sz="1000" dirty="0"/>
          </a:p>
        </p:txBody>
      </p:sp>
      <p:sp>
        <p:nvSpPr>
          <p:cNvPr id="61" name="Shape 59"/>
          <p:cNvSpPr/>
          <p:nvPr/>
        </p:nvSpPr>
        <p:spPr>
          <a:xfrm>
            <a:off x="2157984" y="7059168"/>
            <a:ext cx="804672" cy="804672"/>
          </a:xfrm>
          <a:prstGeom prst="rect">
            <a:avLst/>
          </a:prstGeom>
          <a:solidFill>
            <a:srgbClr val="2D6A4F">
              <a:alpha val="1800"/>
            </a:srgbClr>
          </a:solidFill>
          <a:ln w="12700">
            <a:solidFill>
              <a:srgbClr val="FFFFFF"/>
            </a:solidFill>
            <a:prstDash val="solid"/>
          </a:ln>
        </p:spPr>
      </p:sp>
      <p:sp>
        <p:nvSpPr>
          <p:cNvPr id="62" name="Text 60"/>
          <p:cNvSpPr/>
          <p:nvPr/>
        </p:nvSpPr>
        <p:spPr>
          <a:xfrm>
            <a:off x="2157984" y="7059168"/>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2</a:t>
            </a:r>
            <a:endParaRPr lang="en-US" sz="1000" dirty="0"/>
          </a:p>
        </p:txBody>
      </p:sp>
      <p:sp>
        <p:nvSpPr>
          <p:cNvPr id="63" name="Shape 61"/>
          <p:cNvSpPr/>
          <p:nvPr/>
        </p:nvSpPr>
        <p:spPr>
          <a:xfrm>
            <a:off x="2962656" y="7059168"/>
            <a:ext cx="804672" cy="804672"/>
          </a:xfrm>
          <a:prstGeom prst="rect">
            <a:avLst/>
          </a:prstGeom>
          <a:solidFill>
            <a:srgbClr val="2D6A4F">
              <a:alpha val="2700"/>
            </a:srgbClr>
          </a:solidFill>
          <a:ln w="12700">
            <a:solidFill>
              <a:srgbClr val="FFFFFF"/>
            </a:solidFill>
            <a:prstDash val="solid"/>
          </a:ln>
        </p:spPr>
      </p:sp>
      <p:sp>
        <p:nvSpPr>
          <p:cNvPr id="64" name="Text 62"/>
          <p:cNvSpPr/>
          <p:nvPr/>
        </p:nvSpPr>
        <p:spPr>
          <a:xfrm>
            <a:off x="2962656" y="7059168"/>
            <a:ext cx="804672" cy="804672"/>
          </a:xfrm>
          <a:prstGeom prst="rect">
            <a:avLst/>
          </a:prstGeom>
          <a:noFill/>
          <a:ln/>
        </p:spPr>
        <p:txBody>
          <a:bodyPr wrap="square" rtlCol="0" anchor="ctr"/>
          <a:lstStyle/>
          <a:p>
            <a:pPr marL="0" indent="0" algn="ctr">
              <a:buNone/>
            </a:pPr>
            <a:r>
              <a:rPr lang="en-US" sz="1000" dirty="0">
                <a:solidFill>
                  <a:srgbClr val="1B4332"/>
                </a:solidFill>
                <a:latin typeface="Calibri" pitchFamily="34" charset="0"/>
                <a:ea typeface="Calibri" pitchFamily="34" charset="-122"/>
                <a:cs typeface="Calibri" pitchFamily="34" charset="-120"/>
              </a:rPr>
              <a:t>3</a:t>
            </a:r>
            <a:endParaRPr lang="en-US" sz="1000" dirty="0"/>
          </a:p>
        </p:txBody>
      </p:sp>
      <p:sp>
        <p:nvSpPr>
          <p:cNvPr id="65" name="Shape 63"/>
          <p:cNvSpPr/>
          <p:nvPr/>
        </p:nvSpPr>
        <p:spPr>
          <a:xfrm>
            <a:off x="3767328" y="7059168"/>
            <a:ext cx="804672" cy="804672"/>
          </a:xfrm>
          <a:prstGeom prst="rect">
            <a:avLst/>
          </a:prstGeom>
          <a:solidFill>
            <a:srgbClr val="2D6A4F"/>
          </a:solidFill>
          <a:ln w="12700">
            <a:solidFill>
              <a:srgbClr val="FFFFFF"/>
            </a:solidFill>
            <a:prstDash val="solid"/>
          </a:ln>
        </p:spPr>
      </p:sp>
      <p:sp>
        <p:nvSpPr>
          <p:cNvPr id="66" name="Text 64"/>
          <p:cNvSpPr/>
          <p:nvPr/>
        </p:nvSpPr>
        <p:spPr>
          <a:xfrm>
            <a:off x="3767328" y="7059168"/>
            <a:ext cx="804672" cy="8046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92</a:t>
            </a:r>
            <a:endParaRPr lang="en-US" sz="1000" dirty="0"/>
          </a:p>
        </p:txBody>
      </p:sp>
      <p:sp>
        <p:nvSpPr>
          <p:cNvPr id="67" name="Text 65"/>
          <p:cNvSpPr/>
          <p:nvPr/>
        </p:nvSpPr>
        <p:spPr>
          <a:xfrm>
            <a:off x="548640" y="7909560"/>
            <a:ext cx="804672" cy="274320"/>
          </a:xfrm>
          <a:prstGeom prst="rect">
            <a:avLst/>
          </a:prstGeom>
          <a:noFill/>
          <a:ln/>
        </p:spPr>
        <p:txBody>
          <a:bodyPr wrap="square" rtlCol="0" anchor="ctr"/>
          <a:lstStyle/>
          <a:p>
            <a:pPr marL="0" indent="0" algn="ctr">
              <a:buNone/>
            </a:pPr>
            <a:r>
              <a:rPr lang="en-US" sz="850" dirty="0">
                <a:solidFill>
                  <a:srgbClr val="6B6B68"/>
                </a:solidFill>
                <a:latin typeface="Calibri" pitchFamily="34" charset="0"/>
                <a:ea typeface="Calibri" pitchFamily="34" charset="-122"/>
                <a:cs typeface="Calibri" pitchFamily="34" charset="-120"/>
              </a:rPr>
              <a:t>Plastic</a:t>
            </a:r>
            <a:endParaRPr lang="en-US" sz="850" dirty="0"/>
          </a:p>
        </p:txBody>
      </p:sp>
      <p:sp>
        <p:nvSpPr>
          <p:cNvPr id="68" name="Text 66"/>
          <p:cNvSpPr/>
          <p:nvPr/>
        </p:nvSpPr>
        <p:spPr>
          <a:xfrm>
            <a:off x="1353312" y="7909560"/>
            <a:ext cx="804672" cy="274320"/>
          </a:xfrm>
          <a:prstGeom prst="rect">
            <a:avLst/>
          </a:prstGeom>
          <a:noFill/>
          <a:ln/>
        </p:spPr>
        <p:txBody>
          <a:bodyPr wrap="square" rtlCol="0" anchor="ctr"/>
          <a:lstStyle/>
          <a:p>
            <a:pPr marL="0" indent="0" algn="ctr">
              <a:buNone/>
            </a:pPr>
            <a:r>
              <a:rPr lang="en-US" sz="850" dirty="0">
                <a:solidFill>
                  <a:srgbClr val="6B6B68"/>
                </a:solidFill>
                <a:latin typeface="Calibri" pitchFamily="34" charset="0"/>
                <a:ea typeface="Calibri" pitchFamily="34" charset="-122"/>
                <a:cs typeface="Calibri" pitchFamily="34" charset="-120"/>
              </a:rPr>
              <a:t>Paper</a:t>
            </a:r>
            <a:endParaRPr lang="en-US" sz="850" dirty="0"/>
          </a:p>
        </p:txBody>
      </p:sp>
      <p:sp>
        <p:nvSpPr>
          <p:cNvPr id="69" name="Text 67"/>
          <p:cNvSpPr/>
          <p:nvPr/>
        </p:nvSpPr>
        <p:spPr>
          <a:xfrm>
            <a:off x="2157984" y="7909560"/>
            <a:ext cx="804672" cy="274320"/>
          </a:xfrm>
          <a:prstGeom prst="rect">
            <a:avLst/>
          </a:prstGeom>
          <a:noFill/>
          <a:ln/>
        </p:spPr>
        <p:txBody>
          <a:bodyPr wrap="square" rtlCol="0" anchor="ctr"/>
          <a:lstStyle/>
          <a:p>
            <a:pPr marL="0" indent="0" algn="ctr">
              <a:buNone/>
            </a:pPr>
            <a:r>
              <a:rPr lang="en-US" sz="850" dirty="0">
                <a:solidFill>
                  <a:srgbClr val="6B6B68"/>
                </a:solidFill>
                <a:latin typeface="Calibri" pitchFamily="34" charset="0"/>
                <a:ea typeface="Calibri" pitchFamily="34" charset="-122"/>
                <a:cs typeface="Calibri" pitchFamily="34" charset="-120"/>
              </a:rPr>
              <a:t>Metal</a:t>
            </a:r>
            <a:endParaRPr lang="en-US" sz="850" dirty="0"/>
          </a:p>
        </p:txBody>
      </p:sp>
      <p:sp>
        <p:nvSpPr>
          <p:cNvPr id="70" name="Text 68"/>
          <p:cNvSpPr/>
          <p:nvPr/>
        </p:nvSpPr>
        <p:spPr>
          <a:xfrm>
            <a:off x="2962656" y="7909560"/>
            <a:ext cx="804672" cy="274320"/>
          </a:xfrm>
          <a:prstGeom prst="rect">
            <a:avLst/>
          </a:prstGeom>
          <a:noFill/>
          <a:ln/>
        </p:spPr>
        <p:txBody>
          <a:bodyPr wrap="square" rtlCol="0" anchor="ctr"/>
          <a:lstStyle/>
          <a:p>
            <a:pPr marL="0" indent="0" algn="ctr">
              <a:buNone/>
            </a:pPr>
            <a:r>
              <a:rPr lang="en-US" sz="850" dirty="0">
                <a:solidFill>
                  <a:srgbClr val="6B6B68"/>
                </a:solidFill>
                <a:latin typeface="Calibri" pitchFamily="34" charset="0"/>
                <a:ea typeface="Calibri" pitchFamily="34" charset="-122"/>
                <a:cs typeface="Calibri" pitchFamily="34" charset="-120"/>
              </a:rPr>
              <a:t>Glass</a:t>
            </a:r>
            <a:endParaRPr lang="en-US" sz="850" dirty="0"/>
          </a:p>
        </p:txBody>
      </p:sp>
      <p:sp>
        <p:nvSpPr>
          <p:cNvPr id="71" name="Text 69"/>
          <p:cNvSpPr/>
          <p:nvPr/>
        </p:nvSpPr>
        <p:spPr>
          <a:xfrm>
            <a:off x="3767328" y="7909560"/>
            <a:ext cx="804672" cy="274320"/>
          </a:xfrm>
          <a:prstGeom prst="rect">
            <a:avLst/>
          </a:prstGeom>
          <a:noFill/>
          <a:ln/>
        </p:spPr>
        <p:txBody>
          <a:bodyPr wrap="square" rtlCol="0" anchor="ctr"/>
          <a:lstStyle/>
          <a:p>
            <a:pPr marL="0" indent="0" algn="ctr">
              <a:buNone/>
            </a:pPr>
            <a:r>
              <a:rPr lang="en-US" sz="850" dirty="0">
                <a:solidFill>
                  <a:srgbClr val="6B6B68"/>
                </a:solidFill>
                <a:latin typeface="Calibri" pitchFamily="34" charset="0"/>
                <a:ea typeface="Calibri" pitchFamily="34" charset="-122"/>
                <a:cs typeface="Calibri" pitchFamily="34" charset="-120"/>
              </a:rPr>
              <a:t>Trash</a:t>
            </a:r>
            <a:endParaRPr lang="en-US" sz="850" dirty="0"/>
          </a:p>
        </p:txBody>
      </p:sp>
      <p:sp>
        <p:nvSpPr>
          <p:cNvPr id="72" name="Shape 70"/>
          <p:cNvSpPr/>
          <p:nvPr/>
        </p:nvSpPr>
        <p:spPr>
          <a:xfrm>
            <a:off x="6217920" y="3474720"/>
            <a:ext cx="5394960" cy="2651760"/>
          </a:xfrm>
          <a:prstGeom prst="roundRect">
            <a:avLst>
              <a:gd name="adj" fmla="val 2759"/>
            </a:avLst>
          </a:prstGeom>
          <a:solidFill>
            <a:srgbClr val="F3F8F5"/>
          </a:solidFill>
          <a:ln/>
        </p:spPr>
      </p:sp>
      <p:sp>
        <p:nvSpPr>
          <p:cNvPr id="73" name="Text 71"/>
          <p:cNvSpPr/>
          <p:nvPr/>
        </p:nvSpPr>
        <p:spPr>
          <a:xfrm>
            <a:off x="6446520" y="3639312"/>
            <a:ext cx="4937760" cy="320040"/>
          </a:xfrm>
          <a:prstGeom prst="rect">
            <a:avLst/>
          </a:prstGeom>
          <a:noFill/>
          <a:ln/>
        </p:spPr>
        <p:txBody>
          <a:bodyPr wrap="square" rtlCol="0" anchor="ctr"/>
          <a:lstStyle/>
          <a:p>
            <a:pPr marL="0" indent="0">
              <a:buNone/>
            </a:pPr>
            <a:r>
              <a:rPr lang="en-US" sz="1400" b="1" dirty="0">
                <a:solidFill>
                  <a:srgbClr val="1B4332"/>
                </a:solidFill>
                <a:latin typeface="Cambria" pitchFamily="34" charset="0"/>
                <a:ea typeface="Cambria" pitchFamily="34" charset="-122"/>
                <a:cs typeface="Cambria" pitchFamily="34" charset="-120"/>
              </a:rPr>
              <a:t>Key Observations</a:t>
            </a:r>
            <a:endParaRPr lang="en-US" sz="1400" dirty="0"/>
          </a:p>
        </p:txBody>
      </p:sp>
      <p:sp>
        <p:nvSpPr>
          <p:cNvPr id="74" name="Shape 72"/>
          <p:cNvSpPr/>
          <p:nvPr/>
        </p:nvSpPr>
        <p:spPr>
          <a:xfrm>
            <a:off x="6446520" y="4133088"/>
            <a:ext cx="73152" cy="73152"/>
          </a:xfrm>
          <a:prstGeom prst="ellipse">
            <a:avLst/>
          </a:prstGeom>
          <a:solidFill>
            <a:srgbClr val="E76F51"/>
          </a:solidFill>
          <a:ln/>
        </p:spPr>
      </p:sp>
      <p:sp>
        <p:nvSpPr>
          <p:cNvPr id="75" name="Text 73"/>
          <p:cNvSpPr/>
          <p:nvPr/>
        </p:nvSpPr>
        <p:spPr>
          <a:xfrm>
            <a:off x="6675120" y="3995928"/>
            <a:ext cx="4754880" cy="548640"/>
          </a:xfrm>
          <a:prstGeom prst="rect">
            <a:avLst/>
          </a:prstGeom>
          <a:noFill/>
          <a:ln/>
        </p:spPr>
        <p:txBody>
          <a:bodyPr wrap="square" rtlCol="0" anchor="ctr"/>
          <a:lstStyle/>
          <a:p>
            <a:pPr marL="0" indent="0">
              <a:buNone/>
            </a:pPr>
            <a:r>
              <a:rPr lang="en-US" sz="1150" dirty="0">
                <a:solidFill>
                  <a:srgbClr val="3A3A38"/>
                </a:solidFill>
                <a:latin typeface="Calibri" pitchFamily="34" charset="0"/>
                <a:ea typeface="Calibri" pitchFamily="34" charset="-122"/>
                <a:cs typeface="Calibri" pitchFamily="34" charset="-120"/>
              </a:rPr>
              <a:t>Strong diagonal dominance indicates reliable per-class classification.</a:t>
            </a:r>
            <a:endParaRPr lang="en-US" sz="1150" dirty="0"/>
          </a:p>
        </p:txBody>
      </p:sp>
      <p:sp>
        <p:nvSpPr>
          <p:cNvPr id="76" name="Shape 74"/>
          <p:cNvSpPr/>
          <p:nvPr/>
        </p:nvSpPr>
        <p:spPr>
          <a:xfrm>
            <a:off x="6446520" y="4818888"/>
            <a:ext cx="73152" cy="73152"/>
          </a:xfrm>
          <a:prstGeom prst="ellipse">
            <a:avLst/>
          </a:prstGeom>
          <a:solidFill>
            <a:srgbClr val="E76F51"/>
          </a:solidFill>
          <a:ln/>
        </p:spPr>
      </p:sp>
      <p:sp>
        <p:nvSpPr>
          <p:cNvPr id="77" name="Text 75"/>
          <p:cNvSpPr/>
          <p:nvPr/>
        </p:nvSpPr>
        <p:spPr>
          <a:xfrm>
            <a:off x="6675120" y="4681728"/>
            <a:ext cx="4754880" cy="548640"/>
          </a:xfrm>
          <a:prstGeom prst="rect">
            <a:avLst/>
          </a:prstGeom>
          <a:noFill/>
          <a:ln/>
        </p:spPr>
        <p:txBody>
          <a:bodyPr wrap="square" rtlCol="0" anchor="ctr"/>
          <a:lstStyle/>
          <a:p>
            <a:pPr marL="0" indent="0">
              <a:buNone/>
            </a:pPr>
            <a:r>
              <a:rPr lang="en-US" sz="1150" dirty="0">
                <a:solidFill>
                  <a:srgbClr val="3A3A38"/>
                </a:solidFill>
                <a:latin typeface="Calibri" pitchFamily="34" charset="0"/>
                <a:ea typeface="Calibri" pitchFamily="34" charset="-122"/>
                <a:cs typeface="Calibri" pitchFamily="34" charset="-120"/>
              </a:rPr>
              <a:t>Most confusion occurs between visually similar categories (e.g. glass vs. plastic).</a:t>
            </a:r>
            <a:endParaRPr lang="en-US" sz="1150" dirty="0"/>
          </a:p>
        </p:txBody>
      </p:sp>
      <p:sp>
        <p:nvSpPr>
          <p:cNvPr id="78" name="Shape 76"/>
          <p:cNvSpPr/>
          <p:nvPr/>
        </p:nvSpPr>
        <p:spPr>
          <a:xfrm>
            <a:off x="6446520" y="5504688"/>
            <a:ext cx="73152" cy="73152"/>
          </a:xfrm>
          <a:prstGeom prst="ellipse">
            <a:avLst/>
          </a:prstGeom>
          <a:solidFill>
            <a:srgbClr val="E76F51"/>
          </a:solidFill>
          <a:ln/>
        </p:spPr>
      </p:sp>
      <p:sp>
        <p:nvSpPr>
          <p:cNvPr id="79" name="Text 77"/>
          <p:cNvSpPr/>
          <p:nvPr/>
        </p:nvSpPr>
        <p:spPr>
          <a:xfrm>
            <a:off x="6675120" y="5367528"/>
            <a:ext cx="4754880" cy="548640"/>
          </a:xfrm>
          <a:prstGeom prst="rect">
            <a:avLst/>
          </a:prstGeom>
          <a:noFill/>
          <a:ln/>
        </p:spPr>
        <p:txBody>
          <a:bodyPr wrap="square" rtlCol="0" anchor="ctr"/>
          <a:lstStyle/>
          <a:p>
            <a:pPr marL="0" indent="0">
              <a:buNone/>
            </a:pPr>
            <a:r>
              <a:rPr lang="en-US" sz="1150" dirty="0">
                <a:solidFill>
                  <a:srgbClr val="3A3A38"/>
                </a:solidFill>
                <a:latin typeface="Calibri" pitchFamily="34" charset="0"/>
                <a:ea typeface="Calibri" pitchFamily="34" charset="-122"/>
                <a:cs typeface="Calibri" pitchFamily="34" charset="-120"/>
              </a:rPr>
              <a:t>Fine-tuning the top layers measurably improved recall on underrepresented classes.</a:t>
            </a:r>
            <a:endParaRPr lang="en-US" sz="1150" dirty="0"/>
          </a:p>
        </p:txBody>
      </p:sp>
      <p:sp>
        <p:nvSpPr>
          <p:cNvPr id="80" name="Text 78"/>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81" name="Text 79"/>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Future Scope</a:t>
            </a:r>
            <a:endParaRPr lang="en-US" sz="3000" dirty="0"/>
          </a:p>
        </p:txBody>
      </p:sp>
      <p:sp>
        <p:nvSpPr>
          <p:cNvPr id="3" name="Shape 1"/>
          <p:cNvSpPr/>
          <p:nvPr/>
        </p:nvSpPr>
        <p:spPr>
          <a:xfrm>
            <a:off x="548640" y="1600200"/>
            <a:ext cx="11091672" cy="1371600"/>
          </a:xfrm>
          <a:prstGeom prst="roundRect">
            <a:avLst>
              <a:gd name="adj" fmla="val 5333"/>
            </a:avLst>
          </a:prstGeom>
          <a:solidFill>
            <a:srgbClr val="F3F8F5"/>
          </a:solidFill>
          <a:ln/>
        </p:spPr>
      </p:sp>
      <p:sp>
        <p:nvSpPr>
          <p:cNvPr id="4" name="Shape 2"/>
          <p:cNvSpPr/>
          <p:nvPr/>
        </p:nvSpPr>
        <p:spPr>
          <a:xfrm>
            <a:off x="868680" y="1920240"/>
            <a:ext cx="685800" cy="685800"/>
          </a:xfrm>
          <a:prstGeom prst="ellipse">
            <a:avLst/>
          </a:prstGeom>
          <a:solidFill>
            <a:srgbClr val="2D6A4F"/>
          </a:solidFill>
          <a:ln/>
        </p:spPr>
      </p:sp>
      <p:sp>
        <p:nvSpPr>
          <p:cNvPr id="5" name="Text 3"/>
          <p:cNvSpPr/>
          <p:nvPr/>
        </p:nvSpPr>
        <p:spPr>
          <a:xfrm>
            <a:off x="868680" y="1920240"/>
            <a:ext cx="685800" cy="68580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1</a:t>
            </a:r>
            <a:endParaRPr lang="en-US" sz="2100" dirty="0"/>
          </a:p>
        </p:txBody>
      </p:sp>
      <p:sp>
        <p:nvSpPr>
          <p:cNvPr id="6" name="Text 4"/>
          <p:cNvSpPr/>
          <p:nvPr/>
        </p:nvSpPr>
        <p:spPr>
          <a:xfrm>
            <a:off x="1828800" y="1801368"/>
            <a:ext cx="9144000" cy="36576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IoT Smart Bin Integration</a:t>
            </a:r>
            <a:endParaRPr lang="en-US" sz="1500" dirty="0"/>
          </a:p>
        </p:txBody>
      </p:sp>
      <p:sp>
        <p:nvSpPr>
          <p:cNvPr id="7" name="Text 5"/>
          <p:cNvSpPr/>
          <p:nvPr/>
        </p:nvSpPr>
        <p:spPr>
          <a:xfrm>
            <a:off x="1828800" y="2194560"/>
            <a:ext cx="9144000" cy="594360"/>
          </a:xfrm>
          <a:prstGeom prst="rect">
            <a:avLst/>
          </a:prstGeom>
          <a:noFill/>
          <a:ln/>
        </p:spPr>
        <p:txBody>
          <a:bodyPr wrap="square" rtlCol="0" anchor="ctr"/>
          <a:lstStyle/>
          <a:p>
            <a:pPr marL="0" indent="0">
              <a:buNone/>
            </a:pPr>
            <a:r>
              <a:rPr lang="en-US" sz="1200" dirty="0">
                <a:solidFill>
                  <a:srgbClr val="3A3A38"/>
                </a:solidFill>
                <a:latin typeface="Calibri" pitchFamily="34" charset="0"/>
                <a:ea typeface="Calibri" pitchFamily="34" charset="-122"/>
                <a:cs typeface="Calibri" pitchFamily="34" charset="-120"/>
              </a:rPr>
              <a:t>Connect the Flask API to microcontrollers (Raspberry Pi / ESP32) with camera modules to automate physical bin lids.</a:t>
            </a:r>
            <a:endParaRPr lang="en-US" sz="1200" dirty="0"/>
          </a:p>
        </p:txBody>
      </p:sp>
      <p:sp>
        <p:nvSpPr>
          <p:cNvPr id="8" name="Shape 6"/>
          <p:cNvSpPr/>
          <p:nvPr/>
        </p:nvSpPr>
        <p:spPr>
          <a:xfrm>
            <a:off x="548640" y="3200400"/>
            <a:ext cx="11091672" cy="1371600"/>
          </a:xfrm>
          <a:prstGeom prst="roundRect">
            <a:avLst>
              <a:gd name="adj" fmla="val 5333"/>
            </a:avLst>
          </a:prstGeom>
          <a:solidFill>
            <a:srgbClr val="F3F8F5"/>
          </a:solidFill>
          <a:ln/>
        </p:spPr>
      </p:sp>
      <p:sp>
        <p:nvSpPr>
          <p:cNvPr id="9" name="Shape 7"/>
          <p:cNvSpPr/>
          <p:nvPr/>
        </p:nvSpPr>
        <p:spPr>
          <a:xfrm>
            <a:off x="868680" y="3520440"/>
            <a:ext cx="685800" cy="685800"/>
          </a:xfrm>
          <a:prstGeom prst="ellipse">
            <a:avLst/>
          </a:prstGeom>
          <a:solidFill>
            <a:srgbClr val="2D6A4F"/>
          </a:solidFill>
          <a:ln/>
        </p:spPr>
      </p:sp>
      <p:sp>
        <p:nvSpPr>
          <p:cNvPr id="10" name="Text 8"/>
          <p:cNvSpPr/>
          <p:nvPr/>
        </p:nvSpPr>
        <p:spPr>
          <a:xfrm>
            <a:off x="868680" y="3520440"/>
            <a:ext cx="685800" cy="68580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2</a:t>
            </a:r>
            <a:endParaRPr lang="en-US" sz="2100" dirty="0"/>
          </a:p>
        </p:txBody>
      </p:sp>
      <p:sp>
        <p:nvSpPr>
          <p:cNvPr id="11" name="Text 9"/>
          <p:cNvSpPr/>
          <p:nvPr/>
        </p:nvSpPr>
        <p:spPr>
          <a:xfrm>
            <a:off x="1828800" y="3401568"/>
            <a:ext cx="9144000" cy="36576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Object Detection (YOLO)</a:t>
            </a:r>
            <a:endParaRPr lang="en-US" sz="1500" dirty="0"/>
          </a:p>
        </p:txBody>
      </p:sp>
      <p:sp>
        <p:nvSpPr>
          <p:cNvPr id="12" name="Text 10"/>
          <p:cNvSpPr/>
          <p:nvPr/>
        </p:nvSpPr>
        <p:spPr>
          <a:xfrm>
            <a:off x="1828800" y="3794760"/>
            <a:ext cx="9144000" cy="594360"/>
          </a:xfrm>
          <a:prstGeom prst="rect">
            <a:avLst/>
          </a:prstGeom>
          <a:noFill/>
          <a:ln/>
        </p:spPr>
        <p:txBody>
          <a:bodyPr wrap="square" rtlCol="0" anchor="ctr"/>
          <a:lstStyle/>
          <a:p>
            <a:pPr marL="0" indent="0">
              <a:buNone/>
            </a:pPr>
            <a:r>
              <a:rPr lang="en-US" sz="1200" dirty="0">
                <a:solidFill>
                  <a:srgbClr val="3A3A38"/>
                </a:solidFill>
                <a:latin typeface="Calibri" pitchFamily="34" charset="0"/>
                <a:ea typeface="Calibri" pitchFamily="34" charset="-122"/>
                <a:cs typeface="Calibri" pitchFamily="34" charset="-120"/>
              </a:rPr>
              <a:t>Move from single-image classification to multi-object real-time bounding boxes.</a:t>
            </a:r>
            <a:endParaRPr lang="en-US" sz="1200" dirty="0"/>
          </a:p>
        </p:txBody>
      </p:sp>
      <p:sp>
        <p:nvSpPr>
          <p:cNvPr id="13" name="Shape 11"/>
          <p:cNvSpPr/>
          <p:nvPr/>
        </p:nvSpPr>
        <p:spPr>
          <a:xfrm>
            <a:off x="548640" y="4800600"/>
            <a:ext cx="11091672" cy="1371600"/>
          </a:xfrm>
          <a:prstGeom prst="roundRect">
            <a:avLst>
              <a:gd name="adj" fmla="val 5333"/>
            </a:avLst>
          </a:prstGeom>
          <a:solidFill>
            <a:srgbClr val="F3F8F5"/>
          </a:solidFill>
          <a:ln/>
        </p:spPr>
      </p:sp>
      <p:sp>
        <p:nvSpPr>
          <p:cNvPr id="14" name="Shape 12"/>
          <p:cNvSpPr/>
          <p:nvPr/>
        </p:nvSpPr>
        <p:spPr>
          <a:xfrm>
            <a:off x="868680" y="5120640"/>
            <a:ext cx="685800" cy="685800"/>
          </a:xfrm>
          <a:prstGeom prst="ellipse">
            <a:avLst/>
          </a:prstGeom>
          <a:solidFill>
            <a:srgbClr val="2D6A4F"/>
          </a:solidFill>
          <a:ln/>
        </p:spPr>
      </p:sp>
      <p:sp>
        <p:nvSpPr>
          <p:cNvPr id="15" name="Text 13"/>
          <p:cNvSpPr/>
          <p:nvPr/>
        </p:nvSpPr>
        <p:spPr>
          <a:xfrm>
            <a:off x="868680" y="5120640"/>
            <a:ext cx="685800" cy="68580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3</a:t>
            </a:r>
            <a:endParaRPr lang="en-US" sz="2100" dirty="0"/>
          </a:p>
        </p:txBody>
      </p:sp>
      <p:sp>
        <p:nvSpPr>
          <p:cNvPr id="16" name="Text 14"/>
          <p:cNvSpPr/>
          <p:nvPr/>
        </p:nvSpPr>
        <p:spPr>
          <a:xfrm>
            <a:off x="1828800" y="5001768"/>
            <a:ext cx="9144000" cy="36576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Mobile Application</a:t>
            </a:r>
            <a:endParaRPr lang="en-US" sz="1500" dirty="0"/>
          </a:p>
        </p:txBody>
      </p:sp>
      <p:sp>
        <p:nvSpPr>
          <p:cNvPr id="17" name="Text 15"/>
          <p:cNvSpPr/>
          <p:nvPr/>
        </p:nvSpPr>
        <p:spPr>
          <a:xfrm>
            <a:off x="1828800" y="5394960"/>
            <a:ext cx="9144000" cy="594360"/>
          </a:xfrm>
          <a:prstGeom prst="rect">
            <a:avLst/>
          </a:prstGeom>
          <a:noFill/>
          <a:ln/>
        </p:spPr>
        <p:txBody>
          <a:bodyPr wrap="square" rtlCol="0" anchor="ctr"/>
          <a:lstStyle/>
          <a:p>
            <a:pPr marL="0" indent="0">
              <a:buNone/>
            </a:pPr>
            <a:r>
              <a:rPr lang="en-US" sz="1200" dirty="0">
                <a:solidFill>
                  <a:srgbClr val="3A3A38"/>
                </a:solidFill>
                <a:latin typeface="Calibri" pitchFamily="34" charset="0"/>
                <a:ea typeface="Calibri" pitchFamily="34" charset="-122"/>
                <a:cs typeface="Calibri" pitchFamily="34" charset="-120"/>
              </a:rPr>
              <a:t>Develop a native mobile app (Flutter) for household recycling assistance.</a:t>
            </a:r>
            <a:endParaRPr lang="en-US" sz="1200" dirty="0"/>
          </a:p>
        </p:txBody>
      </p:sp>
      <p:sp>
        <p:nvSpPr>
          <p:cNvPr id="18" name="Text 16"/>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6B68"/>
                </a:solidFill>
                <a:latin typeface="Calibri" pitchFamily="34" charset="0"/>
                <a:ea typeface="Calibri" pitchFamily="34" charset="-122"/>
                <a:cs typeface="Calibri" pitchFamily="34" charset="-120"/>
              </a:rPr>
              <a:t>EcoSort AI — Capstone Presentation</a:t>
            </a:r>
            <a:endParaRPr lang="en-US" sz="900" dirty="0"/>
          </a:p>
        </p:txBody>
      </p:sp>
      <p:sp>
        <p:nvSpPr>
          <p:cNvPr id="19" name="Text 17"/>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6B6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601200" y="4389120"/>
            <a:ext cx="4114800" cy="4114800"/>
          </a:xfrm>
          <a:prstGeom prst="ellipse">
            <a:avLst/>
          </a:prstGeom>
          <a:solidFill>
            <a:srgbClr val="12301F"/>
          </a:solidFill>
          <a:ln/>
        </p:spPr>
      </p:sp>
      <p:sp>
        <p:nvSpPr>
          <p:cNvPr id="3" name="Text 1"/>
          <p:cNvSpPr/>
          <p:nvPr/>
        </p:nvSpPr>
        <p:spPr>
          <a:xfrm>
            <a:off x="548640" y="640080"/>
            <a:ext cx="9144000" cy="6400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4" name="Shape 2"/>
          <p:cNvSpPr/>
          <p:nvPr/>
        </p:nvSpPr>
        <p:spPr>
          <a:xfrm>
            <a:off x="548640" y="1737360"/>
            <a:ext cx="11091672" cy="1828800"/>
          </a:xfrm>
          <a:prstGeom prst="roundRect">
            <a:avLst>
              <a:gd name="adj" fmla="val 5000"/>
            </a:avLst>
          </a:prstGeom>
          <a:solidFill>
            <a:srgbClr val="12301F"/>
          </a:solidFill>
          <a:ln/>
        </p:spPr>
      </p:sp>
      <p:sp>
        <p:nvSpPr>
          <p:cNvPr id="5" name="Text 3"/>
          <p:cNvSpPr/>
          <p:nvPr/>
        </p:nvSpPr>
        <p:spPr>
          <a:xfrm>
            <a:off x="822960" y="1965960"/>
            <a:ext cx="10515600" cy="1371600"/>
          </a:xfrm>
          <a:prstGeom prst="rect">
            <a:avLst/>
          </a:prstGeom>
          <a:noFill/>
          <a:ln/>
        </p:spPr>
        <p:txBody>
          <a:bodyPr wrap="square" rtlCol="0" anchor="t"/>
          <a:lstStyle/>
          <a:p>
            <a:pPr marL="0" indent="0">
              <a:buNone/>
            </a:pPr>
            <a:r>
              <a:rPr lang="en-US" sz="1600" dirty="0">
                <a:solidFill>
                  <a:srgbClr val="F1F8F4"/>
                </a:solidFill>
                <a:latin typeface="Calibri" pitchFamily="34" charset="0"/>
                <a:ea typeface="Calibri" pitchFamily="34" charset="-122"/>
                <a:cs typeface="Calibri" pitchFamily="34" charset="-120"/>
              </a:rPr>
              <a:t>EcoSort AI successfully merges deep learning, Explainable AI, and full-stack engineering to create a functional, transparent, and optimized waste sorting system.</a:t>
            </a:r>
            <a:endParaRPr lang="en-US" sz="1600" dirty="0"/>
          </a:p>
        </p:txBody>
      </p:sp>
      <p:sp>
        <p:nvSpPr>
          <p:cNvPr id="6" name="Shape 4"/>
          <p:cNvSpPr/>
          <p:nvPr/>
        </p:nvSpPr>
        <p:spPr>
          <a:xfrm>
            <a:off x="548640" y="3886200"/>
            <a:ext cx="3566160" cy="914400"/>
          </a:xfrm>
          <a:prstGeom prst="roundRect">
            <a:avLst>
              <a:gd name="adj" fmla="val 8000"/>
            </a:avLst>
          </a:prstGeom>
          <a:solidFill>
            <a:srgbClr val="2D6A4F"/>
          </a:solidFill>
          <a:ln/>
        </p:spPr>
      </p:sp>
      <p:sp>
        <p:nvSpPr>
          <p:cNvPr id="7" name="Text 5"/>
          <p:cNvSpPr/>
          <p:nvPr/>
        </p:nvSpPr>
        <p:spPr>
          <a:xfrm>
            <a:off x="731520" y="3886200"/>
            <a:ext cx="3200400" cy="9144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10-category classification</a:t>
            </a:r>
            <a:endParaRPr lang="en-US" sz="1250" dirty="0"/>
          </a:p>
        </p:txBody>
      </p:sp>
      <p:sp>
        <p:nvSpPr>
          <p:cNvPr id="8" name="Shape 6"/>
          <p:cNvSpPr/>
          <p:nvPr/>
        </p:nvSpPr>
        <p:spPr>
          <a:xfrm>
            <a:off x="4270248" y="3886200"/>
            <a:ext cx="3566160" cy="914400"/>
          </a:xfrm>
          <a:prstGeom prst="roundRect">
            <a:avLst>
              <a:gd name="adj" fmla="val 8000"/>
            </a:avLst>
          </a:prstGeom>
          <a:solidFill>
            <a:srgbClr val="2D6A4F"/>
          </a:solidFill>
          <a:ln/>
        </p:spPr>
      </p:sp>
      <p:sp>
        <p:nvSpPr>
          <p:cNvPr id="9" name="Text 7"/>
          <p:cNvSpPr/>
          <p:nvPr/>
        </p:nvSpPr>
        <p:spPr>
          <a:xfrm>
            <a:off x="4453128" y="3886200"/>
            <a:ext cx="3200400" cy="9144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Real-time Grad-CAM explainability</a:t>
            </a:r>
            <a:endParaRPr lang="en-US" sz="1250" dirty="0"/>
          </a:p>
        </p:txBody>
      </p:sp>
      <p:sp>
        <p:nvSpPr>
          <p:cNvPr id="10" name="Shape 8"/>
          <p:cNvSpPr/>
          <p:nvPr/>
        </p:nvSpPr>
        <p:spPr>
          <a:xfrm>
            <a:off x="7991856" y="3886200"/>
            <a:ext cx="3566160" cy="914400"/>
          </a:xfrm>
          <a:prstGeom prst="roundRect">
            <a:avLst>
              <a:gd name="adj" fmla="val 8000"/>
            </a:avLst>
          </a:prstGeom>
          <a:solidFill>
            <a:srgbClr val="2D6A4F"/>
          </a:solidFill>
          <a:ln/>
        </p:spPr>
      </p:sp>
      <p:sp>
        <p:nvSpPr>
          <p:cNvPr id="11" name="Text 9"/>
          <p:cNvSpPr/>
          <p:nvPr/>
        </p:nvSpPr>
        <p:spPr>
          <a:xfrm>
            <a:off x="8174736" y="3886200"/>
            <a:ext cx="3200400" cy="9144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Cloud-optimized hybrid engine</a:t>
            </a:r>
            <a:endParaRPr lang="en-US" sz="1250" dirty="0"/>
          </a:p>
        </p:txBody>
      </p:sp>
      <p:sp>
        <p:nvSpPr>
          <p:cNvPr id="12" name="Text 10"/>
          <p:cNvSpPr/>
          <p:nvPr/>
        </p:nvSpPr>
        <p:spPr>
          <a:xfrm>
            <a:off x="548640" y="5303520"/>
            <a:ext cx="54864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13" name="Text 11"/>
          <p:cNvSpPr/>
          <p:nvPr/>
        </p:nvSpPr>
        <p:spPr>
          <a:xfrm>
            <a:off x="548640" y="5897880"/>
            <a:ext cx="5486400" cy="365760"/>
          </a:xfrm>
          <a:prstGeom prst="rect">
            <a:avLst/>
          </a:prstGeom>
          <a:noFill/>
          <a:ln/>
        </p:spPr>
        <p:txBody>
          <a:bodyPr wrap="square" rtlCol="0" anchor="ctr"/>
          <a:lstStyle/>
          <a:p>
            <a:pPr marL="0" indent="0">
              <a:buNone/>
            </a:pPr>
            <a:r>
              <a:rPr lang="en-US" sz="1400" i="1" dirty="0">
                <a:solidFill>
                  <a:srgbClr val="95D5B2"/>
                </a:solidFill>
                <a:latin typeface="Calibri" pitchFamily="34" charset="0"/>
                <a:ea typeface="Calibri" pitchFamily="34" charset="-122"/>
                <a:cs typeface="Calibri" pitchFamily="34" charset="-120"/>
              </a:rPr>
              <a:t>Open for 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2311</Words>
  <Application>Microsoft Office PowerPoint</Application>
  <PresentationFormat>Widescreen</PresentationFormat>
  <Paragraphs>409</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P.Revanth Reddy</cp:lastModifiedBy>
  <cp:revision>2</cp:revision>
  <dcterms:created xsi:type="dcterms:W3CDTF">2026-07-14T02:15:59Z</dcterms:created>
  <dcterms:modified xsi:type="dcterms:W3CDTF">2026-07-14T02:23:35Z</dcterms:modified>
</cp:coreProperties>
</file>